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  <p:sldMasterId id="2147483670" r:id="rId2"/>
  </p:sldMasterIdLst>
  <p:notesMasterIdLst>
    <p:notesMasterId r:id="rId13"/>
  </p:notesMasterIdLst>
  <p:sldIdLst>
    <p:sldId id="256" r:id="rId3"/>
    <p:sldId id="334" r:id="rId4"/>
    <p:sldId id="339" r:id="rId5"/>
    <p:sldId id="327" r:id="rId6"/>
    <p:sldId id="335" r:id="rId7"/>
    <p:sldId id="338" r:id="rId8"/>
    <p:sldId id="363" r:id="rId9"/>
    <p:sldId id="336" r:id="rId10"/>
    <p:sldId id="341" r:id="rId11"/>
    <p:sldId id="332" r:id="rId12"/>
  </p:sldIdLst>
  <p:sldSz cx="9904413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95">
          <p15:clr>
            <a:srgbClr val="A4A3A4"/>
          </p15:clr>
        </p15:guide>
        <p15:guide id="3" orient="horz" pos="3634">
          <p15:clr>
            <a:srgbClr val="A4A3A4"/>
          </p15:clr>
        </p15:guide>
        <p15:guide id="4" pos="3119">
          <p15:clr>
            <a:srgbClr val="A4A3A4"/>
          </p15:clr>
        </p15:guide>
        <p15:guide id="5" pos="5818">
          <p15:clr>
            <a:srgbClr val="A4A3A4"/>
          </p15:clr>
        </p15:guide>
        <p15:guide id="6" pos="4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6" autoAdjust="0"/>
    <p:restoredTop sz="94931" autoAdjust="0"/>
  </p:normalViewPr>
  <p:slideViewPr>
    <p:cSldViewPr showGuides="1">
      <p:cViewPr varScale="1">
        <p:scale>
          <a:sx n="109" d="100"/>
          <a:sy n="109" d="100"/>
        </p:scale>
        <p:origin x="1434" y="96"/>
      </p:cViewPr>
      <p:guideLst>
        <p:guide orient="horz" pos="2160"/>
        <p:guide orient="horz" pos="595"/>
        <p:guide orient="horz" pos="3634"/>
        <p:guide pos="3119"/>
        <p:guide pos="5818"/>
        <p:guide pos="4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-3300" y="-10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46969-C325-4E19-AEE4-4D6933BDF0D7}" type="datetimeFigureOut">
              <a:rPr lang="ko-KR" altLang="en-US" smtClean="0"/>
              <a:t>2019-09-17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C5F39-F601-487E-847F-9221453BFF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998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BC5F39-F601-487E-847F-9221453BFFA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40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BC5F39-F601-487E-847F-9221453BFFA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40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BC5F39-F601-487E-847F-9221453BFFA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647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BC5F39-F601-487E-847F-9221453BFFA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4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BC5F39-F601-487E-847F-9221453BFFA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40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32588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64244" y="1089029"/>
            <a:ext cx="8575924" cy="1149349"/>
          </a:xfrm>
        </p:spPr>
        <p:txBody>
          <a:bodyPr anchor="t"/>
          <a:lstStyle>
            <a:lvl1pPr>
              <a:defRPr lang="ko-KR" altLang="en-US" sz="2800" b="1" kern="120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HY울릉도M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"/>
          <a:stretch>
            <a:fillRect/>
          </a:stretch>
        </p:blipFill>
        <p:spPr bwMode="auto">
          <a:xfrm>
            <a:off x="41275" y="2263775"/>
            <a:ext cx="9823450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Line 6"/>
          <p:cNvSpPr>
            <a:spLocks noChangeShapeType="1"/>
          </p:cNvSpPr>
          <p:nvPr userDrawn="1"/>
        </p:nvSpPr>
        <p:spPr bwMode="auto">
          <a:xfrm>
            <a:off x="598490" y="2238375"/>
            <a:ext cx="877728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 dirty="0"/>
          </a:p>
        </p:txBody>
      </p:sp>
      <p:sp>
        <p:nvSpPr>
          <p:cNvPr id="24" name="Line 7"/>
          <p:cNvSpPr>
            <a:spLocks noChangeShapeType="1"/>
          </p:cNvSpPr>
          <p:nvPr userDrawn="1"/>
        </p:nvSpPr>
        <p:spPr bwMode="auto">
          <a:xfrm>
            <a:off x="55565" y="4900613"/>
            <a:ext cx="9723437" cy="0"/>
          </a:xfrm>
          <a:prstGeom prst="line">
            <a:avLst/>
          </a:prstGeom>
          <a:noFill/>
          <a:ln w="254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 dirty="0"/>
          </a:p>
        </p:txBody>
      </p:sp>
      <p:sp>
        <p:nvSpPr>
          <p:cNvPr id="26" name="Text Box 56"/>
          <p:cNvSpPr txBox="1">
            <a:spLocks noChangeArrowheads="1"/>
          </p:cNvSpPr>
          <p:nvPr userDrawn="1"/>
        </p:nvSpPr>
        <p:spPr bwMode="auto">
          <a:xfrm>
            <a:off x="3944940" y="5805488"/>
            <a:ext cx="2052637" cy="304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216" tIns="36608" rIns="73216" bIns="36608">
            <a:spAutoFit/>
          </a:bodyPr>
          <a:lstStyle>
            <a:lvl1pPr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1500" dirty="0">
                <a:latin typeface="HY헤드라인M" pitchFamily="18" charset="-127"/>
                <a:ea typeface="HY헤드라인M" pitchFamily="18" charset="-127"/>
              </a:rPr>
              <a:t>주식회사 아이에스엘</a:t>
            </a:r>
            <a:endParaRPr lang="en-US" altLang="ko-KR" sz="1500" dirty="0"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544644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3"/>
          <p:cNvSpPr txBox="1">
            <a:spLocks noChangeArrowheads="1"/>
          </p:cNvSpPr>
          <p:nvPr/>
        </p:nvSpPr>
        <p:spPr bwMode="auto">
          <a:xfrm>
            <a:off x="8129915" y="6410325"/>
            <a:ext cx="1104723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b="1" i="1" kern="1200">
                <a:solidFill>
                  <a:srgbClr val="000066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Page </a:t>
            </a:r>
            <a:fld id="{859F8F0B-F120-46B4-85F3-F554F60467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96840" y="117479"/>
            <a:ext cx="9140825" cy="523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333333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목차</a:t>
            </a:r>
            <a:endParaRPr lang="en-US" altLang="ko-KR" sz="2800" b="1" dirty="0">
              <a:solidFill>
                <a:schemeClr val="bg1"/>
              </a:solidFill>
              <a:latin typeface="Tahoma" pitchFamily="34" charset="0"/>
              <a:ea typeface="HY헤드라인M" pitchFamily="18" charset="-127"/>
            </a:endParaRPr>
          </a:p>
        </p:txBody>
      </p:sp>
      <p:sp>
        <p:nvSpPr>
          <p:cNvPr id="11" name="표 개체 틀 7"/>
          <p:cNvSpPr>
            <a:spLocks noGrp="1"/>
          </p:cNvSpPr>
          <p:nvPr>
            <p:ph type="tbl" sz="quarter" idx="10"/>
          </p:nvPr>
        </p:nvSpPr>
        <p:spPr>
          <a:xfrm>
            <a:off x="666752" y="944563"/>
            <a:ext cx="8567888" cy="4824412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39125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325880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790205" y="3157085"/>
            <a:ext cx="6324004" cy="5438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1" lang="ko-KR" altLang="en-US" sz="2800" kern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1198422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3"/>
          <p:cNvSpPr txBox="1">
            <a:spLocks noChangeArrowheads="1"/>
          </p:cNvSpPr>
          <p:nvPr/>
        </p:nvSpPr>
        <p:spPr bwMode="auto">
          <a:xfrm>
            <a:off x="8129915" y="6410325"/>
            <a:ext cx="1104723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b="1" i="1" kern="1200">
                <a:solidFill>
                  <a:srgbClr val="000066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Page </a:t>
            </a:r>
            <a:fld id="{859F8F0B-F120-46B4-85F3-F554F60467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1" name="내용 개체 틀 1"/>
          <p:cNvSpPr>
            <a:spLocks noGrp="1"/>
          </p:cNvSpPr>
          <p:nvPr>
            <p:ph idx="1"/>
          </p:nvPr>
        </p:nvSpPr>
        <p:spPr>
          <a:xfrm>
            <a:off x="494507" y="1166022"/>
            <a:ext cx="8915400" cy="452596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90488" y="125218"/>
            <a:ext cx="9721850" cy="51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wrap="square">
            <a:spAutoFit/>
          </a:bodyPr>
          <a:lstStyle>
            <a:lvl1pPr marL="0" indent="0">
              <a:buNone/>
              <a:defRPr lang="ko-KR" altLang="en-US" sz="2800" b="1" kern="1200" smtClean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defRPr>
            </a:lvl1pPr>
            <a:lvl2pPr>
              <a:defRPr lang="ko-KR" altLang="en-US" sz="1800" kern="1200" smtClean="0">
                <a:cs typeface="+mn-cs"/>
              </a:defRPr>
            </a:lvl2pPr>
            <a:lvl3pPr>
              <a:defRPr lang="ko-KR" altLang="en-US" sz="1800" kern="1200" smtClean="0">
                <a:cs typeface="+mn-cs"/>
              </a:defRPr>
            </a:lvl3pPr>
            <a:lvl4pPr>
              <a:defRPr lang="ko-KR" altLang="en-US" sz="1800" kern="1200" smtClean="0">
                <a:cs typeface="+mn-cs"/>
              </a:defRPr>
            </a:lvl4pPr>
            <a:lvl5pPr>
              <a:defRPr lang="ko-KR" altLang="en-US" sz="1800" kern="1200">
                <a:cs typeface="+mn-cs"/>
              </a:defRPr>
            </a:lvl5pPr>
          </a:lstStyle>
          <a:p>
            <a:pPr marL="0" lvl="0" defTabSz="91440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703080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3"/>
          <p:cNvSpPr txBox="1">
            <a:spLocks noChangeArrowheads="1"/>
          </p:cNvSpPr>
          <p:nvPr userDrawn="1"/>
        </p:nvSpPr>
        <p:spPr bwMode="auto">
          <a:xfrm>
            <a:off x="8129915" y="6410325"/>
            <a:ext cx="1104723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b="1" i="1" kern="1200">
                <a:solidFill>
                  <a:srgbClr val="000066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Page </a:t>
            </a:r>
            <a:fld id="{859F8F0B-F120-46B4-85F3-F554F60467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880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1784648" y="3068960"/>
            <a:ext cx="6324004" cy="707886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333333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algn="ctr"/>
            <a:r>
              <a:rPr lang="ko-KR" altLang="en-US" sz="4000" dirty="0">
                <a:latin typeface="HY헤드라인M" pitchFamily="18" charset="-127"/>
                <a:ea typeface="HY헤드라인M" pitchFamily="18" charset="-127"/>
              </a:rPr>
              <a:t>감사합니다</a:t>
            </a: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6199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32588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64244" y="1089029"/>
            <a:ext cx="8575924" cy="1149349"/>
          </a:xfrm>
        </p:spPr>
        <p:txBody>
          <a:bodyPr anchor="t"/>
          <a:lstStyle>
            <a:lvl1pPr>
              <a:defRPr lang="ko-KR" altLang="en-US" sz="2800" b="1" kern="120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HY울릉도M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"/>
          <a:stretch>
            <a:fillRect/>
          </a:stretch>
        </p:blipFill>
        <p:spPr bwMode="auto">
          <a:xfrm>
            <a:off x="41275" y="2263775"/>
            <a:ext cx="9823450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Line 6"/>
          <p:cNvSpPr>
            <a:spLocks noChangeShapeType="1"/>
          </p:cNvSpPr>
          <p:nvPr userDrawn="1"/>
        </p:nvSpPr>
        <p:spPr bwMode="auto">
          <a:xfrm>
            <a:off x="598490" y="2238375"/>
            <a:ext cx="877728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800" dirty="0">
              <a:solidFill>
                <a:srgbClr val="000000"/>
              </a:solidFill>
              <a:latin typeface="HY울릉도M" pitchFamily="18" charset="-127"/>
            </a:endParaRPr>
          </a:p>
        </p:txBody>
      </p:sp>
      <p:sp>
        <p:nvSpPr>
          <p:cNvPr id="24" name="Line 7"/>
          <p:cNvSpPr>
            <a:spLocks noChangeShapeType="1"/>
          </p:cNvSpPr>
          <p:nvPr userDrawn="1"/>
        </p:nvSpPr>
        <p:spPr bwMode="auto">
          <a:xfrm>
            <a:off x="55565" y="4900613"/>
            <a:ext cx="9723437" cy="0"/>
          </a:xfrm>
          <a:prstGeom prst="line">
            <a:avLst/>
          </a:prstGeom>
          <a:noFill/>
          <a:ln w="254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800" dirty="0">
              <a:solidFill>
                <a:srgbClr val="000000"/>
              </a:solidFill>
              <a:latin typeface="HY울릉도M" pitchFamily="18" charset="-127"/>
            </a:endParaRPr>
          </a:p>
        </p:txBody>
      </p:sp>
      <p:sp>
        <p:nvSpPr>
          <p:cNvPr id="26" name="Text Box 56"/>
          <p:cNvSpPr txBox="1">
            <a:spLocks noChangeArrowheads="1"/>
          </p:cNvSpPr>
          <p:nvPr userDrawn="1"/>
        </p:nvSpPr>
        <p:spPr bwMode="auto">
          <a:xfrm>
            <a:off x="3944940" y="5805488"/>
            <a:ext cx="2052637" cy="304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216" tIns="36608" rIns="73216" bIns="36608">
            <a:spAutoFit/>
          </a:bodyPr>
          <a:lstStyle>
            <a:lvl1pPr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ko-KR" altLang="en-US" sz="15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주식회사 아이에스엘</a:t>
            </a:r>
            <a:endParaRPr lang="en-US" altLang="ko-KR" sz="1500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4357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3"/>
          <p:cNvSpPr txBox="1">
            <a:spLocks noChangeArrowheads="1"/>
          </p:cNvSpPr>
          <p:nvPr/>
        </p:nvSpPr>
        <p:spPr bwMode="auto">
          <a:xfrm>
            <a:off x="8129915" y="6410325"/>
            <a:ext cx="1104723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b="1" i="1" kern="1200">
                <a:solidFill>
                  <a:srgbClr val="000066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Page </a:t>
            </a:r>
            <a:fld id="{859F8F0B-F120-46B4-85F3-F554F60467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96840" y="117479"/>
            <a:ext cx="9140825" cy="523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333333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Tahoma" pitchFamily="34" charset="0"/>
                <a:ea typeface="HY헤드라인M" pitchFamily="18" charset="-127"/>
              </a:rPr>
              <a:t>목차</a:t>
            </a:r>
            <a:endParaRPr lang="en-US" altLang="ko-KR" sz="2800" b="1" dirty="0">
              <a:solidFill>
                <a:srgbClr val="FFFFFF"/>
              </a:solidFill>
              <a:latin typeface="Tahoma" pitchFamily="34" charset="0"/>
              <a:ea typeface="HY헤드라인M" pitchFamily="18" charset="-127"/>
            </a:endParaRPr>
          </a:p>
        </p:txBody>
      </p:sp>
      <p:sp>
        <p:nvSpPr>
          <p:cNvPr id="11" name="표 개체 틀 7"/>
          <p:cNvSpPr>
            <a:spLocks noGrp="1"/>
          </p:cNvSpPr>
          <p:nvPr>
            <p:ph type="tbl" sz="quarter" idx="10"/>
          </p:nvPr>
        </p:nvSpPr>
        <p:spPr>
          <a:xfrm>
            <a:off x="666752" y="944563"/>
            <a:ext cx="8567888" cy="4824412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95693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325880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790205" y="3157085"/>
            <a:ext cx="6324004" cy="5438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1" lang="ko-KR" altLang="en-US" sz="2800" kern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5520606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3"/>
          <p:cNvSpPr txBox="1">
            <a:spLocks noChangeArrowheads="1"/>
          </p:cNvSpPr>
          <p:nvPr/>
        </p:nvSpPr>
        <p:spPr bwMode="auto">
          <a:xfrm>
            <a:off x="8129915" y="6410325"/>
            <a:ext cx="1104723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b="1" i="1" kern="1200">
                <a:solidFill>
                  <a:srgbClr val="000066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Page </a:t>
            </a:r>
            <a:fld id="{859F8F0B-F120-46B4-85F3-F554F60467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11" name="내용 개체 틀 1"/>
          <p:cNvSpPr>
            <a:spLocks noGrp="1"/>
          </p:cNvSpPr>
          <p:nvPr>
            <p:ph idx="1"/>
          </p:nvPr>
        </p:nvSpPr>
        <p:spPr>
          <a:xfrm>
            <a:off x="494507" y="1166022"/>
            <a:ext cx="8915400" cy="4525963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90488" y="125218"/>
            <a:ext cx="9721850" cy="51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333333"/>
            </a:outerShdw>
          </a:effectLst>
        </p:spPr>
        <p:txBody>
          <a:bodyPr wrap="square">
            <a:spAutoFit/>
          </a:bodyPr>
          <a:lstStyle>
            <a:lvl1pPr marL="0" indent="0">
              <a:buNone/>
              <a:defRPr lang="ko-KR" altLang="en-US" sz="2800" b="1" kern="1200" smtClean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defRPr>
            </a:lvl1pPr>
            <a:lvl2pPr>
              <a:defRPr lang="ko-KR" altLang="en-US" sz="1800" kern="1200" smtClean="0">
                <a:cs typeface="+mn-cs"/>
              </a:defRPr>
            </a:lvl2pPr>
            <a:lvl3pPr>
              <a:defRPr lang="ko-KR" altLang="en-US" sz="1800" kern="1200" smtClean="0">
                <a:cs typeface="+mn-cs"/>
              </a:defRPr>
            </a:lvl3pPr>
            <a:lvl4pPr>
              <a:defRPr lang="ko-KR" altLang="en-US" sz="1800" kern="1200" smtClean="0">
                <a:cs typeface="+mn-cs"/>
              </a:defRPr>
            </a:lvl4pPr>
            <a:lvl5pPr>
              <a:defRPr lang="ko-KR" altLang="en-US" sz="1800" kern="1200">
                <a:cs typeface="+mn-cs"/>
              </a:defRPr>
            </a:lvl5pPr>
          </a:lstStyle>
          <a:p>
            <a:pPr marL="0" lvl="0" defTabSz="91440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481760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3"/>
          <p:cNvSpPr txBox="1">
            <a:spLocks noChangeArrowheads="1"/>
          </p:cNvSpPr>
          <p:nvPr userDrawn="1"/>
        </p:nvSpPr>
        <p:spPr bwMode="auto">
          <a:xfrm>
            <a:off x="8129915" y="6410325"/>
            <a:ext cx="1104723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b="1" i="1" kern="1200">
                <a:solidFill>
                  <a:srgbClr val="000066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HY울릉도M" pitchFamily="18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Page </a:t>
            </a:r>
            <a:fld id="{859F8F0B-F120-46B4-85F3-F554F60467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5107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1784648" y="3068960"/>
            <a:ext cx="6324004" cy="707886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333333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0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감사합니다</a:t>
            </a: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7954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221" y="1600201"/>
            <a:ext cx="438079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8394" y="1600201"/>
            <a:ext cx="438079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9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193503" y="6410325"/>
            <a:ext cx="1104723" cy="4191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t>Page </a:t>
            </a:r>
            <a:fld id="{55223056-B6A9-4EE2-8E99-C360679B2CE6}" type="slidenum"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t>/</a:t>
            </a:r>
            <a:fld id="{E9FA6B4F-9388-4933-B4F0-BF41451C070C}" type="slidenum"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>
              <a:solidFill>
                <a:srgbClr val="000000"/>
              </a:solidFill>
              <a:latin typeface="HY울릉도M" pitchFamily="18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solidFill>
                <a:srgbClr val="000000"/>
              </a:solidFill>
              <a:latin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87604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221" y="1600201"/>
            <a:ext cx="8913972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9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193503" y="6410325"/>
            <a:ext cx="1104723" cy="4191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t>Page </a:t>
            </a:r>
            <a:fld id="{EAE2052F-E59B-4C22-841C-CDFDEDD42E99}" type="slidenum"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t>/</a:t>
            </a:r>
            <a:fld id="{96669D30-1D1C-42A4-B54E-DC02A87EAEB6}" type="slidenum">
              <a:rPr kumimoji="1" lang="en-US" altLang="ko-KR" sz="800">
                <a:solidFill>
                  <a:srgbClr val="000000"/>
                </a:solidFill>
                <a:latin typeface="HY울릉도M" pitchFamily="18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>
              <a:solidFill>
                <a:srgbClr val="000000"/>
              </a:solidFill>
              <a:latin typeface="HY울릉도M" pitchFamily="18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800">
              <a:solidFill>
                <a:srgbClr val="000000"/>
              </a:solidFill>
              <a:latin typeface="HY울릉도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22486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4"/>
          <p:cNvSpPr txBox="1">
            <a:spLocks noChangeArrowheads="1"/>
          </p:cNvSpPr>
          <p:nvPr/>
        </p:nvSpPr>
        <p:spPr bwMode="auto">
          <a:xfrm>
            <a:off x="276181" y="6354763"/>
            <a:ext cx="9355226" cy="36512"/>
          </a:xfrm>
          <a:prstGeom prst="rect">
            <a:avLst/>
          </a:prstGeom>
          <a:gradFill rotWithShape="0">
            <a:gsLst>
              <a:gs pos="0">
                <a:srgbClr val="5F5F5F"/>
              </a:gs>
              <a:gs pos="100000">
                <a:srgbClr val="96969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lang="en-US" altLang="ko-KR" sz="2800" b="1">
                <a:latin typeface="굴림" charset="-127"/>
              </a:rPr>
              <a:t> </a:t>
            </a:r>
            <a:endParaRPr lang="en-US" altLang="ko-KR" sz="2800">
              <a:latin typeface="굴림" charset="-127"/>
            </a:endParaRPr>
          </a:p>
        </p:txBody>
      </p:sp>
      <p:pic>
        <p:nvPicPr>
          <p:cNvPr id="1028" name="Picture 28" descr="m-2"/>
          <p:cNvPicPr>
            <a:picLocks noChangeAspect="1" noChangeArrowheads="1"/>
          </p:cNvPicPr>
          <p:nvPr/>
        </p:nvPicPr>
        <p:blipFill>
          <a:blip r:embed="rId8">
            <a:lum bright="3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86" b="53596"/>
          <a:stretch>
            <a:fillRect/>
          </a:stretch>
        </p:blipFill>
        <p:spPr bwMode="auto">
          <a:xfrm>
            <a:off x="1590" y="6"/>
            <a:ext cx="9902825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14"/>
          <p:cNvSpPr>
            <a:spLocks noChangeArrowheads="1"/>
          </p:cNvSpPr>
          <p:nvPr/>
        </p:nvSpPr>
        <p:spPr bwMode="auto">
          <a:xfrm>
            <a:off x="2" y="6"/>
            <a:ext cx="9904413" cy="1177925"/>
          </a:xfrm>
          <a:prstGeom prst="rect">
            <a:avLst/>
          </a:prstGeom>
          <a:gradFill rotWithShape="1">
            <a:gsLst>
              <a:gs pos="0">
                <a:srgbClr val="A1C6FD">
                  <a:alpha val="71001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ko-KR" altLang="en-US" sz="1800">
              <a:latin typeface="굴림" charset="-127"/>
            </a:endParaRPr>
          </a:p>
        </p:txBody>
      </p:sp>
      <p:sp>
        <p:nvSpPr>
          <p:cNvPr id="1030" name="Line 36"/>
          <p:cNvSpPr>
            <a:spLocks noChangeShapeType="1"/>
          </p:cNvSpPr>
          <p:nvPr/>
        </p:nvSpPr>
        <p:spPr bwMode="auto">
          <a:xfrm>
            <a:off x="2" y="692150"/>
            <a:ext cx="9904413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31" name="Rectangle 41"/>
          <p:cNvSpPr>
            <a:spLocks noGrp="1" noChangeArrowheads="1"/>
          </p:cNvSpPr>
          <p:nvPr>
            <p:ph type="title"/>
          </p:nvPr>
        </p:nvSpPr>
        <p:spPr bwMode="auto">
          <a:xfrm>
            <a:off x="128568" y="-26988"/>
            <a:ext cx="8913972" cy="64770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여기에 슬라이드 제목 입력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06" y="6453336"/>
            <a:ext cx="1369193" cy="36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4" r:id="rId4"/>
    <p:sldLayoutId id="2147483669" r:id="rId5"/>
    <p:sldLayoutId id="2147483663" r:id="rId6"/>
  </p:sldLayoutIdLst>
  <p:transition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4"/>
          <p:cNvSpPr txBox="1">
            <a:spLocks noChangeArrowheads="1"/>
          </p:cNvSpPr>
          <p:nvPr/>
        </p:nvSpPr>
        <p:spPr bwMode="auto">
          <a:xfrm>
            <a:off x="276181" y="6354763"/>
            <a:ext cx="9355226" cy="36512"/>
          </a:xfrm>
          <a:prstGeom prst="rect">
            <a:avLst/>
          </a:prstGeom>
          <a:gradFill rotWithShape="0">
            <a:gsLst>
              <a:gs pos="0">
                <a:srgbClr val="5F5F5F"/>
              </a:gs>
              <a:gs pos="100000">
                <a:srgbClr val="96969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>
                <a:solidFill>
                  <a:srgbClr val="000000"/>
                </a:solidFill>
                <a:latin typeface="굴림" charset="-127"/>
              </a:rPr>
              <a:t> </a:t>
            </a:r>
            <a:endParaRPr lang="en-US" altLang="ko-KR" sz="2800">
              <a:solidFill>
                <a:srgbClr val="000000"/>
              </a:solidFill>
              <a:latin typeface="굴림" charset="-127"/>
            </a:endParaRPr>
          </a:p>
        </p:txBody>
      </p:sp>
      <p:pic>
        <p:nvPicPr>
          <p:cNvPr id="1028" name="Picture 28" descr="m-2"/>
          <p:cNvPicPr>
            <a:picLocks noChangeAspect="1" noChangeArrowheads="1"/>
          </p:cNvPicPr>
          <p:nvPr/>
        </p:nvPicPr>
        <p:blipFill>
          <a:blip r:embed="rId10">
            <a:lum bright="3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86" b="53596"/>
          <a:stretch>
            <a:fillRect/>
          </a:stretch>
        </p:blipFill>
        <p:spPr bwMode="auto">
          <a:xfrm>
            <a:off x="1589" y="4"/>
            <a:ext cx="9902825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14"/>
          <p:cNvSpPr>
            <a:spLocks noChangeArrowheads="1"/>
          </p:cNvSpPr>
          <p:nvPr/>
        </p:nvSpPr>
        <p:spPr bwMode="auto">
          <a:xfrm>
            <a:off x="1" y="4"/>
            <a:ext cx="9904413" cy="1177925"/>
          </a:xfrm>
          <a:prstGeom prst="rect">
            <a:avLst/>
          </a:prstGeom>
          <a:gradFill rotWithShape="1">
            <a:gsLst>
              <a:gs pos="0">
                <a:srgbClr val="A1C6FD">
                  <a:alpha val="71001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1030" name="Line 36"/>
          <p:cNvSpPr>
            <a:spLocks noChangeShapeType="1"/>
          </p:cNvSpPr>
          <p:nvPr/>
        </p:nvSpPr>
        <p:spPr bwMode="auto">
          <a:xfrm>
            <a:off x="1" y="692150"/>
            <a:ext cx="9904413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800">
              <a:solidFill>
                <a:srgbClr val="000000"/>
              </a:solidFill>
              <a:latin typeface="HY울릉도M" pitchFamily="18" charset="-127"/>
            </a:endParaRPr>
          </a:p>
        </p:txBody>
      </p:sp>
      <p:sp>
        <p:nvSpPr>
          <p:cNvPr id="1031" name="Rectangle 41"/>
          <p:cNvSpPr>
            <a:spLocks noGrp="1" noChangeArrowheads="1"/>
          </p:cNvSpPr>
          <p:nvPr>
            <p:ph type="title"/>
          </p:nvPr>
        </p:nvSpPr>
        <p:spPr bwMode="auto">
          <a:xfrm>
            <a:off x="128568" y="-26988"/>
            <a:ext cx="8913972" cy="64770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여기에 슬라이드 제목 입력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05" y="6453336"/>
            <a:ext cx="136919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transition/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64244" y="1052740"/>
            <a:ext cx="8575924" cy="1149349"/>
          </a:xfrm>
        </p:spPr>
        <p:txBody>
          <a:bodyPr/>
          <a:lstStyle/>
          <a:p>
            <a:pPr eaLnBrk="0" latinLnBrk="0" hangingPunct="0">
              <a:spcBef>
                <a:spcPct val="20000"/>
              </a:spcBef>
            </a:pPr>
            <a:r>
              <a:rPr kumimoji="0" lang="en-US" altLang="ko-KR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Cisco Switch</a:t>
            </a:r>
            <a:r>
              <a:rPr kumimoji="0" lang="ko-KR" altLang="en-US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kumimoji="0" lang="en-US" altLang="ko-KR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/</a:t>
            </a:r>
            <a:r>
              <a:rPr kumimoji="0" lang="ko-KR" altLang="en-US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</a:t>
            </a:r>
            <a:r>
              <a:rPr kumimoji="0" lang="en-US" altLang="ko-KR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AP</a:t>
            </a:r>
            <a:r>
              <a:rPr kumimoji="0" lang="ko-KR" altLang="en-US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 설정</a:t>
            </a:r>
            <a:endParaRPr kumimoji="0" lang="en-US" altLang="ko-KR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" name="Text Box 56"/>
          <p:cNvSpPr txBox="1">
            <a:spLocks noChangeArrowheads="1"/>
          </p:cNvSpPr>
          <p:nvPr/>
        </p:nvSpPr>
        <p:spPr bwMode="auto">
          <a:xfrm>
            <a:off x="4229100" y="5157792"/>
            <a:ext cx="1263650" cy="3047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216" tIns="36608" rIns="73216" bIns="36608">
            <a:spAutoFit/>
          </a:bodyPr>
          <a:lstStyle>
            <a:lvl1pPr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defTabSz="801688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500" dirty="0">
                <a:latin typeface="HY헤드라인M" pitchFamily="18" charset="-127"/>
                <a:ea typeface="HY헤드라인M" pitchFamily="18" charset="-127"/>
              </a:rPr>
              <a:t>2019. 09.</a:t>
            </a:r>
          </a:p>
        </p:txBody>
      </p:sp>
    </p:spTree>
    <p:extLst>
      <p:ext uri="{BB962C8B-B14F-4D97-AF65-F5344CB8AC3E}">
        <p14:creationId xmlns:p14="http://schemas.microsoft.com/office/powerpoint/2010/main" val="2583228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9698" y="728700"/>
            <a:ext cx="41764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altLang="ko-KR" sz="2400" b="1" dirty="0"/>
              <a:t>Switch </a:t>
            </a:r>
            <a:r>
              <a:rPr lang="ko-KR" altLang="en-US" sz="2400" b="1" dirty="0"/>
              <a:t>초기 설정</a:t>
            </a:r>
            <a:endParaRPr lang="en-US" altLang="ko-KR" sz="2400" b="1" dirty="0"/>
          </a:p>
          <a:p>
            <a:r>
              <a:rPr lang="en-US" altLang="ko-KR" dirty="0"/>
              <a:t>      1. COM Port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      2. Console Setting</a:t>
            </a:r>
          </a:p>
          <a:p>
            <a:endParaRPr lang="en-US" altLang="ko-KR" dirty="0"/>
          </a:p>
          <a:p>
            <a:pPr marL="400050" indent="-400050">
              <a:buFont typeface="+mj-lt"/>
              <a:buAutoNum type="romanUcPeriod" startAt="2"/>
            </a:pPr>
            <a:r>
              <a:rPr lang="en-US" altLang="ko-KR" sz="2400" b="1" dirty="0"/>
              <a:t>AP </a:t>
            </a:r>
            <a:r>
              <a:rPr lang="ko-KR" altLang="en-US" sz="2400" b="1" dirty="0"/>
              <a:t>초기 설정</a:t>
            </a:r>
            <a:endParaRPr lang="en-US" altLang="ko-KR" sz="2400" b="1" dirty="0"/>
          </a:p>
          <a:p>
            <a:r>
              <a:rPr lang="en-US" altLang="ko-KR" dirty="0"/>
              <a:t>      1. COM Port 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dirty="0"/>
              <a:t>      2. Console Setting</a:t>
            </a:r>
          </a:p>
          <a:p>
            <a:r>
              <a:rPr lang="en-US" altLang="ko-KR" dirty="0"/>
              <a:t>      3. AP </a:t>
            </a:r>
            <a:r>
              <a:rPr lang="ko-KR" altLang="en-US" dirty="0"/>
              <a:t>설정 마무리 단계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9848591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1784362" y="3157808"/>
            <a:ext cx="6322991" cy="52322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333333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8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1. Switch</a:t>
            </a:r>
            <a:r>
              <a:rPr lang="ko-KR" altLang="en-US" sz="28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 초기 설정</a:t>
            </a:r>
          </a:p>
        </p:txBody>
      </p:sp>
    </p:spTree>
    <p:extLst>
      <p:ext uri="{BB962C8B-B14F-4D97-AF65-F5344CB8AC3E}">
        <p14:creationId xmlns:p14="http://schemas.microsoft.com/office/powerpoint/2010/main" val="43242289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2"/>
          <p:cNvSpPr txBox="1">
            <a:spLocks/>
          </p:cNvSpPr>
          <p:nvPr/>
        </p:nvSpPr>
        <p:spPr>
          <a:xfrm>
            <a:off x="0" y="93849"/>
            <a:ext cx="9721850" cy="518400"/>
          </a:xfrm>
          <a:prstGeom prst="rect">
            <a:avLst/>
          </a:prstGeom>
          <a:effectLst>
            <a:outerShdw dist="17780" dir="2700000" algn="tl" rotWithShape="0">
              <a:prstClr val="black"/>
            </a:outerShdw>
          </a:effectLst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>
              <a:buFont typeface="+mj-lt"/>
              <a:buAutoNum type="romanUcPeriod"/>
            </a:pPr>
            <a:r>
              <a:rPr lang="en-US" altLang="ko-KR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Switch </a:t>
            </a:r>
            <a:r>
              <a:rPr lang="ko-KR" altLang="en-US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초기 설정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49399"/>
              </p:ext>
            </p:extLst>
          </p:nvPr>
        </p:nvGraphicFramePr>
        <p:xfrm>
          <a:off x="88181" y="753458"/>
          <a:ext cx="9724951" cy="464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4951">
                  <a:extLst>
                    <a:ext uri="{9D8B030D-6E8A-4147-A177-3AD203B41FA5}">
                      <a16:colId xmlns:a16="http://schemas.microsoft.com/office/drawing/2014/main" val="675815977"/>
                    </a:ext>
                  </a:extLst>
                </a:gridCol>
              </a:tblGrid>
              <a:tr h="4632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/>
                        <a:t>1.</a:t>
                      </a:r>
                      <a:r>
                        <a:rPr lang="ko-KR" altLang="en-US" sz="1800" b="1" dirty="0"/>
                        <a:t> </a:t>
                      </a:r>
                      <a:r>
                        <a:rPr lang="en-US" altLang="ko-KR" sz="1800" b="1" dirty="0"/>
                        <a:t>COM Port </a:t>
                      </a:r>
                      <a:r>
                        <a:rPr lang="ko-KR" altLang="en-US" sz="1800" b="1" dirty="0"/>
                        <a:t>설정</a:t>
                      </a:r>
                      <a:endParaRPr lang="en-US" altLang="ko-KR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6293"/>
                  </a:ext>
                </a:extLst>
              </a:tr>
              <a:tr h="41801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8332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525080"/>
              </p:ext>
            </p:extLst>
          </p:nvPr>
        </p:nvGraphicFramePr>
        <p:xfrm>
          <a:off x="88182" y="5229204"/>
          <a:ext cx="9724951" cy="106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880">
                  <a:extLst>
                    <a:ext uri="{9D8B030D-6E8A-4147-A177-3AD203B41FA5}">
                      <a16:colId xmlns:a16="http://schemas.microsoft.com/office/drawing/2014/main" val="3094683083"/>
                    </a:ext>
                  </a:extLst>
                </a:gridCol>
                <a:gridCol w="8572071">
                  <a:extLst>
                    <a:ext uri="{9D8B030D-6E8A-4147-A177-3AD203B41FA5}">
                      <a16:colId xmlns:a16="http://schemas.microsoft.com/office/drawing/2014/main" val="2677625630"/>
                    </a:ext>
                  </a:extLst>
                </a:gridCol>
              </a:tblGrid>
              <a:tr h="263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순서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16596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0.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Switch </a:t>
                      </a:r>
                      <a:r>
                        <a:rPr lang="ko-KR" altLang="en-US" sz="1050" dirty="0"/>
                        <a:t>와 </a:t>
                      </a:r>
                      <a:r>
                        <a:rPr lang="en-US" altLang="ko-KR" sz="1050" dirty="0"/>
                        <a:t>PC</a:t>
                      </a:r>
                      <a:r>
                        <a:rPr lang="ko-KR" altLang="en-US" sz="1050" dirty="0"/>
                        <a:t>를 콘솔</a:t>
                      </a:r>
                      <a:r>
                        <a:rPr lang="en-US" altLang="ko-KR" sz="1050" dirty="0"/>
                        <a:t>(Switch Console Port)</a:t>
                      </a:r>
                      <a:r>
                        <a:rPr lang="ko-KR" altLang="en-US" sz="1050" dirty="0"/>
                        <a:t>로 연결 후 </a:t>
                      </a:r>
                      <a:r>
                        <a:rPr lang="en-US" altLang="ko-KR" sz="1050" dirty="0"/>
                        <a:t>PC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 err="1"/>
                        <a:t>Hyperterminal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실행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621000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기본값 복원 클릭하여 포트설정 위와 같이 맞춤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2.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확인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219463"/>
                  </a:ext>
                </a:extLst>
              </a:tr>
            </a:tbl>
          </a:graphicData>
        </a:graphic>
      </p:graphicFrame>
      <p:sp>
        <p:nvSpPr>
          <p:cNvPr id="9" name="텍스트 개체 틀 2"/>
          <p:cNvSpPr txBox="1">
            <a:spLocks/>
          </p:cNvSpPr>
          <p:nvPr/>
        </p:nvSpPr>
        <p:spPr>
          <a:xfrm>
            <a:off x="91281" y="126000"/>
            <a:ext cx="9721850" cy="518400"/>
          </a:xfrm>
          <a:prstGeom prst="rect">
            <a:avLst/>
          </a:prstGeom>
          <a:effectLst>
            <a:outerShdw dist="17780" dir="2700000" algn="tl" rotWithShape="0">
              <a:prstClr val="black"/>
            </a:outerShdw>
          </a:effectLst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ko-KR" altLang="en-US" sz="2800" b="1" dirty="0">
              <a:solidFill>
                <a:schemeClr val="bg1"/>
              </a:solidFill>
              <a:latin typeface="Tahoma" pitchFamily="34" charset="0"/>
              <a:ea typeface="HY헤드라인M" pitchFamily="18" charset="-127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3107" y="1200606"/>
            <a:ext cx="4216979" cy="3963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타원 6"/>
          <p:cNvSpPr/>
          <p:nvPr/>
        </p:nvSpPr>
        <p:spPr>
          <a:xfrm>
            <a:off x="5000622" y="4293096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3727661" y="4725144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2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153657" y="4350608"/>
            <a:ext cx="1346205" cy="24425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827777" y="4861148"/>
            <a:ext cx="913819" cy="24425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748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536726"/>
              </p:ext>
            </p:extLst>
          </p:nvPr>
        </p:nvGraphicFramePr>
        <p:xfrm>
          <a:off x="88181" y="753458"/>
          <a:ext cx="9724951" cy="464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4951">
                  <a:extLst>
                    <a:ext uri="{9D8B030D-6E8A-4147-A177-3AD203B41FA5}">
                      <a16:colId xmlns:a16="http://schemas.microsoft.com/office/drawing/2014/main" val="675815977"/>
                    </a:ext>
                  </a:extLst>
                </a:gridCol>
              </a:tblGrid>
              <a:tr h="4632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/>
                        <a:t>2.</a:t>
                      </a:r>
                      <a:r>
                        <a:rPr lang="ko-KR" altLang="en-US" sz="1800" b="1" dirty="0"/>
                        <a:t> </a:t>
                      </a:r>
                      <a:r>
                        <a:rPr lang="en-US" altLang="ko-KR" sz="1800" b="1" dirty="0"/>
                        <a:t>Console</a:t>
                      </a:r>
                      <a:r>
                        <a:rPr lang="en-US" altLang="ko-KR" sz="1800" b="1" baseline="0" dirty="0"/>
                        <a:t> Setting</a:t>
                      </a:r>
                      <a:endParaRPr lang="en-US" altLang="ko-KR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6293"/>
                  </a:ext>
                </a:extLst>
              </a:tr>
              <a:tr h="41801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8332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339294"/>
              </p:ext>
            </p:extLst>
          </p:nvPr>
        </p:nvGraphicFramePr>
        <p:xfrm>
          <a:off x="88180" y="5451212"/>
          <a:ext cx="9724951" cy="81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880">
                  <a:extLst>
                    <a:ext uri="{9D8B030D-6E8A-4147-A177-3AD203B41FA5}">
                      <a16:colId xmlns:a16="http://schemas.microsoft.com/office/drawing/2014/main" val="3094683083"/>
                    </a:ext>
                  </a:extLst>
                </a:gridCol>
                <a:gridCol w="8572071">
                  <a:extLst>
                    <a:ext uri="{9D8B030D-6E8A-4147-A177-3AD203B41FA5}">
                      <a16:colId xmlns:a16="http://schemas.microsoft.com/office/drawing/2014/main" val="2677625630"/>
                    </a:ext>
                  </a:extLst>
                </a:gridCol>
              </a:tblGrid>
              <a:tr h="263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순서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16596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0.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Switch</a:t>
                      </a:r>
                      <a:r>
                        <a:rPr lang="ko-KR" altLang="en-US" sz="1050" dirty="0"/>
                        <a:t> 전원 </a:t>
                      </a:r>
                      <a:r>
                        <a:rPr lang="en-US" altLang="ko-KR" sz="1050" dirty="0"/>
                        <a:t>On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621000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Switch</a:t>
                      </a:r>
                      <a:r>
                        <a:rPr lang="ko-KR" altLang="en-US" sz="1050" dirty="0"/>
                        <a:t> 부팅 완료 후 </a:t>
                      </a:r>
                      <a:r>
                        <a:rPr lang="en-US" altLang="ko-KR" sz="1050" dirty="0" err="1"/>
                        <a:t>Hyperterminal</a:t>
                      </a:r>
                      <a:r>
                        <a:rPr lang="ko-KR" altLang="en-US" sz="1050" dirty="0"/>
                        <a:t>에 적색으로 표시된 부분을 입력</a:t>
                      </a:r>
                      <a:r>
                        <a:rPr lang="en-US" altLang="ko-KR" sz="1050" dirty="0"/>
                        <a:t>.</a:t>
                      </a:r>
                      <a:r>
                        <a:rPr lang="en-US" altLang="ko-KR" sz="1050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1050" dirty="0">
                          <a:solidFill>
                            <a:srgbClr val="FF0000"/>
                          </a:solidFill>
                        </a:rPr>
                        <a:t>비어있는 부분은 아무것도 입력 안 한 상태에서 </a:t>
                      </a: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Enter ※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219463"/>
                  </a:ext>
                </a:extLst>
              </a:tr>
            </a:tbl>
          </a:graphicData>
        </a:graphic>
      </p:graphicFrame>
      <p:sp>
        <p:nvSpPr>
          <p:cNvPr id="10" name="텍스트 개체 틀 2"/>
          <p:cNvSpPr txBox="1">
            <a:spLocks/>
          </p:cNvSpPr>
          <p:nvPr/>
        </p:nvSpPr>
        <p:spPr>
          <a:xfrm>
            <a:off x="0" y="93849"/>
            <a:ext cx="9721850" cy="518400"/>
          </a:xfrm>
          <a:prstGeom prst="rect">
            <a:avLst/>
          </a:prstGeom>
          <a:effectLst>
            <a:outerShdw dist="17780" dir="2700000" algn="tl" rotWithShape="0">
              <a:prstClr val="black"/>
            </a:outerShdw>
          </a:effectLst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>
              <a:buFont typeface="+mj-lt"/>
              <a:buAutoNum type="romanUcPeriod"/>
            </a:pPr>
            <a:r>
              <a:rPr lang="en-US" altLang="ko-KR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Switch </a:t>
            </a:r>
            <a:r>
              <a:rPr lang="ko-KR" altLang="en-US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초기 설정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5474D1E-7DD1-4E15-99EF-CFF14AB21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4" y="1268760"/>
            <a:ext cx="4511260" cy="24909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06E40D-1CE7-4DA2-A415-321CE60873C5}"/>
              </a:ext>
            </a:extLst>
          </p:cNvPr>
          <p:cNvSpPr txBox="1"/>
          <p:nvPr/>
        </p:nvSpPr>
        <p:spPr>
          <a:xfrm>
            <a:off x="235682" y="3047392"/>
            <a:ext cx="4284476" cy="23018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altLang="ko-KR" sz="800" dirty="0"/>
              <a:t>Switch&gt;</a:t>
            </a:r>
            <a:r>
              <a:rPr lang="en-US" altLang="ko-KR" sz="800" dirty="0">
                <a:solidFill>
                  <a:srgbClr val="FF0000"/>
                </a:solidFill>
              </a:rPr>
              <a:t>enable</a:t>
            </a:r>
          </a:p>
          <a:p>
            <a:r>
              <a:rPr lang="en-US" altLang="ko-KR" sz="800" dirty="0"/>
              <a:t>Password : </a:t>
            </a:r>
            <a:r>
              <a:rPr lang="en-US" altLang="ko-KR" sz="800" dirty="0">
                <a:solidFill>
                  <a:srgbClr val="FF0000"/>
                </a:solidFill>
              </a:rPr>
              <a:t>Cisco</a:t>
            </a:r>
          </a:p>
          <a:p>
            <a:r>
              <a:rPr lang="en-US" altLang="ko-KR" sz="800" dirty="0" err="1"/>
              <a:t>Switch#</a:t>
            </a:r>
            <a:r>
              <a:rPr lang="en-US" altLang="ko-KR" sz="800" dirty="0" err="1">
                <a:solidFill>
                  <a:srgbClr val="FF0000"/>
                </a:solidFill>
              </a:rPr>
              <a:t>conf</a:t>
            </a:r>
            <a:r>
              <a:rPr lang="en-US" altLang="ko-KR" sz="800" dirty="0">
                <a:solidFill>
                  <a:srgbClr val="FF0000"/>
                </a:solidFill>
              </a:rPr>
              <a:t> t</a:t>
            </a:r>
          </a:p>
          <a:p>
            <a:r>
              <a:rPr lang="en-US" altLang="ko-KR" sz="800" dirty="0"/>
              <a:t>Switch(config)#</a:t>
            </a:r>
            <a:r>
              <a:rPr lang="en-US" altLang="ko-KR" sz="800" dirty="0">
                <a:solidFill>
                  <a:srgbClr val="FF0000"/>
                </a:solidFill>
              </a:rPr>
              <a:t>int </a:t>
            </a:r>
            <a:r>
              <a:rPr lang="en-US" altLang="ko-KR" sz="800" dirty="0" err="1">
                <a:solidFill>
                  <a:srgbClr val="FF0000"/>
                </a:solidFill>
              </a:rPr>
              <a:t>Vlan</a:t>
            </a:r>
            <a:r>
              <a:rPr lang="en-US" altLang="ko-KR" sz="800" dirty="0">
                <a:solidFill>
                  <a:srgbClr val="FF0000"/>
                </a:solidFill>
              </a:rPr>
              <a:t> 10</a:t>
            </a:r>
          </a:p>
          <a:p>
            <a:r>
              <a:rPr lang="en-US" altLang="ko-KR" sz="800" dirty="0"/>
              <a:t>Switch(config-if)#</a:t>
            </a:r>
            <a:r>
              <a:rPr lang="en-US" altLang="ko-KR" sz="800" dirty="0" err="1">
                <a:solidFill>
                  <a:srgbClr val="FF0000"/>
                </a:solidFill>
              </a:rPr>
              <a:t>ip</a:t>
            </a:r>
            <a:r>
              <a:rPr lang="en-US" altLang="ko-KR" sz="800" dirty="0">
                <a:solidFill>
                  <a:srgbClr val="FF0000"/>
                </a:solidFill>
              </a:rPr>
              <a:t> address 10.1.0.241 255.255.254.0 </a:t>
            </a:r>
            <a:r>
              <a:rPr lang="en-US" altLang="ko-KR" sz="800" dirty="0"/>
              <a:t>(</a:t>
            </a:r>
            <a:r>
              <a:rPr lang="ko-KR" altLang="en-US" sz="800" dirty="0"/>
              <a:t>해당장비</a:t>
            </a:r>
            <a:r>
              <a:rPr lang="en-US" altLang="ko-KR" sz="800" dirty="0"/>
              <a:t>IP)</a:t>
            </a:r>
          </a:p>
          <a:p>
            <a:r>
              <a:rPr lang="en-US" altLang="ko-KR" sz="800" dirty="0"/>
              <a:t>Switch(config-if)#</a:t>
            </a:r>
            <a:r>
              <a:rPr lang="en-US" altLang="ko-KR" sz="800" dirty="0">
                <a:solidFill>
                  <a:srgbClr val="FF0000"/>
                </a:solidFill>
              </a:rPr>
              <a:t>exit</a:t>
            </a:r>
          </a:p>
          <a:p>
            <a:r>
              <a:rPr lang="en-US" altLang="ko-KR" sz="800" dirty="0"/>
              <a:t>Switch(config)#</a:t>
            </a:r>
            <a:r>
              <a:rPr lang="en-US" altLang="ko-KR" sz="800" dirty="0">
                <a:solidFill>
                  <a:srgbClr val="FF0000"/>
                </a:solidFill>
              </a:rPr>
              <a:t>user Cisco sec Cisco</a:t>
            </a:r>
          </a:p>
          <a:p>
            <a:r>
              <a:rPr lang="en-US" altLang="ko-KR" sz="800" dirty="0"/>
              <a:t>Switch(config)#</a:t>
            </a:r>
            <a:r>
              <a:rPr lang="en-US" altLang="ko-KR" sz="800" dirty="0">
                <a:solidFill>
                  <a:srgbClr val="FF0000"/>
                </a:solidFill>
              </a:rPr>
              <a:t>line </a:t>
            </a:r>
            <a:r>
              <a:rPr lang="en-US" altLang="ko-KR" sz="800" dirty="0" err="1">
                <a:solidFill>
                  <a:srgbClr val="FF0000"/>
                </a:solidFill>
              </a:rPr>
              <a:t>vty</a:t>
            </a:r>
            <a:r>
              <a:rPr lang="en-US" altLang="ko-KR" sz="800" dirty="0">
                <a:solidFill>
                  <a:srgbClr val="FF0000"/>
                </a:solidFill>
              </a:rPr>
              <a:t> 0 4</a:t>
            </a:r>
          </a:p>
          <a:p>
            <a:r>
              <a:rPr lang="en-US" altLang="ko-KR" sz="800" dirty="0"/>
              <a:t>Switch(config-if)#</a:t>
            </a:r>
            <a:r>
              <a:rPr lang="en-US" altLang="ko-KR" sz="800" dirty="0">
                <a:solidFill>
                  <a:srgbClr val="FF0000"/>
                </a:solidFill>
              </a:rPr>
              <a:t>login local</a:t>
            </a:r>
          </a:p>
          <a:p>
            <a:r>
              <a:rPr lang="en-US" altLang="ko-KR" sz="800" dirty="0"/>
              <a:t>Switch(config-if)#</a:t>
            </a:r>
            <a:r>
              <a:rPr lang="en-US" altLang="ko-KR" sz="800" dirty="0">
                <a:solidFill>
                  <a:srgbClr val="FF0000"/>
                </a:solidFill>
              </a:rPr>
              <a:t>exit</a:t>
            </a:r>
          </a:p>
          <a:p>
            <a:r>
              <a:rPr lang="en-US" altLang="ko-KR" sz="800" dirty="0"/>
              <a:t>Switch(config)#</a:t>
            </a:r>
            <a:r>
              <a:rPr lang="en-US" altLang="ko-KR" sz="800" dirty="0">
                <a:solidFill>
                  <a:srgbClr val="FF0000"/>
                </a:solidFill>
              </a:rPr>
              <a:t>enable sec Cisco</a:t>
            </a:r>
          </a:p>
          <a:p>
            <a:r>
              <a:rPr lang="en-US" altLang="ko-KR" sz="800" dirty="0"/>
              <a:t>Switch(config)#</a:t>
            </a:r>
            <a:r>
              <a:rPr lang="en-US" altLang="ko-KR" sz="800" dirty="0" err="1">
                <a:solidFill>
                  <a:srgbClr val="FF0000"/>
                </a:solidFill>
              </a:rPr>
              <a:t>sp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 err="1">
                <a:solidFill>
                  <a:srgbClr val="FF0000"/>
                </a:solidFill>
              </a:rPr>
              <a:t>portfast</a:t>
            </a:r>
            <a:r>
              <a:rPr lang="en-US" altLang="ko-KR" sz="800" dirty="0">
                <a:solidFill>
                  <a:srgbClr val="FF0000"/>
                </a:solidFill>
              </a:rPr>
              <a:t> default</a:t>
            </a:r>
          </a:p>
          <a:p>
            <a:r>
              <a:rPr lang="en-US" altLang="ko-KR" sz="800" dirty="0"/>
              <a:t>Switch(config)#</a:t>
            </a:r>
            <a:r>
              <a:rPr lang="en-US" altLang="ko-KR" sz="800" dirty="0">
                <a:solidFill>
                  <a:srgbClr val="FF0000"/>
                </a:solidFill>
              </a:rPr>
              <a:t>hostname </a:t>
            </a:r>
            <a:r>
              <a:rPr lang="en-US" altLang="ko-KR" sz="800" dirty="0" err="1">
                <a:solidFill>
                  <a:srgbClr val="FF0000"/>
                </a:solidFill>
              </a:rPr>
              <a:t>BOE_EVEN_OHS_Main</a:t>
            </a:r>
            <a:r>
              <a:rPr lang="en-US" altLang="ko-KR" sz="800" dirty="0"/>
              <a:t> (</a:t>
            </a:r>
            <a:r>
              <a:rPr lang="ko-KR" altLang="en-US" sz="800" dirty="0"/>
              <a:t>해당 </a:t>
            </a:r>
            <a:r>
              <a:rPr lang="ko-KR" altLang="en-US" sz="800" dirty="0" err="1"/>
              <a:t>장비명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(config)#</a:t>
            </a:r>
            <a:r>
              <a:rPr lang="en-US" altLang="ko-KR" sz="800" dirty="0">
                <a:solidFill>
                  <a:srgbClr val="FF0000"/>
                </a:solidFill>
              </a:rPr>
              <a:t>int gi1/0/1</a:t>
            </a:r>
            <a:r>
              <a:rPr lang="en-US" altLang="ko-KR" sz="800" dirty="0"/>
              <a:t> (AP </a:t>
            </a:r>
            <a:r>
              <a:rPr lang="ko-KR" altLang="en-US" sz="800" dirty="0"/>
              <a:t>및 서버 연결포트에 모두 적용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(config-if)#</a:t>
            </a:r>
            <a:r>
              <a:rPr lang="en-US" altLang="ko-KR" sz="800" dirty="0">
                <a:solidFill>
                  <a:srgbClr val="FF0000"/>
                </a:solidFill>
              </a:rPr>
              <a:t>switchport mode access </a:t>
            </a:r>
            <a:r>
              <a:rPr lang="en-US" altLang="ko-KR" sz="800" dirty="0"/>
              <a:t>(AP </a:t>
            </a:r>
            <a:r>
              <a:rPr lang="ko-KR" altLang="en-US" sz="800" dirty="0"/>
              <a:t>및 서버 연결포트에 모두 적용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(config-if)#</a:t>
            </a:r>
            <a:r>
              <a:rPr lang="en-US" altLang="ko-KR" sz="800" dirty="0">
                <a:solidFill>
                  <a:srgbClr val="FF0000"/>
                </a:solidFill>
              </a:rPr>
              <a:t>switchport access VLAN</a:t>
            </a:r>
            <a:r>
              <a:rPr lang="ko-KR" altLang="en-US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>
                <a:solidFill>
                  <a:srgbClr val="FF0000"/>
                </a:solidFill>
              </a:rPr>
              <a:t>10 </a:t>
            </a:r>
            <a:r>
              <a:rPr lang="en-US" altLang="ko-KR" sz="800" dirty="0"/>
              <a:t>(AP </a:t>
            </a:r>
            <a:r>
              <a:rPr lang="ko-KR" altLang="en-US" sz="800" dirty="0"/>
              <a:t>및 서버 연결포트에 모두 적용</a:t>
            </a:r>
            <a:r>
              <a:rPr lang="en-US" altLang="ko-KR" sz="8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2B395A-60F2-40F2-A9F5-CFD1D6FFEEF9}"/>
              </a:ext>
            </a:extLst>
          </p:cNvPr>
          <p:cNvSpPr txBox="1"/>
          <p:nvPr/>
        </p:nvSpPr>
        <p:spPr>
          <a:xfrm>
            <a:off x="3844800" y="2858342"/>
            <a:ext cx="344277" cy="16817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no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10207D-6896-4961-AA4E-C1540B51C843}"/>
              </a:ext>
            </a:extLst>
          </p:cNvPr>
          <p:cNvSpPr txBox="1"/>
          <p:nvPr/>
        </p:nvSpPr>
        <p:spPr>
          <a:xfrm>
            <a:off x="4950655" y="1268760"/>
            <a:ext cx="4718076" cy="23018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(config-if)#</a:t>
            </a:r>
            <a:r>
              <a:rPr lang="en-US" altLang="ko-KR" sz="800" dirty="0">
                <a:solidFill>
                  <a:srgbClr val="FF0000"/>
                </a:solidFill>
              </a:rPr>
              <a:t>exit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(config)#</a:t>
            </a:r>
            <a:r>
              <a:rPr lang="en-US" altLang="ko-KR" sz="800" dirty="0">
                <a:solidFill>
                  <a:srgbClr val="FF0000"/>
                </a:solidFill>
              </a:rPr>
              <a:t>int </a:t>
            </a:r>
            <a:r>
              <a:rPr lang="en-US" altLang="ko-KR" sz="800" dirty="0" err="1">
                <a:solidFill>
                  <a:srgbClr val="FF0000"/>
                </a:solidFill>
              </a:rPr>
              <a:t>gi</a:t>
            </a:r>
            <a:r>
              <a:rPr lang="en-US" altLang="ko-KR" sz="800" dirty="0">
                <a:solidFill>
                  <a:srgbClr val="FF0000"/>
                </a:solidFill>
              </a:rPr>
              <a:t> 1/0/23</a:t>
            </a:r>
            <a:r>
              <a:rPr lang="en-US" altLang="ko-KR" sz="800" dirty="0"/>
              <a:t>(Switch </a:t>
            </a:r>
            <a:r>
              <a:rPr lang="ko-KR" altLang="en-US" sz="800" dirty="0"/>
              <a:t>및 </a:t>
            </a:r>
            <a:r>
              <a:rPr lang="en-US" altLang="ko-KR" sz="800" dirty="0"/>
              <a:t>Controller </a:t>
            </a:r>
            <a:r>
              <a:rPr lang="ko-KR" altLang="en-US" sz="800" dirty="0"/>
              <a:t>연결포트에 모두 적용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(config-if)#</a:t>
            </a:r>
            <a:r>
              <a:rPr lang="en-US" altLang="ko-KR" sz="800" dirty="0">
                <a:solidFill>
                  <a:srgbClr val="FF0000"/>
                </a:solidFill>
              </a:rPr>
              <a:t>switchport mode trunk</a:t>
            </a:r>
            <a:r>
              <a:rPr lang="en-US" altLang="ko-KR" sz="800" dirty="0"/>
              <a:t>(Switch </a:t>
            </a:r>
            <a:r>
              <a:rPr lang="ko-KR" altLang="en-US" sz="800" dirty="0"/>
              <a:t>및 </a:t>
            </a:r>
            <a:r>
              <a:rPr lang="en-US" altLang="ko-KR" sz="800" dirty="0"/>
              <a:t>Controller </a:t>
            </a:r>
            <a:r>
              <a:rPr lang="ko-KR" altLang="en-US" sz="800" dirty="0"/>
              <a:t>연결포트에 모두 적용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(config-if)#</a:t>
            </a:r>
            <a:r>
              <a:rPr lang="en-US" altLang="ko-KR" sz="800" dirty="0">
                <a:solidFill>
                  <a:srgbClr val="FF0000"/>
                </a:solidFill>
              </a:rPr>
              <a:t>switchport trunk allowed VLAN 10</a:t>
            </a:r>
            <a:r>
              <a:rPr lang="en-US" altLang="ko-KR" sz="800" dirty="0"/>
              <a:t>(Switch </a:t>
            </a:r>
            <a:r>
              <a:rPr lang="ko-KR" altLang="en-US" sz="800" dirty="0"/>
              <a:t>및 </a:t>
            </a:r>
            <a:r>
              <a:rPr lang="en-US" altLang="ko-KR" sz="800" dirty="0"/>
              <a:t>Controller </a:t>
            </a:r>
            <a:r>
              <a:rPr lang="ko-KR" altLang="en-US" sz="800" dirty="0"/>
              <a:t>연결포트에 모두 적용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(config-if)#</a:t>
            </a:r>
            <a:r>
              <a:rPr lang="en-US" altLang="ko-KR" sz="800" dirty="0">
                <a:solidFill>
                  <a:srgbClr val="FF0000"/>
                </a:solidFill>
              </a:rPr>
              <a:t>exit</a:t>
            </a:r>
          </a:p>
          <a:p>
            <a:r>
              <a:rPr lang="en-US" altLang="ko-KR" sz="800" dirty="0" err="1"/>
              <a:t>BOE_EVEN_OHS_Main</a:t>
            </a:r>
            <a:r>
              <a:rPr lang="en-US" altLang="ko-KR" sz="800" dirty="0"/>
              <a:t>(config)#</a:t>
            </a:r>
            <a:r>
              <a:rPr lang="en-US" altLang="ko-KR" sz="800" dirty="0">
                <a:solidFill>
                  <a:srgbClr val="FF0000"/>
                </a:solidFill>
              </a:rPr>
              <a:t>end</a:t>
            </a:r>
          </a:p>
          <a:p>
            <a:r>
              <a:rPr lang="en-US" altLang="ko-KR" sz="800" dirty="0" err="1"/>
              <a:t>BOE_EVEN_OHS_Main#</a:t>
            </a:r>
            <a:r>
              <a:rPr lang="en-US" altLang="ko-KR" sz="800" dirty="0" err="1">
                <a:solidFill>
                  <a:srgbClr val="FF0000"/>
                </a:solidFill>
              </a:rPr>
              <a:t>wr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en-US" altLang="ko-KR" sz="800" dirty="0"/>
              <a:t>(</a:t>
            </a:r>
            <a:r>
              <a:rPr lang="ko-KR" altLang="en-US" sz="800" dirty="0"/>
              <a:t>설정 내용 저장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 err="1"/>
              <a:t>BOE_EVEN_OHS_Main#</a:t>
            </a:r>
            <a:r>
              <a:rPr lang="en-US" altLang="ko-KR" sz="800" dirty="0" err="1">
                <a:solidFill>
                  <a:srgbClr val="FF0000"/>
                </a:solidFill>
              </a:rPr>
              <a:t>wr</a:t>
            </a:r>
            <a:r>
              <a:rPr lang="en-US" altLang="ko-KR" sz="800" dirty="0">
                <a:solidFill>
                  <a:srgbClr val="FF0000"/>
                </a:solidFill>
              </a:rPr>
              <a:t> mem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55E7C53-0B36-4F2C-8952-F48D3A65445A}"/>
              </a:ext>
            </a:extLst>
          </p:cNvPr>
          <p:cNvSpPr/>
          <p:nvPr/>
        </p:nvSpPr>
        <p:spPr>
          <a:xfrm>
            <a:off x="82647" y="1168958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004B2B9-C92B-4F3E-B9C5-3E100FF434F2}"/>
              </a:ext>
            </a:extLst>
          </p:cNvPr>
          <p:cNvSpPr/>
          <p:nvPr/>
        </p:nvSpPr>
        <p:spPr>
          <a:xfrm>
            <a:off x="235682" y="1226469"/>
            <a:ext cx="9433049" cy="412280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621C96-222F-4407-88FC-21ED112E5E61}"/>
              </a:ext>
            </a:extLst>
          </p:cNvPr>
          <p:cNvSpPr txBox="1"/>
          <p:nvPr/>
        </p:nvSpPr>
        <p:spPr>
          <a:xfrm>
            <a:off x="4674934" y="4845285"/>
            <a:ext cx="49217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모든 설정 마무리 후 연결하여 정상 동작 확인</a:t>
            </a:r>
          </a:p>
        </p:txBody>
      </p:sp>
    </p:spTree>
    <p:extLst>
      <p:ext uri="{BB962C8B-B14F-4D97-AF65-F5344CB8AC3E}">
        <p14:creationId xmlns:p14="http://schemas.microsoft.com/office/powerpoint/2010/main" val="243357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1784362" y="3157808"/>
            <a:ext cx="6322991" cy="52322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333333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1pPr>
            <a:lvl2pPr marL="742950" indent="-28575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2pPr>
            <a:lvl3pPr marL="11430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3pPr>
            <a:lvl4pPr marL="16002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4pPr>
            <a:lvl5pPr marL="2057400" indent="-228600" eaLnBrk="0" hangingPunct="0"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>
                <a:solidFill>
                  <a:schemeClr val="tx1"/>
                </a:solidFill>
                <a:latin typeface="HY울릉도M" pitchFamily="18" charset="-127"/>
                <a:ea typeface="굴림" charset="-127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8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2. AP </a:t>
            </a:r>
            <a:r>
              <a:rPr lang="ko-KR" altLang="en-US" sz="2800" dirty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초기 설정</a:t>
            </a:r>
          </a:p>
        </p:txBody>
      </p:sp>
    </p:spTree>
    <p:extLst>
      <p:ext uri="{BB962C8B-B14F-4D97-AF65-F5344CB8AC3E}">
        <p14:creationId xmlns:p14="http://schemas.microsoft.com/office/powerpoint/2010/main" val="27191758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88181" y="753458"/>
          <a:ext cx="9724951" cy="464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4951">
                  <a:extLst>
                    <a:ext uri="{9D8B030D-6E8A-4147-A177-3AD203B41FA5}">
                      <a16:colId xmlns:a16="http://schemas.microsoft.com/office/drawing/2014/main" val="675815977"/>
                    </a:ext>
                  </a:extLst>
                </a:gridCol>
              </a:tblGrid>
              <a:tr h="4632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/>
                        <a:t>1.</a:t>
                      </a:r>
                      <a:r>
                        <a:rPr lang="ko-KR" altLang="en-US" sz="1800" b="1" dirty="0"/>
                        <a:t> </a:t>
                      </a:r>
                      <a:r>
                        <a:rPr lang="en-US" altLang="ko-KR" sz="1800" b="1" dirty="0"/>
                        <a:t>COM Port </a:t>
                      </a:r>
                      <a:r>
                        <a:rPr lang="ko-KR" altLang="en-US" sz="1800" b="1" dirty="0"/>
                        <a:t>설정</a:t>
                      </a:r>
                      <a:endParaRPr lang="en-US" altLang="ko-KR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6293"/>
                  </a:ext>
                </a:extLst>
              </a:tr>
              <a:tr h="41801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8332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11004"/>
              </p:ext>
            </p:extLst>
          </p:nvPr>
        </p:nvGraphicFramePr>
        <p:xfrm>
          <a:off x="88182" y="5229204"/>
          <a:ext cx="9724951" cy="106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880">
                  <a:extLst>
                    <a:ext uri="{9D8B030D-6E8A-4147-A177-3AD203B41FA5}">
                      <a16:colId xmlns:a16="http://schemas.microsoft.com/office/drawing/2014/main" val="3094683083"/>
                    </a:ext>
                  </a:extLst>
                </a:gridCol>
                <a:gridCol w="8572071">
                  <a:extLst>
                    <a:ext uri="{9D8B030D-6E8A-4147-A177-3AD203B41FA5}">
                      <a16:colId xmlns:a16="http://schemas.microsoft.com/office/drawing/2014/main" val="2677625630"/>
                    </a:ext>
                  </a:extLst>
                </a:gridCol>
              </a:tblGrid>
              <a:tr h="263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순서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16596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0.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AP </a:t>
                      </a:r>
                      <a:r>
                        <a:rPr lang="ko-KR" altLang="en-US" sz="1050" dirty="0"/>
                        <a:t>와 </a:t>
                      </a:r>
                      <a:r>
                        <a:rPr lang="en-US" altLang="ko-KR" sz="1050" dirty="0"/>
                        <a:t>PC</a:t>
                      </a:r>
                      <a:r>
                        <a:rPr lang="ko-KR" altLang="en-US" sz="1050" dirty="0"/>
                        <a:t>를 콘솔</a:t>
                      </a:r>
                      <a:r>
                        <a:rPr lang="en-US" altLang="ko-KR" sz="1050" dirty="0"/>
                        <a:t>(AP Console Port)</a:t>
                      </a:r>
                      <a:r>
                        <a:rPr lang="ko-KR" altLang="en-US" sz="1050" dirty="0"/>
                        <a:t>로 연결 후 </a:t>
                      </a:r>
                      <a:r>
                        <a:rPr lang="en-US" altLang="ko-KR" sz="1050" dirty="0"/>
                        <a:t>PC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 err="1"/>
                        <a:t>Hyperterminal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실행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621000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기본값 복원 클릭하여 포트설정 위와 같이 맞춤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2.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확인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219463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3107" y="1200606"/>
            <a:ext cx="4216979" cy="3963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타원 6"/>
          <p:cNvSpPr/>
          <p:nvPr/>
        </p:nvSpPr>
        <p:spPr>
          <a:xfrm>
            <a:off x="5000622" y="4293096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3727661" y="4725144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2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153657" y="4350608"/>
            <a:ext cx="1346205" cy="24425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827777" y="4861148"/>
            <a:ext cx="913819" cy="244252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FCABD689-F4FB-49D8-ACD4-0E1DF91A4D30}"/>
              </a:ext>
            </a:extLst>
          </p:cNvPr>
          <p:cNvSpPr txBox="1">
            <a:spLocks/>
          </p:cNvSpPr>
          <p:nvPr/>
        </p:nvSpPr>
        <p:spPr>
          <a:xfrm>
            <a:off x="91281" y="126000"/>
            <a:ext cx="9721850" cy="518400"/>
          </a:xfrm>
          <a:prstGeom prst="rect">
            <a:avLst/>
          </a:prstGeom>
          <a:effectLst>
            <a:outerShdw dist="17780" dir="2700000" algn="tl" rotWithShape="0">
              <a:prstClr val="black"/>
            </a:outerShdw>
          </a:effectLst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>
              <a:buFont typeface="+mj-lt"/>
              <a:buAutoNum type="romanUcPeriod" startAt="2"/>
            </a:pPr>
            <a:r>
              <a:rPr lang="en-US" altLang="ko-KR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AP </a:t>
            </a:r>
            <a:r>
              <a:rPr lang="ko-KR" altLang="en-US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초기 설정</a:t>
            </a:r>
          </a:p>
        </p:txBody>
      </p:sp>
    </p:spTree>
    <p:extLst>
      <p:ext uri="{BB962C8B-B14F-4D97-AF65-F5344CB8AC3E}">
        <p14:creationId xmlns:p14="http://schemas.microsoft.com/office/powerpoint/2010/main" val="43800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167505"/>
              </p:ext>
            </p:extLst>
          </p:nvPr>
        </p:nvGraphicFramePr>
        <p:xfrm>
          <a:off x="88181" y="753458"/>
          <a:ext cx="9724951" cy="464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4951">
                  <a:extLst>
                    <a:ext uri="{9D8B030D-6E8A-4147-A177-3AD203B41FA5}">
                      <a16:colId xmlns:a16="http://schemas.microsoft.com/office/drawing/2014/main" val="675815977"/>
                    </a:ext>
                  </a:extLst>
                </a:gridCol>
              </a:tblGrid>
              <a:tr h="4632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/>
                        <a:t>2.</a:t>
                      </a:r>
                      <a:r>
                        <a:rPr lang="ko-KR" altLang="en-US" sz="1800" b="1" dirty="0"/>
                        <a:t> </a:t>
                      </a:r>
                      <a:r>
                        <a:rPr lang="en-US" altLang="ko-KR" sz="1800" b="1" dirty="0"/>
                        <a:t>Console Setting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6293"/>
                  </a:ext>
                </a:extLst>
              </a:tr>
              <a:tr h="41801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8332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59165"/>
              </p:ext>
            </p:extLst>
          </p:nvPr>
        </p:nvGraphicFramePr>
        <p:xfrm>
          <a:off x="88180" y="5451212"/>
          <a:ext cx="9724951" cy="81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880">
                  <a:extLst>
                    <a:ext uri="{9D8B030D-6E8A-4147-A177-3AD203B41FA5}">
                      <a16:colId xmlns:a16="http://schemas.microsoft.com/office/drawing/2014/main" val="3094683083"/>
                    </a:ext>
                  </a:extLst>
                </a:gridCol>
                <a:gridCol w="8572071">
                  <a:extLst>
                    <a:ext uri="{9D8B030D-6E8A-4147-A177-3AD203B41FA5}">
                      <a16:colId xmlns:a16="http://schemas.microsoft.com/office/drawing/2014/main" val="2677625630"/>
                    </a:ext>
                  </a:extLst>
                </a:gridCol>
              </a:tblGrid>
              <a:tr h="263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순서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16596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Internet</a:t>
                      </a:r>
                      <a:r>
                        <a:rPr lang="en-US" altLang="ko-KR" sz="1050" baseline="0" dirty="0"/>
                        <a:t> Explorer </a:t>
                      </a:r>
                      <a:r>
                        <a:rPr lang="ko-KR" altLang="en-US" sz="1050" baseline="0" dirty="0"/>
                        <a:t>실행 후 주소 창에 </a:t>
                      </a:r>
                      <a:r>
                        <a:rPr lang="en-US" altLang="ko-KR" sz="1050" baseline="0" dirty="0"/>
                        <a:t>setting </a:t>
                      </a:r>
                      <a:r>
                        <a:rPr lang="ko-KR" altLang="en-US" sz="1050" baseline="0" dirty="0"/>
                        <a:t>한 </a:t>
                      </a:r>
                      <a:r>
                        <a:rPr lang="en-US" altLang="ko-KR" sz="1050" baseline="0" dirty="0"/>
                        <a:t>Controller </a:t>
                      </a:r>
                      <a:r>
                        <a:rPr lang="ko-KR" altLang="en-US" sz="1050" baseline="0" dirty="0"/>
                        <a:t>주소 입력 </a:t>
                      </a:r>
                      <a:r>
                        <a:rPr lang="en-US" altLang="ko-KR" sz="1050" baseline="0" dirty="0">
                          <a:solidFill>
                            <a:srgbClr val="FF0000"/>
                          </a:solidFill>
                        </a:rPr>
                        <a:t>(Ex. 10.1.0.1)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621000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2.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Continue</a:t>
                      </a:r>
                      <a:r>
                        <a:rPr lang="en-US" altLang="ko-KR" sz="1050" baseline="0" dirty="0"/>
                        <a:t> to this website (not recommended). </a:t>
                      </a:r>
                      <a:r>
                        <a:rPr lang="ko-KR" altLang="en-US" sz="1050" baseline="0" dirty="0"/>
                        <a:t>클릭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219463"/>
                  </a:ext>
                </a:extLst>
              </a:tr>
            </a:tbl>
          </a:graphicData>
        </a:graphic>
      </p:graphicFrame>
      <p:sp>
        <p:nvSpPr>
          <p:cNvPr id="9" name="텍스트 개체 틀 2"/>
          <p:cNvSpPr txBox="1">
            <a:spLocks/>
          </p:cNvSpPr>
          <p:nvPr/>
        </p:nvSpPr>
        <p:spPr>
          <a:xfrm>
            <a:off x="91281" y="126000"/>
            <a:ext cx="9721850" cy="518400"/>
          </a:xfrm>
          <a:prstGeom prst="rect">
            <a:avLst/>
          </a:prstGeom>
          <a:effectLst>
            <a:outerShdw dist="17780" dir="2700000" algn="tl" rotWithShape="0">
              <a:prstClr val="black"/>
            </a:outerShdw>
          </a:effectLst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>
              <a:buFont typeface="+mj-lt"/>
              <a:buAutoNum type="romanUcPeriod" startAt="2"/>
            </a:pPr>
            <a:r>
              <a:rPr lang="en-US" altLang="ko-KR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AP </a:t>
            </a:r>
            <a:r>
              <a:rPr lang="ko-KR" altLang="en-US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초기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A4B23F-EF2C-401F-AB32-A075AD3EB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7" y="1272529"/>
            <a:ext cx="4325559" cy="22799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B5B51C-861C-440A-8CC5-3681651606BF}"/>
              </a:ext>
            </a:extLst>
          </p:cNvPr>
          <p:cNvSpPr txBox="1"/>
          <p:nvPr/>
        </p:nvSpPr>
        <p:spPr>
          <a:xfrm>
            <a:off x="146090" y="2708920"/>
            <a:ext cx="4086036" cy="17641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altLang="ko-KR" sz="800" dirty="0" err="1"/>
              <a:t>Username:</a:t>
            </a:r>
            <a:r>
              <a:rPr lang="en-US" altLang="ko-KR" sz="800" dirty="0" err="1">
                <a:solidFill>
                  <a:srgbClr val="FF0000"/>
                </a:solidFill>
              </a:rPr>
              <a:t>Cisco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 err="1"/>
              <a:t>Password:</a:t>
            </a:r>
            <a:r>
              <a:rPr lang="en-US" altLang="ko-KR" sz="800" dirty="0" err="1">
                <a:solidFill>
                  <a:srgbClr val="FF0000"/>
                </a:solidFill>
              </a:rPr>
              <a:t>Cisco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/>
              <a:t>APd072.dcaa.1518&gt;</a:t>
            </a:r>
            <a:r>
              <a:rPr lang="en-US" altLang="ko-KR" sz="800" dirty="0">
                <a:solidFill>
                  <a:srgbClr val="FF0000"/>
                </a:solidFill>
              </a:rPr>
              <a:t>enable</a:t>
            </a:r>
          </a:p>
          <a:p>
            <a:r>
              <a:rPr lang="en-US" altLang="ko-KR" sz="800" dirty="0" err="1"/>
              <a:t>Password:</a:t>
            </a:r>
            <a:r>
              <a:rPr lang="en-US" altLang="ko-KR" sz="800" dirty="0" err="1">
                <a:solidFill>
                  <a:srgbClr val="FF0000"/>
                </a:solidFill>
              </a:rPr>
              <a:t>Cisco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en-US" altLang="ko-KR" sz="800" dirty="0"/>
              <a:t>APd072.dcaa.1518#</a:t>
            </a:r>
            <a:r>
              <a:rPr lang="en-US" altLang="ko-KR" sz="800" dirty="0">
                <a:solidFill>
                  <a:srgbClr val="FF0000"/>
                </a:solidFill>
              </a:rPr>
              <a:t>lwapp ap </a:t>
            </a:r>
            <a:r>
              <a:rPr lang="en-US" altLang="ko-KR" sz="800" dirty="0" err="1">
                <a:solidFill>
                  <a:srgbClr val="FF0000"/>
                </a:solidFill>
              </a:rPr>
              <a:t>ip</a:t>
            </a:r>
            <a:r>
              <a:rPr lang="en-US" altLang="ko-KR" sz="800" dirty="0">
                <a:solidFill>
                  <a:srgbClr val="FF0000"/>
                </a:solidFill>
              </a:rPr>
              <a:t> address 10.1.0.11 255.255.254.0</a:t>
            </a:r>
            <a:r>
              <a:rPr lang="en-US" altLang="ko-KR" sz="800" dirty="0"/>
              <a:t>(</a:t>
            </a:r>
            <a:r>
              <a:rPr lang="ko-KR" altLang="en-US" sz="800" dirty="0"/>
              <a:t>해당 </a:t>
            </a:r>
            <a:r>
              <a:rPr lang="en-US" altLang="ko-KR" sz="800" dirty="0"/>
              <a:t>AP IP</a:t>
            </a:r>
            <a:r>
              <a:rPr lang="ko-KR" altLang="en-US" sz="800" dirty="0"/>
              <a:t>입력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APd072.dcaa.1518#</a:t>
            </a:r>
            <a:r>
              <a:rPr lang="en-US" altLang="ko-KR" sz="800" dirty="0">
                <a:solidFill>
                  <a:srgbClr val="FF0000"/>
                </a:solidFill>
              </a:rPr>
              <a:t>lwapp ap </a:t>
            </a:r>
            <a:r>
              <a:rPr lang="en-US" altLang="ko-KR" sz="800" dirty="0" err="1">
                <a:solidFill>
                  <a:srgbClr val="FF0000"/>
                </a:solidFill>
              </a:rPr>
              <a:t>ip</a:t>
            </a:r>
            <a:r>
              <a:rPr lang="en-US" altLang="ko-KR" sz="800" dirty="0">
                <a:solidFill>
                  <a:srgbClr val="FF0000"/>
                </a:solidFill>
              </a:rPr>
              <a:t> default-gateway 10.1.0.241</a:t>
            </a:r>
            <a:r>
              <a:rPr lang="en-US" altLang="ko-KR" sz="800" dirty="0"/>
              <a:t>(Main</a:t>
            </a:r>
            <a:r>
              <a:rPr lang="ko-KR" altLang="en-US" sz="800" dirty="0"/>
              <a:t> </a:t>
            </a:r>
            <a:r>
              <a:rPr lang="en-US" altLang="ko-KR" sz="800" dirty="0"/>
              <a:t>Switch</a:t>
            </a:r>
            <a:r>
              <a:rPr lang="ko-KR" altLang="en-US" sz="800" dirty="0"/>
              <a:t> </a:t>
            </a:r>
            <a:r>
              <a:rPr lang="en-US" altLang="ko-KR" sz="800" dirty="0"/>
              <a:t>IP</a:t>
            </a:r>
            <a:r>
              <a:rPr lang="ko-KR" altLang="en-US" sz="800" dirty="0"/>
              <a:t>입력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APd072.dcaa.1518#</a:t>
            </a:r>
            <a:r>
              <a:rPr lang="en-US" altLang="ko-KR" sz="800" dirty="0">
                <a:solidFill>
                  <a:srgbClr val="FF0000"/>
                </a:solidFill>
              </a:rPr>
              <a:t>lwapp ap hostname BOE_EVEN_OHS_AP01</a:t>
            </a:r>
            <a:r>
              <a:rPr lang="en-US" altLang="ko-KR" sz="800" dirty="0"/>
              <a:t>(</a:t>
            </a:r>
            <a:r>
              <a:rPr lang="ko-KR" altLang="en-US" sz="800" dirty="0"/>
              <a:t>해당 </a:t>
            </a:r>
            <a:r>
              <a:rPr lang="en-US" altLang="ko-KR" sz="800" dirty="0"/>
              <a:t>AP </a:t>
            </a:r>
            <a:r>
              <a:rPr lang="ko-KR" altLang="en-US" sz="800" dirty="0"/>
              <a:t>이름입력</a:t>
            </a:r>
            <a:r>
              <a:rPr lang="en-US" altLang="ko-KR" sz="800" dirty="0"/>
              <a:t>)</a:t>
            </a:r>
          </a:p>
          <a:p>
            <a:r>
              <a:rPr lang="en-US" altLang="ko-KR" sz="800" dirty="0"/>
              <a:t>BOE_EVEN_OHS_AP01#</a:t>
            </a:r>
          </a:p>
          <a:p>
            <a:endParaRPr lang="en-US" altLang="ko-KR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87EAE4-ED1E-4EC9-8E56-0A54393A11DC}"/>
              </a:ext>
            </a:extLst>
          </p:cNvPr>
          <p:cNvSpPr txBox="1"/>
          <p:nvPr/>
        </p:nvSpPr>
        <p:spPr>
          <a:xfrm>
            <a:off x="4674934" y="4401108"/>
            <a:ext cx="4921788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모든 설정 마무리 후 연결하여 </a:t>
            </a:r>
            <a:r>
              <a:rPr lang="en-US" altLang="ko-KR" dirty="0"/>
              <a:t>Controller</a:t>
            </a:r>
            <a:r>
              <a:rPr lang="ko-KR" altLang="en-US" dirty="0"/>
              <a:t>에서 </a:t>
            </a:r>
            <a:endParaRPr lang="en-US" altLang="ko-KR" dirty="0"/>
          </a:p>
          <a:p>
            <a:r>
              <a:rPr lang="ko-KR" altLang="en-US" dirty="0"/>
              <a:t>마무리 설정 진행</a:t>
            </a:r>
            <a:r>
              <a:rPr lang="en-US" altLang="ko-KR" dirty="0"/>
              <a:t>(Ch / </a:t>
            </a:r>
            <a:r>
              <a:rPr lang="ko-KR" altLang="en-US" dirty="0"/>
              <a:t>신호세기 조정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다음 슬라이드 참조</a:t>
            </a:r>
          </a:p>
        </p:txBody>
      </p:sp>
    </p:spTree>
    <p:extLst>
      <p:ext uri="{BB962C8B-B14F-4D97-AF65-F5344CB8AC3E}">
        <p14:creationId xmlns:p14="http://schemas.microsoft.com/office/powerpoint/2010/main" val="243357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93358"/>
              </p:ext>
            </p:extLst>
          </p:nvPr>
        </p:nvGraphicFramePr>
        <p:xfrm>
          <a:off x="88181" y="753458"/>
          <a:ext cx="9724951" cy="464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4951">
                  <a:extLst>
                    <a:ext uri="{9D8B030D-6E8A-4147-A177-3AD203B41FA5}">
                      <a16:colId xmlns:a16="http://schemas.microsoft.com/office/drawing/2014/main" val="675815977"/>
                    </a:ext>
                  </a:extLst>
                </a:gridCol>
              </a:tblGrid>
              <a:tr h="46322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1" dirty="0"/>
                        <a:t>3.</a:t>
                      </a:r>
                      <a:r>
                        <a:rPr lang="ko-KR" altLang="en-US" sz="1800" b="1" dirty="0"/>
                        <a:t> </a:t>
                      </a:r>
                      <a:r>
                        <a:rPr lang="en-US" altLang="ko-KR" sz="1800" b="1" dirty="0"/>
                        <a:t>AP</a:t>
                      </a:r>
                      <a:r>
                        <a:rPr lang="en-US" altLang="ko-KR" sz="1800" b="1" baseline="0" dirty="0"/>
                        <a:t> </a:t>
                      </a:r>
                      <a:r>
                        <a:rPr lang="ko-KR" altLang="en-US" sz="1800" b="1" baseline="0" dirty="0"/>
                        <a:t>설정 마무리 단계</a:t>
                      </a:r>
                      <a:endParaRPr lang="en-US" altLang="ko-KR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66293"/>
                  </a:ext>
                </a:extLst>
              </a:tr>
              <a:tr h="418014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8332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142992"/>
              </p:ext>
            </p:extLst>
          </p:nvPr>
        </p:nvGraphicFramePr>
        <p:xfrm>
          <a:off x="145150" y="4869160"/>
          <a:ext cx="9724951" cy="132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880">
                  <a:extLst>
                    <a:ext uri="{9D8B030D-6E8A-4147-A177-3AD203B41FA5}">
                      <a16:colId xmlns:a16="http://schemas.microsoft.com/office/drawing/2014/main" val="3094683083"/>
                    </a:ext>
                  </a:extLst>
                </a:gridCol>
                <a:gridCol w="8572071">
                  <a:extLst>
                    <a:ext uri="{9D8B030D-6E8A-4147-A177-3AD203B41FA5}">
                      <a16:colId xmlns:a16="http://schemas.microsoft.com/office/drawing/2014/main" val="2677625630"/>
                    </a:ext>
                  </a:extLst>
                </a:gridCol>
              </a:tblGrid>
              <a:tr h="263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순서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16596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Access Points 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/>
                        <a:t>802.11a/n/ac </a:t>
                      </a:r>
                      <a:r>
                        <a:rPr lang="ko-KR" altLang="en-US" sz="1050" dirty="0"/>
                        <a:t>탭 입니다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2.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각 </a:t>
                      </a:r>
                      <a:r>
                        <a:rPr lang="en-US" altLang="ko-KR" sz="1050" dirty="0"/>
                        <a:t>AP</a:t>
                      </a:r>
                      <a:r>
                        <a:rPr lang="ko-KR" altLang="en-US" sz="1050" dirty="0"/>
                        <a:t>의 무선 </a:t>
                      </a:r>
                      <a:r>
                        <a:rPr lang="en-US" altLang="ko-KR" sz="1050" dirty="0"/>
                        <a:t>MAC</a:t>
                      </a:r>
                      <a:r>
                        <a:rPr lang="ko-KR" altLang="en-US" sz="1050" dirty="0"/>
                        <a:t>주소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채널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신호 세기 등을 확인 할 수 있습니다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3.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해당하는 </a:t>
                      </a:r>
                      <a:r>
                        <a:rPr lang="en-US" altLang="ko-KR" sz="1050" dirty="0"/>
                        <a:t>AP</a:t>
                      </a:r>
                      <a:r>
                        <a:rPr lang="ko-KR" altLang="en-US" sz="1050" dirty="0"/>
                        <a:t>의 화살표를 클릭하고 </a:t>
                      </a:r>
                      <a:r>
                        <a:rPr lang="en-US" altLang="ko-KR" sz="1050" dirty="0"/>
                        <a:t>Configure</a:t>
                      </a:r>
                      <a:r>
                        <a:rPr lang="ko-KR" altLang="en-US" sz="1050" dirty="0"/>
                        <a:t>를 클릭합니다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621000"/>
                  </a:ext>
                </a:extLst>
              </a:tr>
              <a:tr h="254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4.</a:t>
                      </a:r>
                      <a:endParaRPr lang="ko-KR" altLang="en-US" sz="1050" b="1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해당하는 </a:t>
                      </a:r>
                      <a:r>
                        <a:rPr lang="en-US" altLang="ko-KR" sz="1050" dirty="0"/>
                        <a:t>AP</a:t>
                      </a:r>
                      <a:r>
                        <a:rPr lang="ko-KR" altLang="en-US" sz="1050" dirty="0"/>
                        <a:t>의 </a:t>
                      </a:r>
                      <a:r>
                        <a:rPr lang="en-US" altLang="ko-KR" sz="1050" dirty="0"/>
                        <a:t>RF Channel</a:t>
                      </a:r>
                      <a:r>
                        <a:rPr lang="ko-KR" altLang="en-US" sz="1050" dirty="0"/>
                        <a:t>과 </a:t>
                      </a:r>
                      <a:r>
                        <a:rPr lang="en-US" altLang="ko-KR" sz="1050" dirty="0" err="1"/>
                        <a:t>Tx</a:t>
                      </a:r>
                      <a:r>
                        <a:rPr lang="en-US" altLang="ko-KR" sz="1050" dirty="0"/>
                        <a:t> Power Level</a:t>
                      </a:r>
                      <a:r>
                        <a:rPr lang="ko-KR" altLang="en-US" sz="1050" dirty="0"/>
                        <a:t>을 조정 가능 합니다</a:t>
                      </a:r>
                      <a:r>
                        <a:rPr lang="en-US" altLang="ko-KR" sz="1050" dirty="0"/>
                        <a:t>.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219463"/>
                  </a:ext>
                </a:extLst>
              </a:tr>
            </a:tbl>
          </a:graphicData>
        </a:graphic>
      </p:graphicFrame>
      <p:pic>
        <p:nvPicPr>
          <p:cNvPr id="4099" name="Picture 3" descr="C:\Users\Jsman\Desktop\ISL\컨트롤러 메뉴얼\컨트롤러메뉴얼\2.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" y="1232756"/>
            <a:ext cx="9610250" cy="17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Jsman\Desktop\ISL\컨트롤러 메뉴얼\컨트롤러메뉴얼\1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2" y="2744924"/>
            <a:ext cx="9610250" cy="205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48682" y="1747022"/>
            <a:ext cx="879088" cy="37606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11837" y="1670487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135782" y="2024844"/>
            <a:ext cx="7812868" cy="54006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9007437" y="2024844"/>
            <a:ext cx="714533" cy="718356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764074" y="3013416"/>
            <a:ext cx="2808312" cy="1711728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/>
          <p:cNvSpPr/>
          <p:nvPr/>
        </p:nvSpPr>
        <p:spPr>
          <a:xfrm>
            <a:off x="1135782" y="1860110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2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9007437" y="1871774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3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3593977" y="3018847"/>
            <a:ext cx="153331" cy="153070"/>
          </a:xfrm>
          <a:prstGeom prst="ellipse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4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7AE8E0E0-D836-467B-A8C0-970BD7EBEAD0}"/>
              </a:ext>
            </a:extLst>
          </p:cNvPr>
          <p:cNvSpPr txBox="1">
            <a:spLocks/>
          </p:cNvSpPr>
          <p:nvPr/>
        </p:nvSpPr>
        <p:spPr>
          <a:xfrm>
            <a:off x="91281" y="126000"/>
            <a:ext cx="9721850" cy="518400"/>
          </a:xfrm>
          <a:prstGeom prst="rect">
            <a:avLst/>
          </a:prstGeom>
          <a:effectLst>
            <a:outerShdw dist="17780" dir="2700000" algn="tl" rotWithShape="0">
              <a:prstClr val="black"/>
            </a:outerShdw>
          </a:effectLst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>
              <a:buFont typeface="+mj-lt"/>
              <a:buAutoNum type="romanUcPeriod" startAt="2"/>
            </a:pPr>
            <a:r>
              <a:rPr lang="en-US" altLang="ko-KR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AP </a:t>
            </a:r>
            <a:r>
              <a:rPr lang="ko-KR" altLang="en-US" sz="2800" b="1" dirty="0">
                <a:solidFill>
                  <a:schemeClr val="bg1"/>
                </a:solidFill>
                <a:latin typeface="Tahoma" pitchFamily="34" charset="0"/>
                <a:ea typeface="HY헤드라인M" pitchFamily="18" charset="-127"/>
              </a:rPr>
              <a:t>초기 설정</a:t>
            </a:r>
          </a:p>
        </p:txBody>
      </p:sp>
    </p:spTree>
    <p:extLst>
      <p:ext uri="{BB962C8B-B14F-4D97-AF65-F5344CB8AC3E}">
        <p14:creationId xmlns:p14="http://schemas.microsoft.com/office/powerpoint/2010/main" val="159499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4311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테마1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고려청자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3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100000"/>
                <a:shade val="6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3780000" scaled="1"/>
        </a:gradFill>
      </a:fillStyleLst>
      <a:lnStyleLst>
        <a:ln w="31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8100" dir="2700000" algn="tl">
              <a:srgbClr val="000000">
                <a:alpha val="43137"/>
              </a:srgbClr>
            </a:outerShdw>
          </a:effectLst>
        </a:effectStyle>
        <a:effectStyle>
          <a:effectLst>
            <a:outerShdw blurRad="38100" dist="38100" dir="3000000" algn="tl">
              <a:srgbClr val="000000">
                <a:alpha val="45490"/>
              </a:srgbClr>
            </a:outerShdw>
          </a:effectLst>
          <a:scene3d>
            <a:camera prst="orthographicFront" fov="0">
              <a:rot lat="0" lon="0" rev="0"/>
            </a:camera>
            <a:lightRig rig="twoPt" dir="t">
              <a:rot lat="0" lon="0" rev="5100000"/>
            </a:lightRig>
          </a:scene3d>
          <a:sp3d contourW="12700" prstMaterial="plastic">
            <a:bevelT w="50800" h="63500"/>
            <a:contourClr>
              <a:srgbClr val="000000">
                <a:alpha val="35294"/>
              </a:srgbClr>
            </a:contourClr>
          </a:sp3d>
        </a:effectStyle>
        <a:effectStyle>
          <a:effectLst>
            <a:outerShdw blurRad="63500" dist="63500" dir="3000000" algn="tl">
              <a:srgbClr val="000000">
                <a:alpha val="50196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8600000"/>
            </a:lightRig>
          </a:scene3d>
          <a:sp3d prstMaterial="plastic">
            <a:bevelT w="101600" h="63500"/>
            <a:contourClr>
              <a:srgbClr val="000000">
                <a:alpha val="40784"/>
              </a:srgb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6600"/>
            </a:gs>
            <a:gs pos="50000">
              <a:srgbClr val="FF6600">
                <a:gamma/>
                <a:tint val="41176"/>
                <a:invGamma/>
              </a:srgbClr>
            </a:gs>
            <a:gs pos="100000">
              <a:srgbClr val="FF66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울릉도M" pitchFamily="18" charset="-127"/>
            <a:ea typeface="HY울릉도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6600"/>
            </a:gs>
            <a:gs pos="50000">
              <a:srgbClr val="FF6600">
                <a:gamma/>
                <a:tint val="41176"/>
                <a:invGamma/>
              </a:srgbClr>
            </a:gs>
            <a:gs pos="100000">
              <a:srgbClr val="FF66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울릉도M" pitchFamily="18" charset="-127"/>
            <a:ea typeface="HY울릉도M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테마1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고려청자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3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100000"/>
                <a:shade val="6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3780000" scaled="1"/>
        </a:gradFill>
      </a:fillStyleLst>
      <a:lnStyleLst>
        <a:ln w="31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8100" dir="2700000" algn="tl">
              <a:srgbClr val="000000">
                <a:alpha val="43137"/>
              </a:srgbClr>
            </a:outerShdw>
          </a:effectLst>
        </a:effectStyle>
        <a:effectStyle>
          <a:effectLst>
            <a:outerShdw blurRad="38100" dist="38100" dir="3000000" algn="tl">
              <a:srgbClr val="000000">
                <a:alpha val="45490"/>
              </a:srgbClr>
            </a:outerShdw>
          </a:effectLst>
          <a:scene3d>
            <a:camera prst="orthographicFront" fov="0">
              <a:rot lat="0" lon="0" rev="0"/>
            </a:camera>
            <a:lightRig rig="twoPt" dir="t">
              <a:rot lat="0" lon="0" rev="5100000"/>
            </a:lightRig>
          </a:scene3d>
          <a:sp3d contourW="12700" prstMaterial="plastic">
            <a:bevelT w="50800" h="63500"/>
            <a:contourClr>
              <a:srgbClr val="000000">
                <a:alpha val="35294"/>
              </a:srgbClr>
            </a:contourClr>
          </a:sp3d>
        </a:effectStyle>
        <a:effectStyle>
          <a:effectLst>
            <a:outerShdw blurRad="63500" dist="63500" dir="3000000" algn="tl">
              <a:srgbClr val="000000">
                <a:alpha val="50196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8600000"/>
            </a:lightRig>
          </a:scene3d>
          <a:sp3d prstMaterial="plastic">
            <a:bevelT w="101600" h="63500"/>
            <a:contourClr>
              <a:srgbClr val="000000">
                <a:alpha val="40784"/>
              </a:srgb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vert="horz" wrap="none" lIns="90000" tIns="46800" rIns="90000" bIns="4680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울릉도M" pitchFamily="18" charset="-127"/>
            <a:ea typeface="HY울릉도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FF6600"/>
            </a:gs>
            <a:gs pos="50000">
              <a:srgbClr val="FF6600">
                <a:gamma/>
                <a:tint val="41176"/>
                <a:invGamma/>
              </a:srgbClr>
            </a:gs>
            <a:gs pos="100000">
              <a:srgbClr val="FF66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울릉도M" pitchFamily="18" charset="-127"/>
            <a:ea typeface="HY울릉도M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2305</TotalTime>
  <Words>685</Words>
  <Application>Microsoft Office PowerPoint</Application>
  <PresentationFormat>사용자 지정</PresentationFormat>
  <Paragraphs>111</Paragraphs>
  <Slides>10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HY울릉도M</vt:lpstr>
      <vt:lpstr>HY헤드라인M</vt:lpstr>
      <vt:lpstr>굴림</vt:lpstr>
      <vt:lpstr>맑은 고딕</vt:lpstr>
      <vt:lpstr>Tahoma</vt:lpstr>
      <vt:lpstr>Times New Roman</vt:lpstr>
      <vt:lpstr>테마1</vt:lpstr>
      <vt:lpstr>1_테마1</vt:lpstr>
      <vt:lpstr>Cisco Switch / AP 설정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creator>Su</dc:creator>
  <cp:lastModifiedBy>JMCOM</cp:lastModifiedBy>
  <cp:revision>195</cp:revision>
  <dcterms:created xsi:type="dcterms:W3CDTF">2015-08-02T09:47:51Z</dcterms:created>
  <dcterms:modified xsi:type="dcterms:W3CDTF">2019-09-17T01:24:07Z</dcterms:modified>
</cp:coreProperties>
</file>