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0"/>
  </p:notesMasterIdLst>
  <p:sldIdLst>
    <p:sldId id="382" r:id="rId2"/>
    <p:sldId id="1787" r:id="rId3"/>
    <p:sldId id="387" r:id="rId4"/>
    <p:sldId id="1807" r:id="rId5"/>
    <p:sldId id="1808" r:id="rId6"/>
    <p:sldId id="1810" r:id="rId7"/>
    <p:sldId id="1811" r:id="rId8"/>
    <p:sldId id="1225" r:id="rId9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14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70" autoAdjust="0"/>
  </p:normalViewPr>
  <p:slideViewPr>
    <p:cSldViewPr snapToGrid="0">
      <p:cViewPr varScale="1">
        <p:scale>
          <a:sx n="109" d="100"/>
          <a:sy n="109" d="100"/>
        </p:scale>
        <p:origin x="14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96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953BCF-9E8A-4BE2-9AEA-96C2A70D172C}" type="datetimeFigureOut">
              <a:rPr lang="ko-KR" altLang="en-US" smtClean="0"/>
              <a:t>2025-01-13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DF8BF9-7F86-44DA-9C25-8F630C2ECB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769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  <p:sp>
        <p:nvSpPr>
          <p:cNvPr id="70660" name="슬라이드 번호 개체 틀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8671" indent="-28795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51801" indent="-23036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12522" indent="-23036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73242" indent="-23036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33962" indent="-23036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94683" indent="-23036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55403" indent="-23036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916124" indent="-23036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defTabSz="921441"/>
            <a:fld id="{0DB0FE2D-D6C0-43B6-8158-973C6D553A9F}" type="slidenum">
              <a:rPr lang="en-US" altLang="ko-KR" sz="1200" b="0">
                <a:latin typeface="굴림" pitchFamily="50" charset="-127"/>
                <a:ea typeface="굴림" pitchFamily="50" charset="-127"/>
              </a:rPr>
              <a:pPr defTabSz="921441"/>
              <a:t>1</a:t>
            </a:fld>
            <a:endParaRPr lang="en-US" altLang="ko-KR" sz="1200" b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1194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6E762D-EF0B-4E2E-84F7-2E91B9CDE956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47797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6E762D-EF0B-4E2E-84F7-2E91B9CDE956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38710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6E762D-EF0B-4E2E-84F7-2E91B9CDE956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06795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6E762D-EF0B-4E2E-84F7-2E91B9CDE956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12898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6E762D-EF0B-4E2E-84F7-2E91B9CDE956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64887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2602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1424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2" y="2544764"/>
            <a:ext cx="9910764" cy="328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3">
            <a:clrChange>
              <a:clrFrom>
                <a:srgbClr val="ECE9D8"/>
              </a:clrFrom>
              <a:clrTo>
                <a:srgbClr val="ECE9D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4" y="336554"/>
            <a:ext cx="995362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92"/>
          <a:stretch>
            <a:fillRect/>
          </a:stretch>
        </p:blipFill>
        <p:spPr bwMode="auto">
          <a:xfrm>
            <a:off x="1271590" y="371475"/>
            <a:ext cx="2414587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8242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178095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악수2"/>
          <p:cNvPicPr>
            <a:picLocks noChangeAspect="1" noChangeArrowheads="1"/>
          </p:cNvPicPr>
          <p:nvPr userDrawn="1"/>
        </p:nvPicPr>
        <p:blipFill>
          <a:blip r:embed="rId6"/>
          <a:srcRect b="3488"/>
          <a:stretch>
            <a:fillRect/>
          </a:stretch>
        </p:blipFill>
        <p:spPr bwMode="auto">
          <a:xfrm>
            <a:off x="0" y="-26988"/>
            <a:ext cx="9906000" cy="619126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  <a:alpha val="31000"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3"/>
          <p:cNvSpPr>
            <a:spLocks noChangeArrowheads="1"/>
          </p:cNvSpPr>
          <p:nvPr userDrawn="1"/>
        </p:nvSpPr>
        <p:spPr bwMode="auto">
          <a:xfrm flipV="1">
            <a:off x="131763" y="6704013"/>
            <a:ext cx="9574212" cy="47625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EFF9FF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9" name="TextBox 1"/>
          <p:cNvSpPr txBox="1">
            <a:spLocks noChangeArrowheads="1"/>
          </p:cNvSpPr>
          <p:nvPr userDrawn="1"/>
        </p:nvSpPr>
        <p:spPr bwMode="auto">
          <a:xfrm>
            <a:off x="7708900" y="6413500"/>
            <a:ext cx="2095500" cy="3381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 latinLnBrk="1">
              <a:defRPr kumimoji="1" sz="1300" b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300" b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300" b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300" b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300" b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1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Confidential</a:t>
            </a:r>
            <a:endParaRPr lang="ko-KR" altLang="en-US" sz="16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그림 9" descr="CI_슬로건 조합_2.JPG"/>
          <p:cNvPicPr>
            <a:picLocks noChangeAspect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6448425"/>
            <a:ext cx="149542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646666" y="6466340"/>
            <a:ext cx="6126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000" b="1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- </a:t>
            </a:r>
            <a:fld id="{1A43795E-BB32-46A5-BAA0-4B69489E551F}" type="slidenum">
              <a:rPr kumimoji="1" lang="ko-KR" altLang="ko-KR" sz="1000" b="1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pPr algn="l"/>
              <a:t>‹#›</a:t>
            </a:fld>
            <a:r>
              <a:rPr kumimoji="1" lang="en-US" altLang="ko-KR" sz="1000" b="1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 -</a:t>
            </a:r>
            <a:endParaRPr lang="ko-KR" altLang="en-US" sz="1000" b="1" dirty="0">
              <a:solidFill>
                <a:srgbClr val="0000FF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65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703" r:id="rId2"/>
    <p:sldLayoutId id="2147483716" r:id="rId3"/>
    <p:sldLayoutId id="2147483717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2079482" y="5976938"/>
            <a:ext cx="61626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latinLnBrk="1" hangingPunct="1">
              <a:spcBef>
                <a:spcPct val="50000"/>
              </a:spcBef>
              <a:defRPr/>
            </a:pPr>
            <a:r>
              <a:rPr lang="en-US" altLang="ko-KR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2025.01.10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051674" y="1144159"/>
            <a:ext cx="821829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itchFamily="18" charset="0"/>
              </a:rPr>
              <a:t>SFA </a:t>
            </a:r>
            <a:r>
              <a:rPr lang="en-US" altLang="ko-KR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itchFamily="18" charset="0"/>
              </a:rPr>
              <a:t>OCS, OHT </a:t>
            </a:r>
            <a:br>
              <a:rPr lang="en-US" altLang="ko-KR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itchFamily="18" charset="0"/>
              </a:rPr>
            </a:br>
            <a:r>
              <a:rPr lang="en-US" altLang="ko-KR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itchFamily="18" charset="0"/>
              </a:rPr>
              <a:t>NETWORK CHANNEL</a:t>
            </a:r>
            <a:endParaRPr lang="en-US" altLang="ko-KR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479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9"/>
          <p:cNvSpPr txBox="1">
            <a:spLocks noChangeArrowheads="1"/>
          </p:cNvSpPr>
          <p:nvPr/>
        </p:nvSpPr>
        <p:spPr bwMode="auto">
          <a:xfrm>
            <a:off x="77788" y="46038"/>
            <a:ext cx="8582025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latinLnBrk="1" hangingPunct="1">
              <a:lnSpc>
                <a:spcPct val="110000"/>
              </a:lnSpc>
              <a:buFont typeface="Wingdings" pitchFamily="2" charset="2"/>
              <a:buChar char="u"/>
            </a:pPr>
            <a:r>
              <a:rPr lang="en-US" altLang="ko-KR" sz="2400" dirty="0">
                <a:solidFill>
                  <a:schemeClr val="bg1"/>
                </a:solidFill>
                <a:latin typeface="Tahoma" panose="020B0604030504040204" pitchFamily="34" charset="0"/>
              </a:rPr>
              <a:t> Contents</a:t>
            </a:r>
          </a:p>
        </p:txBody>
      </p:sp>
      <p:pic>
        <p:nvPicPr>
          <p:cNvPr id="39" name="Picture 795" descr="13_1"/>
          <p:cNvPicPr>
            <a:picLocks noChangeAspect="1" noChangeArrowheads="1"/>
          </p:cNvPicPr>
          <p:nvPr/>
        </p:nvPicPr>
        <p:blipFill>
          <a:blip r:embed="rId2">
            <a:lum brigh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5" t="992" r="1915" b="992"/>
          <a:stretch>
            <a:fillRect/>
          </a:stretch>
        </p:blipFill>
        <p:spPr bwMode="auto">
          <a:xfrm>
            <a:off x="7112445" y="637595"/>
            <a:ext cx="2791967" cy="6036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2" name="Group 797"/>
          <p:cNvGrpSpPr>
            <a:grpSpLocks/>
          </p:cNvGrpSpPr>
          <p:nvPr/>
        </p:nvGrpSpPr>
        <p:grpSpPr bwMode="auto">
          <a:xfrm>
            <a:off x="1208088" y="790690"/>
            <a:ext cx="381000" cy="5440363"/>
            <a:chOff x="1259" y="673"/>
            <a:chExt cx="240" cy="3010"/>
          </a:xfrm>
        </p:grpSpPr>
        <p:sp>
          <p:nvSpPr>
            <p:cNvPr id="43" name="Rectangle 781"/>
            <p:cNvSpPr>
              <a:spLocks noChangeArrowheads="1"/>
            </p:cNvSpPr>
            <p:nvPr/>
          </p:nvSpPr>
          <p:spPr bwMode="auto">
            <a:xfrm flipH="1">
              <a:off x="1259" y="673"/>
              <a:ext cx="164" cy="3010"/>
            </a:xfrm>
            <a:prstGeom prst="rect">
              <a:avLst/>
            </a:prstGeom>
            <a:solidFill>
              <a:srgbClr val="5F5F5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  <a:defRPr/>
              </a:pPr>
              <a:endParaRPr lang="ko-KR" altLang="en-US" dirty="0"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44" name="Rectangle 782"/>
            <p:cNvSpPr>
              <a:spLocks noChangeArrowheads="1"/>
            </p:cNvSpPr>
            <p:nvPr/>
          </p:nvSpPr>
          <p:spPr bwMode="auto">
            <a:xfrm flipH="1">
              <a:off x="1451" y="673"/>
              <a:ext cx="48" cy="3010"/>
            </a:xfrm>
            <a:prstGeom prst="rect">
              <a:avLst/>
            </a:prstGeom>
            <a:solidFill>
              <a:srgbClr val="5F5F5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  <a:defRPr/>
              </a:pPr>
              <a:endParaRPr lang="ko-KR" altLang="en-US" dirty="0"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</p:grpSp>
      <p:sp>
        <p:nvSpPr>
          <p:cNvPr id="9" name="Text Box 824"/>
          <p:cNvSpPr txBox="1">
            <a:spLocks noChangeArrowheads="1"/>
          </p:cNvSpPr>
          <p:nvPr/>
        </p:nvSpPr>
        <p:spPr bwMode="auto">
          <a:xfrm>
            <a:off x="1766887" y="1566202"/>
            <a:ext cx="4076865" cy="229984"/>
          </a:xfrm>
          <a:prstGeom prst="rect">
            <a:avLst/>
          </a:prstGeom>
          <a:gradFill rotWithShape="0">
            <a:gsLst>
              <a:gs pos="0">
                <a:srgbClr val="799FCD"/>
              </a:gs>
              <a:gs pos="50000">
                <a:srgbClr val="3E6EA8"/>
              </a:gs>
              <a:gs pos="100000">
                <a:srgbClr val="3E6EA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7200" rIns="36000" bIns="7200" anchor="ctr">
            <a:spAutoFit/>
          </a:bodyPr>
          <a:lstStyle>
            <a:lvl1pPr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ko-KR" sz="1400" dirty="0">
                <a:solidFill>
                  <a:schemeClr val="bg1"/>
                </a:solidFill>
                <a:latin typeface="Tahoma" panose="020B0604030504040204" pitchFamily="34" charset="0"/>
              </a:rPr>
              <a:t> I.  OCS NETWORK CHANNEL</a:t>
            </a:r>
            <a:r>
              <a:rPr lang="ko-KR" altLang="en-US" sz="1400" dirty="0">
                <a:solidFill>
                  <a:schemeClr val="bg1"/>
                </a:solidFill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10" name="TextBox 19"/>
          <p:cNvSpPr txBox="1">
            <a:spLocks noChangeArrowheads="1"/>
          </p:cNvSpPr>
          <p:nvPr/>
        </p:nvSpPr>
        <p:spPr bwMode="auto">
          <a:xfrm>
            <a:off x="1766887" y="1991041"/>
            <a:ext cx="5054444" cy="1158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6301" tIns="43151" rIns="86301" bIns="43151">
            <a:spAutoFit/>
          </a:bodyPr>
          <a:lstStyle>
            <a:lvl1pPr marL="182563" indent="-182563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>
              <a:spcBef>
                <a:spcPct val="20000"/>
              </a:spcBef>
              <a:buFontTx/>
              <a:buAutoNum type="arabicPeriod"/>
            </a:pPr>
            <a:r>
              <a:rPr lang="en-US" altLang="ko-KR" sz="1200" dirty="0">
                <a:latin typeface="Tahoma" panose="020B0604030504040204" pitchFamily="34" charset="0"/>
                <a:cs typeface="Arial" pitchFamily="34" charset="0"/>
              </a:rPr>
              <a:t>Overview of DFS and SFS</a:t>
            </a:r>
          </a:p>
          <a:p>
            <a:pPr marL="0" indent="0">
              <a:spcBef>
                <a:spcPct val="20000"/>
              </a:spcBef>
            </a:pPr>
            <a:r>
              <a:rPr lang="en-US" altLang="ko-KR" sz="1200" dirty="0">
                <a:latin typeface="Tahoma" panose="020B0604030504040204" pitchFamily="34" charset="0"/>
                <a:cs typeface="Arial" pitchFamily="34" charset="0"/>
              </a:rPr>
              <a:t>2. DFS, SFS</a:t>
            </a:r>
          </a:p>
          <a:p>
            <a:pPr marL="0" indent="0">
              <a:spcBef>
                <a:spcPct val="20000"/>
              </a:spcBef>
            </a:pPr>
            <a:r>
              <a:rPr lang="en-US" altLang="ko-KR" sz="1200" dirty="0">
                <a:latin typeface="Tahoma" panose="020B0604030504040204" pitchFamily="34" charset="0"/>
                <a:cs typeface="Arial" pitchFamily="34" charset="0"/>
              </a:rPr>
              <a:t>3. Why SFS is the Better Choice</a:t>
            </a:r>
          </a:p>
          <a:p>
            <a:pPr marL="0" indent="0">
              <a:spcBef>
                <a:spcPct val="20000"/>
              </a:spcBef>
            </a:pPr>
            <a:r>
              <a:rPr lang="en-US" altLang="ko-KR" sz="1200" dirty="0">
                <a:latin typeface="Tahoma" panose="020B0604030504040204" pitchFamily="34" charset="0"/>
                <a:cs typeface="Arial" pitchFamily="34" charset="0"/>
              </a:rPr>
              <a:t>4. 165 CH for OHT and EQ PIO</a:t>
            </a:r>
          </a:p>
          <a:p>
            <a:pPr marL="0" indent="0">
              <a:spcBef>
                <a:spcPct val="20000"/>
              </a:spcBef>
            </a:pPr>
            <a:r>
              <a:rPr lang="en-US" altLang="ko-KR" sz="1200" dirty="0">
                <a:latin typeface="Tahoma" panose="020B0604030504040204" pitchFamily="34" charset="0"/>
                <a:cs typeface="Arial" pitchFamily="34" charset="0"/>
              </a:rPr>
              <a:t>5. Conclusion and Proposal</a:t>
            </a:r>
          </a:p>
        </p:txBody>
      </p:sp>
    </p:spTree>
    <p:extLst>
      <p:ext uri="{BB962C8B-B14F-4D97-AF65-F5344CB8AC3E}">
        <p14:creationId xmlns:p14="http://schemas.microsoft.com/office/powerpoint/2010/main" val="359985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3"/>
          <p:cNvSpPr>
            <a:spLocks noChangeArrowheads="1"/>
          </p:cNvSpPr>
          <p:nvPr/>
        </p:nvSpPr>
        <p:spPr bwMode="auto">
          <a:xfrm>
            <a:off x="311470" y="116097"/>
            <a:ext cx="5053013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1. Overview of DFS, SFS</a:t>
            </a:r>
            <a:endParaRPr lang="ko-KR" altLang="en-US" sz="20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99077" y="1038496"/>
            <a:ext cx="8507845" cy="2946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Dynamic Frequency Selection (DFS), </a:t>
            </a:r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</a:rPr>
              <a:t>Generally not used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Channels shared with radar systems.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Requires radar signal detection and channel switching, </a:t>
            </a:r>
            <a:b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</a:b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which can cause delays.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Unreliable for real-time operations due to interruptions </a:t>
            </a:r>
            <a:b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</a:b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and uncertainty</a:t>
            </a:r>
            <a:endParaRPr lang="en-US" altLang="ko-KR" dirty="0"/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Static Frequency Selection (SFS),</a:t>
            </a:r>
            <a:r>
              <a:rPr lang="ko-KR" altLang="en-US" sz="1200" b="1" dirty="0">
                <a:solidFill>
                  <a:prstClr val="black"/>
                </a:solidFill>
                <a:latin typeface="맑은 고딕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</a:rPr>
              <a:t>Need 4 out of 8 Channels</a:t>
            </a:r>
            <a:endParaRPr lang="en-US" altLang="ko-KR" sz="1200" b="1" dirty="0">
              <a:solidFill>
                <a:srgbClr val="FF0000"/>
              </a:solidFill>
              <a:latin typeface="맑은 고딕" pitchFamily="50" charset="-127"/>
            </a:endParaRP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Fixed frequency channels that do not require </a:t>
            </a:r>
            <a:r>
              <a:rPr lang="en-US" altLang="ko-KR" sz="1200" dirty="0" err="1">
                <a:solidFill>
                  <a:prstClr val="black"/>
                </a:solidFill>
                <a:latin typeface="맑은 고딕" pitchFamily="50" charset="-127"/>
              </a:rPr>
              <a:t>swiching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Stable, uninterrupted communication.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Ideal for real-time, high-speed environments like OHT.</a:t>
            </a:r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ISM, </a:t>
            </a:r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</a:rPr>
              <a:t>Need 165 CH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 for OHT and Equipment PIO</a:t>
            </a:r>
          </a:p>
          <a:p>
            <a:pPr>
              <a:lnSpc>
                <a:spcPct val="130000"/>
              </a:lnSpc>
              <a:buClr>
                <a:srgbClr val="70AD47"/>
              </a:buClr>
            </a:pPr>
            <a:endParaRPr lang="en-US" altLang="ko-KR" sz="1200" dirty="0">
              <a:latin typeface="맑은 고딕"/>
              <a:ea typeface="맑은 고딕"/>
            </a:endParaRPr>
          </a:p>
        </p:txBody>
      </p:sp>
      <p:sp>
        <p:nvSpPr>
          <p:cNvPr id="86" name="TextBox 16">
            <a:extLst>
              <a:ext uri="{FF2B5EF4-FFF2-40B4-BE49-F238E27FC236}">
                <a16:creationId xmlns:a16="http://schemas.microsoft.com/office/drawing/2014/main" id="{06EB834F-0D33-43BB-9176-CF61681DD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67" y="682524"/>
            <a:ext cx="5718382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285750" indent="-285750">
              <a:buFont typeface="Wingdings" panose="05000000000000000000" pitchFamily="2" charset="2"/>
              <a:buChar char="v"/>
              <a:defRPr kumimoji="0" sz="1400">
                <a:latin typeface="Tahoma" panose="020B0604030504040204" pitchFamily="34" charset="0"/>
              </a:defRPr>
            </a:lvl1pPr>
          </a:lstStyle>
          <a:p>
            <a:r>
              <a:rPr lang="en-US" altLang="ko-KR" sz="1600" dirty="0">
                <a:solidFill>
                  <a:srgbClr val="0070C0"/>
                </a:solidFill>
              </a:rPr>
              <a:t>IEEE 802.11 a/n/ac Channel (5Ghz)</a:t>
            </a:r>
            <a:r>
              <a:rPr lang="ko-KR" altLang="en-US" sz="1600" dirty="0">
                <a:solidFill>
                  <a:srgbClr val="0070C0"/>
                </a:solidFill>
              </a:rPr>
              <a:t> </a:t>
            </a:r>
          </a:p>
        </p:txBody>
      </p:sp>
      <p:graphicFrame>
        <p:nvGraphicFramePr>
          <p:cNvPr id="100" name="표 99">
            <a:extLst>
              <a:ext uri="{FF2B5EF4-FFF2-40B4-BE49-F238E27FC236}">
                <a16:creationId xmlns:a16="http://schemas.microsoft.com/office/drawing/2014/main" id="{3720E0E9-788D-4163-9088-DA0276286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680094"/>
              </p:ext>
            </p:extLst>
          </p:nvPr>
        </p:nvGraphicFramePr>
        <p:xfrm>
          <a:off x="5860170" y="1806997"/>
          <a:ext cx="3869724" cy="45307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9761">
                  <a:extLst>
                    <a:ext uri="{9D8B030D-6E8A-4147-A177-3AD203B41FA5}">
                      <a16:colId xmlns:a16="http://schemas.microsoft.com/office/drawing/2014/main" val="3423952909"/>
                    </a:ext>
                  </a:extLst>
                </a:gridCol>
                <a:gridCol w="624254">
                  <a:extLst>
                    <a:ext uri="{9D8B030D-6E8A-4147-A177-3AD203B41FA5}">
                      <a16:colId xmlns:a16="http://schemas.microsoft.com/office/drawing/2014/main" val="2535587910"/>
                    </a:ext>
                  </a:extLst>
                </a:gridCol>
                <a:gridCol w="694592">
                  <a:extLst>
                    <a:ext uri="{9D8B030D-6E8A-4147-A177-3AD203B41FA5}">
                      <a16:colId xmlns:a16="http://schemas.microsoft.com/office/drawing/2014/main" val="1837184584"/>
                    </a:ext>
                  </a:extLst>
                </a:gridCol>
                <a:gridCol w="468783">
                  <a:extLst>
                    <a:ext uri="{9D8B030D-6E8A-4147-A177-3AD203B41FA5}">
                      <a16:colId xmlns:a16="http://schemas.microsoft.com/office/drawing/2014/main" val="1478593876"/>
                    </a:ext>
                  </a:extLst>
                </a:gridCol>
                <a:gridCol w="1462334">
                  <a:extLst>
                    <a:ext uri="{9D8B030D-6E8A-4147-A177-3AD203B41FA5}">
                      <a16:colId xmlns:a16="http://schemas.microsoft.com/office/drawing/2014/main" val="2593214513"/>
                    </a:ext>
                  </a:extLst>
                </a:gridCol>
              </a:tblGrid>
              <a:tr h="3400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Frequency Band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B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Sub-band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B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Channel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B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Usable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B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ETC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B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82812"/>
                  </a:ext>
                </a:extLst>
              </a:tr>
              <a:tr h="139050">
                <a:tc rowSpan="25"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5GHz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UNII-1</a:t>
                      </a:r>
                    </a:p>
                    <a:p>
                      <a:pPr algn="ctr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(Low Band)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39541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417543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557761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953779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UNII-2</a:t>
                      </a:r>
                    </a:p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(Middle Band)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DFS Required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408909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DFS Required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491963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DFS Required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97744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DFS Required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623806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UNII-2</a:t>
                      </a:r>
                    </a:p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Ext</a:t>
                      </a:r>
                    </a:p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(Middle Band Extension)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DFS Required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349136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104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DFS Required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144896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108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DFS Required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027256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112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DFS Required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186086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116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DFS Required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651630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DFS(Weather Radar)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357903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124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DFS(Weather Radar)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944240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128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DFS(Weather Radar)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682847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132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DFS Required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366401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136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DFS Required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03022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DFS Required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62643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144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DFS Required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9980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UNII-3</a:t>
                      </a:r>
                    </a:p>
                    <a:p>
                      <a:pPr algn="ctr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(High Band)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027958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153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403985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157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89048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161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786242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ISM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165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△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Industry,</a:t>
                      </a:r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Medical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661245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30A6B54A-59B0-4DCF-9826-24C493758E68}"/>
              </a:ext>
            </a:extLst>
          </p:cNvPr>
          <p:cNvGrpSpPr/>
          <p:nvPr/>
        </p:nvGrpSpPr>
        <p:grpSpPr>
          <a:xfrm>
            <a:off x="778207" y="3817716"/>
            <a:ext cx="4830114" cy="1870298"/>
            <a:chOff x="685717" y="2837061"/>
            <a:chExt cx="5027103" cy="1910477"/>
          </a:xfrm>
        </p:grpSpPr>
        <p:pic>
          <p:nvPicPr>
            <p:cNvPr id="1028" name="Picture 4" descr="5GHz Channel Width.png">
              <a:extLst>
                <a:ext uri="{FF2B5EF4-FFF2-40B4-BE49-F238E27FC236}">
                  <a16:creationId xmlns:a16="http://schemas.microsoft.com/office/drawing/2014/main" id="{734B3E1C-194E-4BB7-A2E2-B45DD256C0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718" y="2908422"/>
              <a:ext cx="4992271" cy="1821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FC8F0A35-8F53-4A08-941D-248184977A7F}"/>
                </a:ext>
              </a:extLst>
            </p:cNvPr>
            <p:cNvSpPr/>
            <p:nvPr/>
          </p:nvSpPr>
          <p:spPr>
            <a:xfrm>
              <a:off x="685717" y="2837061"/>
              <a:ext cx="5027103" cy="1910477"/>
            </a:xfrm>
            <a:prstGeom prst="roundRect">
              <a:avLst>
                <a:gd name="adj" fmla="val 4510"/>
              </a:avLst>
            </a:prstGeom>
            <a:noFill/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4AD76791-1E31-450A-A4C1-79865DC03C03}"/>
              </a:ext>
            </a:extLst>
          </p:cNvPr>
          <p:cNvSpPr/>
          <p:nvPr/>
        </p:nvSpPr>
        <p:spPr>
          <a:xfrm>
            <a:off x="5848525" y="1800515"/>
            <a:ext cx="3881370" cy="4537251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0214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10234E-FAFE-46BB-9605-ECDA7B17CF70}"/>
              </a:ext>
            </a:extLst>
          </p:cNvPr>
          <p:cNvSpPr txBox="1"/>
          <p:nvPr/>
        </p:nvSpPr>
        <p:spPr>
          <a:xfrm>
            <a:off x="5763035" y="1532005"/>
            <a:ext cx="34555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&lt;5Ghz Frequency Channel List ( </a:t>
            </a:r>
            <a:r>
              <a:rPr lang="en-US" altLang="ko-KR" sz="1000" b="1" dirty="0">
                <a:latin typeface="맑은 고딕" panose="020B0503020000020004" pitchFamily="50" charset="-127"/>
              </a:rPr>
              <a:t>20Mhz Bandwidth</a:t>
            </a:r>
            <a:r>
              <a:rPr lang="ko-KR" altLang="en-US" sz="1000" b="1" dirty="0">
                <a:latin typeface="맑은 고딕" panose="020B0503020000020004" pitchFamily="50" charset="-127"/>
              </a:rPr>
              <a:t> </a:t>
            </a:r>
            <a:r>
              <a:rPr lang="en-US" altLang="ko-KR" sz="1000" b="1" dirty="0">
                <a:latin typeface="맑은 고딕" panose="020B0503020000020004" pitchFamily="50" charset="-127"/>
              </a:rPr>
              <a:t>)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74A4E27-AC56-42FB-8E3C-AB2CD128815A}"/>
              </a:ext>
            </a:extLst>
          </p:cNvPr>
          <p:cNvSpPr/>
          <p:nvPr/>
        </p:nvSpPr>
        <p:spPr>
          <a:xfrm>
            <a:off x="778206" y="4317106"/>
            <a:ext cx="4841760" cy="437933"/>
          </a:xfrm>
          <a:prstGeom prst="rect">
            <a:avLst/>
          </a:prstGeom>
          <a:noFill/>
          <a:ln w="38100">
            <a:solidFill>
              <a:srgbClr val="0214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도형 101">
            <a:extLst>
              <a:ext uri="{FF2B5EF4-FFF2-40B4-BE49-F238E27FC236}">
                <a16:creationId xmlns:a16="http://schemas.microsoft.com/office/drawing/2014/main" id="{724D0BA7-34C5-4304-8C23-CDF08C388960}"/>
              </a:ext>
            </a:extLst>
          </p:cNvPr>
          <p:cNvSpPr/>
          <p:nvPr/>
        </p:nvSpPr>
        <p:spPr>
          <a:xfrm rot="10353148" flipH="1">
            <a:off x="4971138" y="4702903"/>
            <a:ext cx="869926" cy="641257"/>
          </a:xfrm>
          <a:prstGeom prst="swooshArrow">
            <a:avLst>
              <a:gd name="adj1" fmla="val 31383"/>
              <a:gd name="adj2" fmla="val 37234"/>
            </a:avLst>
          </a:prstGeom>
          <a:solidFill>
            <a:srgbClr val="0214BE"/>
          </a:solidFill>
          <a:ln>
            <a:solidFill>
              <a:srgbClr val="0214BE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63681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3"/>
          <p:cNvSpPr>
            <a:spLocks noChangeArrowheads="1"/>
          </p:cNvSpPr>
          <p:nvPr/>
        </p:nvSpPr>
        <p:spPr bwMode="auto">
          <a:xfrm>
            <a:off x="311470" y="116097"/>
            <a:ext cx="5053013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2. DFS, SFS</a:t>
            </a:r>
            <a:endParaRPr lang="ko-KR" altLang="en-US" sz="20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99077" y="1038496"/>
            <a:ext cx="8507845" cy="2226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prstClr val="black"/>
                </a:solidFill>
                <a:latin typeface="+mj-ea"/>
                <a:ea typeface="+mj-ea"/>
              </a:rPr>
              <a:t>A system where channels are shared with radar systems, requiring radar signal detection and channel switching.</a:t>
            </a:r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en-US" altLang="ko-KR" sz="1200" dirty="0">
                <a:latin typeface="+mj-ea"/>
                <a:ea typeface="+mj-ea"/>
              </a:rPr>
              <a:t>Key Characteristics: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b="1" dirty="0">
                <a:latin typeface="+mj-ea"/>
                <a:ea typeface="+mj-ea"/>
              </a:rPr>
              <a:t>Channel Switching:</a:t>
            </a:r>
            <a:r>
              <a:rPr lang="en-US" altLang="ko-KR" sz="1200" dirty="0">
                <a:latin typeface="+mj-ea"/>
                <a:ea typeface="+mj-ea"/>
              </a:rPr>
              <a:t> When radar is detected, the AP must switch to another channel, potentially causing connection drops.</a:t>
            </a:r>
            <a:endParaRPr lang="en-US" altLang="ko-KR" sz="1200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b="1" dirty="0">
                <a:latin typeface="+mj-ea"/>
                <a:ea typeface="+mj-ea"/>
              </a:rPr>
              <a:t>Delays:</a:t>
            </a:r>
            <a:r>
              <a:rPr lang="en-US" altLang="ko-KR" sz="1200" dirty="0">
                <a:latin typeface="+mj-ea"/>
                <a:ea typeface="+mj-ea"/>
              </a:rPr>
              <a:t> Interruptions of 1-10 seconds are common.</a:t>
            </a:r>
            <a:endParaRPr lang="en-US" altLang="ko-KR" sz="1200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b="1" dirty="0">
                <a:latin typeface="+mj-ea"/>
                <a:ea typeface="+mj-ea"/>
              </a:rPr>
              <a:t>Channel Availability Check (CAC):</a:t>
            </a:r>
            <a:r>
              <a:rPr lang="en-US" altLang="ko-KR" sz="1200" dirty="0">
                <a:latin typeface="+mj-ea"/>
                <a:ea typeface="+mj-ea"/>
              </a:rPr>
              <a:t> May cause delays of up to 60 seconds during channel changes.</a:t>
            </a:r>
            <a:endParaRPr lang="en-US" altLang="ko-KR" sz="1200" b="1" dirty="0">
              <a:latin typeface="+mj-ea"/>
              <a:ea typeface="+mj-ea"/>
            </a:endParaRPr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en-US" altLang="ko-KR" sz="1200" b="1" dirty="0">
                <a:latin typeface="+mj-ea"/>
                <a:ea typeface="+mj-ea"/>
              </a:rPr>
              <a:t>Issues: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ea"/>
                <a:ea typeface="+mj-ea"/>
              </a:rPr>
              <a:t>Unsuitable for real-time data transmission between OHTs and OCS.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ea"/>
                <a:ea typeface="+mj-ea"/>
              </a:rPr>
              <a:t>Increased risk of connection failure during roaming.</a:t>
            </a:r>
            <a:endParaRPr lang="en-US" altLang="ko-KR" sz="1200" dirty="0">
              <a:solidFill>
                <a:prstClr val="black"/>
              </a:solidFill>
              <a:latin typeface="+mj-ea"/>
              <a:ea typeface="+mj-ea"/>
            </a:endParaRPr>
          </a:p>
        </p:txBody>
      </p:sp>
      <p:sp>
        <p:nvSpPr>
          <p:cNvPr id="86" name="TextBox 16">
            <a:extLst>
              <a:ext uri="{FF2B5EF4-FFF2-40B4-BE49-F238E27FC236}">
                <a16:creationId xmlns:a16="http://schemas.microsoft.com/office/drawing/2014/main" id="{06EB834F-0D33-43BB-9176-CF61681DD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67" y="682524"/>
            <a:ext cx="5718382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285750" indent="-285750">
              <a:buFont typeface="Wingdings" panose="05000000000000000000" pitchFamily="2" charset="2"/>
              <a:buChar char="v"/>
              <a:defRPr kumimoji="0" sz="1400">
                <a:latin typeface="Tahoma" panose="020B0604030504040204" pitchFamily="34" charset="0"/>
              </a:defRPr>
            </a:lvl1pPr>
          </a:lstStyle>
          <a:p>
            <a:r>
              <a:rPr lang="en-US" altLang="ko-KR" sz="1600" dirty="0">
                <a:solidFill>
                  <a:srgbClr val="0070C0"/>
                </a:solidFill>
              </a:rPr>
              <a:t>DFS (Dynamic Frequency Selection)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3E216D87-63BB-4899-AD45-C6285FE30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67" y="3643388"/>
            <a:ext cx="5718382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285750" indent="-285750">
              <a:buFont typeface="Wingdings" panose="05000000000000000000" pitchFamily="2" charset="2"/>
              <a:buChar char="v"/>
              <a:defRPr kumimoji="0" sz="1400">
                <a:latin typeface="Tahoma" panose="020B0604030504040204" pitchFamily="34" charset="0"/>
              </a:defRPr>
            </a:lvl1pPr>
          </a:lstStyle>
          <a:p>
            <a:r>
              <a:rPr lang="en-US" altLang="ko-KR" sz="1600" dirty="0">
                <a:solidFill>
                  <a:srgbClr val="0070C0"/>
                </a:solidFill>
              </a:rPr>
              <a:t>SFS (Static Frequency Selection)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0221AC-4C47-4D4C-9D99-B58EA1367713}"/>
              </a:ext>
            </a:extLst>
          </p:cNvPr>
          <p:cNvSpPr txBox="1"/>
          <p:nvPr/>
        </p:nvSpPr>
        <p:spPr>
          <a:xfrm>
            <a:off x="699076" y="4148259"/>
            <a:ext cx="8507845" cy="1513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en-US" altLang="ko-KR" sz="1200" dirty="0">
                <a:latin typeface="+mj-ea"/>
                <a:ea typeface="+mj-ea"/>
              </a:rPr>
              <a:t>A system where fixed frequency channels are pre-assigned, eliminating the need for channel switching.</a:t>
            </a:r>
            <a:endParaRPr lang="en-US" altLang="ko-KR" sz="12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en-US" altLang="ko-KR" sz="1200" dirty="0">
                <a:latin typeface="+mj-ea"/>
                <a:ea typeface="+mj-ea"/>
              </a:rPr>
              <a:t>Key Characteristics: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b="1" dirty="0">
                <a:latin typeface="+mj-ea"/>
                <a:ea typeface="+mj-ea"/>
              </a:rPr>
              <a:t>Uninterrupted Communication:</a:t>
            </a:r>
            <a:r>
              <a:rPr lang="en-US" altLang="ko-KR" sz="1200" dirty="0">
                <a:latin typeface="+mj-ea"/>
                <a:ea typeface="+mj-ea"/>
              </a:rPr>
              <a:t> Ensures stable connections without delays, even during roaming.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b="1" dirty="0">
                <a:latin typeface="+mj-ea"/>
                <a:ea typeface="+mj-ea"/>
              </a:rPr>
              <a:t>Real-Time Data Stability:</a:t>
            </a:r>
            <a:r>
              <a:rPr lang="en-US" altLang="ko-KR" sz="1200" dirty="0">
                <a:latin typeface="+mj-ea"/>
                <a:ea typeface="+mj-ea"/>
              </a:rPr>
              <a:t> Perfect for OHT and OCS environments where data continuity is crucial.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b="1" dirty="0">
                <a:latin typeface="+mj-ea"/>
                <a:ea typeface="+mj-ea"/>
              </a:rPr>
              <a:t>Simplified Network Design:</a:t>
            </a:r>
            <a:r>
              <a:rPr lang="en-US" altLang="ko-KR" sz="1200" dirty="0">
                <a:latin typeface="+mj-ea"/>
                <a:ea typeface="+mj-ea"/>
              </a:rPr>
              <a:t> Fixed channels make the network easier to manage and configure.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b="1" dirty="0">
                <a:latin typeface="+mj-ea"/>
                <a:ea typeface="+mj-ea"/>
              </a:rPr>
              <a:t>Reliable Operation:</a:t>
            </a:r>
            <a:r>
              <a:rPr lang="en-US" altLang="ko-KR" sz="1200" dirty="0">
                <a:latin typeface="+mj-ea"/>
                <a:ea typeface="+mj-ea"/>
              </a:rPr>
              <a:t> Free from radar interference or unexpected interruptions.</a:t>
            </a:r>
          </a:p>
        </p:txBody>
      </p:sp>
    </p:spTree>
    <p:extLst>
      <p:ext uri="{BB962C8B-B14F-4D97-AF65-F5344CB8AC3E}">
        <p14:creationId xmlns:p14="http://schemas.microsoft.com/office/powerpoint/2010/main" val="1948796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3"/>
          <p:cNvSpPr>
            <a:spLocks noChangeArrowheads="1"/>
          </p:cNvSpPr>
          <p:nvPr/>
        </p:nvSpPr>
        <p:spPr bwMode="auto">
          <a:xfrm>
            <a:off x="311470" y="116097"/>
            <a:ext cx="5053013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3. Why SFS is the Better Choice</a:t>
            </a:r>
            <a:endParaRPr lang="ko-KR" altLang="en-US" sz="20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99077" y="1038496"/>
            <a:ext cx="8507845" cy="6547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</a:rPr>
              <a:t>Prevents Disruptions During Roaming: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DFS may cause disconnections due to channel switching, but SFS avoids this entirely.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</a:rPr>
              <a:t>Ensures Stability for Real-Time Programs: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Maintains consistent data transmission between OHT devices and the OCS.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</a:rPr>
              <a:t>Predictability: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SFS delivers continuous and reliable performance without unnecessary channel changes.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</a:rPr>
              <a:t>Business Continuity: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Avoids downtime or connection interruptions, ensuring operational efficiency.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</a:rPr>
              <a:t>Simplified Implementation: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Fixed channels reduce complexity, lowering maintenance costs and management efforts.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>
              <a:lnSpc>
                <a:spcPct val="130000"/>
              </a:lnSpc>
              <a:buClr>
                <a:srgbClr val="70AD47"/>
              </a:buClr>
            </a:pPr>
            <a:endParaRPr lang="en-US" altLang="ko-KR" sz="1200" b="1" dirty="0"/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endParaRPr lang="en-US" altLang="ko-KR" sz="1200" dirty="0"/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endParaRPr lang="en-US" altLang="ko-KR" sz="1200" b="1" dirty="0">
              <a:solidFill>
                <a:srgbClr val="FF0000"/>
              </a:solidFill>
              <a:latin typeface="맑은 고딕" pitchFamily="50" charset="-127"/>
            </a:endParaRPr>
          </a:p>
          <a:p>
            <a:pPr lvl="1">
              <a:lnSpc>
                <a:spcPct val="130000"/>
              </a:lnSpc>
              <a:buClr>
                <a:srgbClr val="70AD47"/>
              </a:buClr>
            </a:pPr>
            <a:endParaRPr lang="en-US" altLang="ko-KR" sz="1200" dirty="0"/>
          </a:p>
          <a:p>
            <a:pPr lvl="1">
              <a:lnSpc>
                <a:spcPct val="130000"/>
              </a:lnSpc>
              <a:buClr>
                <a:srgbClr val="70AD47"/>
              </a:buClr>
            </a:pPr>
            <a:endParaRPr lang="en-US" altLang="ko-KR" sz="1200" dirty="0"/>
          </a:p>
          <a:p>
            <a:pPr lvl="1">
              <a:lnSpc>
                <a:spcPct val="130000"/>
              </a:lnSpc>
              <a:buClr>
                <a:srgbClr val="70AD47"/>
              </a:buClr>
            </a:pPr>
            <a:endParaRPr lang="en-US" altLang="ko-KR" sz="1200" dirty="0"/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prstClr val="black"/>
              </a:solidFill>
              <a:latin typeface="맑은 고딕" pitchFamily="50" charset="-127"/>
            </a:endParaRPr>
          </a:p>
          <a:p>
            <a:pPr>
              <a:lnSpc>
                <a:spcPct val="130000"/>
              </a:lnSpc>
              <a:buClr>
                <a:srgbClr val="70AD47"/>
              </a:buClr>
            </a:pPr>
            <a:endParaRPr lang="en-US" altLang="ko-KR" sz="1200" dirty="0">
              <a:latin typeface="맑은 고딕"/>
              <a:ea typeface="맑은 고딕"/>
            </a:endParaRPr>
          </a:p>
        </p:txBody>
      </p:sp>
      <p:sp>
        <p:nvSpPr>
          <p:cNvPr id="86" name="TextBox 16">
            <a:extLst>
              <a:ext uri="{FF2B5EF4-FFF2-40B4-BE49-F238E27FC236}">
                <a16:creationId xmlns:a16="http://schemas.microsoft.com/office/drawing/2014/main" id="{06EB834F-0D33-43BB-9176-CF61681DD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67" y="682524"/>
            <a:ext cx="5718382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285750" indent="-285750">
              <a:buFont typeface="Wingdings" panose="05000000000000000000" pitchFamily="2" charset="2"/>
              <a:buChar char="v"/>
              <a:defRPr kumimoji="0" sz="1400">
                <a:latin typeface="Tahoma" panose="020B0604030504040204" pitchFamily="34" charset="0"/>
              </a:defRPr>
            </a:lvl1pPr>
          </a:lstStyle>
          <a:p>
            <a:r>
              <a:rPr lang="en-US" altLang="ko-KR" sz="1600" dirty="0">
                <a:solidFill>
                  <a:srgbClr val="0070C0"/>
                </a:solidFill>
              </a:rPr>
              <a:t>SFS is Better Choice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948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3"/>
          <p:cNvSpPr>
            <a:spLocks noChangeArrowheads="1"/>
          </p:cNvSpPr>
          <p:nvPr/>
        </p:nvSpPr>
        <p:spPr bwMode="auto">
          <a:xfrm>
            <a:off x="311470" y="116097"/>
            <a:ext cx="5053013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rPr>
              <a:t>4. 165 CH for OHT and EQ PIO</a:t>
            </a:r>
            <a:endParaRPr lang="ko-KR" altLang="en-US" sz="2000" b="1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99077" y="1038496"/>
            <a:ext cx="8507845" cy="2946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it-IT" altLang="ko-KR" sz="1200" b="1" dirty="0">
                <a:solidFill>
                  <a:prstClr val="black"/>
                </a:solidFill>
                <a:latin typeface="맑은 고딕" pitchFamily="50" charset="-127"/>
              </a:rPr>
              <a:t>EQ PIO (E84) : 5GHz Channel</a:t>
            </a:r>
            <a:endParaRPr lang="en-US" altLang="ko-KR" sz="1200" b="1" dirty="0">
              <a:solidFill>
                <a:prstClr val="black"/>
              </a:solidFill>
              <a:latin typeface="맑은 고딕" pitchFamily="50" charset="-127"/>
            </a:endParaRPr>
          </a:p>
          <a:p>
            <a:pPr>
              <a:lnSpc>
                <a:spcPct val="130000"/>
              </a:lnSpc>
              <a:buClr>
                <a:srgbClr val="70AD47"/>
              </a:buClr>
            </a:pPr>
            <a:endParaRPr lang="en-US" altLang="ko-KR" sz="1200" dirty="0"/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>
              <a:lnSpc>
                <a:spcPct val="130000"/>
              </a:lnSpc>
              <a:buClr>
                <a:srgbClr val="70AD47"/>
              </a:buClr>
            </a:pPr>
            <a:endParaRPr lang="en-US" altLang="ko-KR" sz="1200" b="1" dirty="0"/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endParaRPr lang="en-US" altLang="ko-KR" sz="1200" dirty="0"/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endParaRPr lang="en-US" altLang="ko-KR" sz="1200" b="1" dirty="0">
              <a:solidFill>
                <a:srgbClr val="FF0000"/>
              </a:solidFill>
              <a:latin typeface="맑은 고딕" pitchFamily="50" charset="-127"/>
            </a:endParaRPr>
          </a:p>
          <a:p>
            <a:pPr lvl="1">
              <a:lnSpc>
                <a:spcPct val="130000"/>
              </a:lnSpc>
              <a:buClr>
                <a:srgbClr val="70AD47"/>
              </a:buClr>
            </a:pPr>
            <a:endParaRPr lang="en-US" altLang="ko-KR" sz="1200" dirty="0"/>
          </a:p>
          <a:p>
            <a:pPr lvl="1">
              <a:lnSpc>
                <a:spcPct val="130000"/>
              </a:lnSpc>
              <a:buClr>
                <a:srgbClr val="70AD47"/>
              </a:buClr>
            </a:pPr>
            <a:endParaRPr lang="en-US" altLang="ko-KR" sz="1200" dirty="0"/>
          </a:p>
          <a:p>
            <a:pPr lvl="1">
              <a:lnSpc>
                <a:spcPct val="130000"/>
              </a:lnSpc>
              <a:buClr>
                <a:srgbClr val="70AD47"/>
              </a:buClr>
            </a:pPr>
            <a:endParaRPr lang="en-US" altLang="ko-KR" sz="1200" dirty="0"/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prstClr val="black"/>
              </a:solidFill>
              <a:latin typeface="맑은 고딕" pitchFamily="50" charset="-127"/>
            </a:endParaRPr>
          </a:p>
          <a:p>
            <a:pPr>
              <a:lnSpc>
                <a:spcPct val="130000"/>
              </a:lnSpc>
              <a:buClr>
                <a:srgbClr val="70AD47"/>
              </a:buClr>
            </a:pPr>
            <a:endParaRPr lang="en-US" altLang="ko-KR" sz="1200" dirty="0">
              <a:latin typeface="맑은 고딕"/>
              <a:ea typeface="맑은 고딕"/>
            </a:endParaRPr>
          </a:p>
        </p:txBody>
      </p:sp>
      <p:sp>
        <p:nvSpPr>
          <p:cNvPr id="86" name="TextBox 16">
            <a:extLst>
              <a:ext uri="{FF2B5EF4-FFF2-40B4-BE49-F238E27FC236}">
                <a16:creationId xmlns:a16="http://schemas.microsoft.com/office/drawing/2014/main" id="{06EB834F-0D33-43BB-9176-CF61681DD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67" y="682524"/>
            <a:ext cx="5718382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285750" indent="-285750">
              <a:buFont typeface="Wingdings" panose="05000000000000000000" pitchFamily="2" charset="2"/>
              <a:buChar char="v"/>
              <a:defRPr kumimoji="0" sz="1400">
                <a:latin typeface="Tahoma" panose="020B0604030504040204" pitchFamily="34" charset="0"/>
              </a:defRPr>
            </a:lvl1pPr>
          </a:lstStyle>
          <a:p>
            <a:r>
              <a:rPr lang="en-US" altLang="ko-KR" sz="1600" dirty="0">
                <a:solidFill>
                  <a:srgbClr val="0070C0"/>
                </a:solidFill>
              </a:rPr>
              <a:t>VHL ↔ EQ PIO Communication Protocol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98E1EFE-BDA6-472C-B04B-D107FEF1E8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44" t="5125"/>
          <a:stretch/>
        </p:blipFill>
        <p:spPr>
          <a:xfrm>
            <a:off x="1438025" y="1474245"/>
            <a:ext cx="7029948" cy="489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69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3"/>
          <p:cNvSpPr>
            <a:spLocks noChangeArrowheads="1"/>
          </p:cNvSpPr>
          <p:nvPr/>
        </p:nvSpPr>
        <p:spPr bwMode="auto">
          <a:xfrm>
            <a:off x="311470" y="116097"/>
            <a:ext cx="5053013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rPr>
              <a:t>5. Conclusion and Proposal</a:t>
            </a:r>
            <a:endParaRPr lang="ko-KR" altLang="en-US" sz="2000" b="1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99077" y="1038496"/>
            <a:ext cx="8507845" cy="366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prstClr val="black"/>
                </a:solidFill>
                <a:latin typeface="+mj-ea"/>
                <a:ea typeface="+mj-ea"/>
              </a:rPr>
              <a:t>Conclusion : 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ea"/>
                <a:ea typeface="+mj-ea"/>
              </a:rPr>
              <a:t>SFS channels offer stable, interruption-free performance, meeting the real-time data transmission needs of OHT and OCS.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ea"/>
                <a:ea typeface="+mj-ea"/>
              </a:rPr>
              <a:t>Avoids the uncertainty and delays associated with DFS, making SFS the most reliable choice.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ea"/>
                <a:ea typeface="+mj-ea"/>
              </a:rPr>
              <a:t>Channel 165 is a critical component for supporting E84 communication, ensuring data exchange stability between OHT and equipment.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endParaRPr lang="en-US" altLang="ko-KR" sz="12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endParaRPr lang="en-US" altLang="ko-KR" sz="12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prstClr val="black"/>
                </a:solidFill>
                <a:latin typeface="+mj-ea"/>
                <a:ea typeface="+mj-ea"/>
              </a:rPr>
              <a:t>Proposal :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ea"/>
                <a:ea typeface="+mj-ea"/>
              </a:rPr>
              <a:t>Allocate </a:t>
            </a:r>
            <a:r>
              <a:rPr lang="en-US" altLang="ko-KR" sz="1200" b="1" dirty="0">
                <a:latin typeface="+mj-ea"/>
                <a:ea typeface="+mj-ea"/>
              </a:rPr>
              <a:t>4 High-Band SFS channels</a:t>
            </a:r>
            <a:r>
              <a:rPr lang="en-US" altLang="ko-KR" sz="1200" dirty="0">
                <a:latin typeface="+mj-ea"/>
                <a:ea typeface="+mj-ea"/>
              </a:rPr>
              <a:t> </a:t>
            </a:r>
            <a:r>
              <a:rPr lang="en-US" altLang="ko-KR" sz="1200" b="1" dirty="0">
                <a:latin typeface="+mj-ea"/>
                <a:ea typeface="+mj-ea"/>
              </a:rPr>
              <a:t>(</a:t>
            </a:r>
            <a:r>
              <a:rPr lang="en-US" altLang="ko-KR" sz="1200" b="1" dirty="0">
                <a:solidFill>
                  <a:srgbClr val="FF0000"/>
                </a:solidFill>
                <a:latin typeface="+mj-ea"/>
                <a:ea typeface="+mj-ea"/>
              </a:rPr>
              <a:t>149, 153, 157, 161</a:t>
            </a:r>
            <a:r>
              <a:rPr lang="en-US" altLang="ko-KR" sz="1200" b="1" dirty="0">
                <a:latin typeface="+mj-ea"/>
                <a:ea typeface="+mj-ea"/>
              </a:rPr>
              <a:t>) </a:t>
            </a:r>
            <a:r>
              <a:rPr lang="en-US" altLang="ko-KR" sz="1200" dirty="0">
                <a:latin typeface="+mj-ea"/>
                <a:ea typeface="+mj-ea"/>
              </a:rPr>
              <a:t>for uninterrupted and reliable communication within the OHT-OCS environment.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/>
              <a:t>I</a:t>
            </a:r>
            <a:r>
              <a:rPr lang="en-US" altLang="ko-KR" sz="1200" dirty="0">
                <a:latin typeface="+mj-ea"/>
                <a:ea typeface="+mj-ea"/>
              </a:rPr>
              <a:t>nclude </a:t>
            </a:r>
            <a:r>
              <a:rPr lang="en-US" altLang="ko-KR" sz="1200" b="1" dirty="0">
                <a:latin typeface="+mj-ea"/>
                <a:ea typeface="+mj-ea"/>
              </a:rPr>
              <a:t>Channel </a:t>
            </a:r>
            <a:r>
              <a:rPr lang="en-US" altLang="ko-KR" sz="1200" b="1" dirty="0">
                <a:solidFill>
                  <a:srgbClr val="FF0000"/>
                </a:solidFill>
                <a:latin typeface="+mj-ea"/>
                <a:ea typeface="+mj-ea"/>
              </a:rPr>
              <a:t>165 </a:t>
            </a:r>
            <a:r>
              <a:rPr lang="en-US" altLang="ko-KR" sz="1200" dirty="0">
                <a:latin typeface="+mj-ea"/>
                <a:ea typeface="+mj-ea"/>
              </a:rPr>
              <a:t>in the network design to support E84 PIO communication between OHT and equipment.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ea"/>
                <a:ea typeface="+mj-ea"/>
              </a:rPr>
              <a:t>Leverage the benefits of SFS and Channel 165 to maximize productivity and operational efficiency.</a:t>
            </a:r>
          </a:p>
          <a:p>
            <a:pPr lvl="1">
              <a:lnSpc>
                <a:spcPct val="130000"/>
              </a:lnSpc>
              <a:buClr>
                <a:srgbClr val="70AD47"/>
              </a:buClr>
            </a:pPr>
            <a:endParaRPr lang="en-US" altLang="ko-KR" sz="1200" dirty="0">
              <a:solidFill>
                <a:prstClr val="black"/>
              </a:solidFill>
              <a:latin typeface="맑은 고딕" pitchFamily="50" charset="-127"/>
            </a:endParaRPr>
          </a:p>
          <a:p>
            <a:pPr>
              <a:lnSpc>
                <a:spcPct val="130000"/>
              </a:lnSpc>
              <a:buClr>
                <a:srgbClr val="70AD47"/>
              </a:buClr>
            </a:pPr>
            <a:endParaRPr lang="en-US" altLang="ko-KR" sz="1200" dirty="0">
              <a:latin typeface="맑은 고딕"/>
              <a:ea typeface="맑은 고딕"/>
            </a:endParaRPr>
          </a:p>
        </p:txBody>
      </p:sp>
      <p:sp>
        <p:nvSpPr>
          <p:cNvPr id="86" name="TextBox 16">
            <a:extLst>
              <a:ext uri="{FF2B5EF4-FFF2-40B4-BE49-F238E27FC236}">
                <a16:creationId xmlns:a16="http://schemas.microsoft.com/office/drawing/2014/main" id="{06EB834F-0D33-43BB-9176-CF61681DD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67" y="682524"/>
            <a:ext cx="5718382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285750" indent="-285750">
              <a:buFont typeface="Wingdings" panose="05000000000000000000" pitchFamily="2" charset="2"/>
              <a:buChar char="v"/>
              <a:defRPr kumimoji="0" sz="1400">
                <a:latin typeface="Tahoma" panose="020B0604030504040204" pitchFamily="34" charset="0"/>
              </a:defRPr>
            </a:lvl1pPr>
          </a:lstStyle>
          <a:p>
            <a:r>
              <a:rPr lang="en-US" altLang="ko-KR" sz="1600" dirty="0">
                <a:solidFill>
                  <a:srgbClr val="0070C0"/>
                </a:solidFill>
              </a:rPr>
              <a:t>Conclusion and Proposal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878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그림 4" descr="SFA_Engineering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450" y="3659188"/>
            <a:ext cx="374332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488" y="2095500"/>
            <a:ext cx="38100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6272</TotalTime>
  <Words>705</Words>
  <Application>Microsoft Office PowerPoint</Application>
  <PresentationFormat>A4 용지(210x297mm)</PresentationFormat>
  <Paragraphs>177</Paragraphs>
  <Slides>8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8" baseType="lpstr">
      <vt:lpstr>HY헤드라인M</vt:lpstr>
      <vt:lpstr>굴림</vt:lpstr>
      <vt:lpstr>맑은 고딕</vt:lpstr>
      <vt:lpstr>Arial</vt:lpstr>
      <vt:lpstr>Calibri</vt:lpstr>
      <vt:lpstr>Calibri Light</vt:lpstr>
      <vt:lpstr>Tahoma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제안서</dc:title>
  <dc:creator>지귀환</dc:creator>
  <cp:lastModifiedBy>821076643785</cp:lastModifiedBy>
  <cp:revision>329</cp:revision>
  <dcterms:created xsi:type="dcterms:W3CDTF">2022-11-25T01:39:29Z</dcterms:created>
  <dcterms:modified xsi:type="dcterms:W3CDTF">2025-01-13T04:48:02Z</dcterms:modified>
</cp:coreProperties>
</file>