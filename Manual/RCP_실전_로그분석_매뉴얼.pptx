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3" r:id="rId20"/>
    <p:sldId id="274" r:id="rId21"/>
    <p:sldId id="278" r:id="rId22"/>
    <p:sldId id="276" r:id="rId23"/>
    <p:sldId id="277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267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5A623"/>
              </a:solidFill>
            </c:spPr>
            <c:extLst>
              <c:ext xmlns:c16="http://schemas.microsoft.com/office/drawing/2014/chart" uri="{C3380CC4-5D6E-409C-BE32-E72D297353CC}">
                <c16:uniqueId val="{00000001-B168-4A4C-AF29-09903E6CAA3B}"/>
              </c:ext>
            </c:extLst>
          </c:dPt>
          <c:dPt>
            <c:idx val="1"/>
            <c:invertIfNegative val="1"/>
            <c:bubble3D val="0"/>
            <c:spPr>
              <a:solidFill>
                <a:srgbClr val="2C5364"/>
              </a:solidFill>
            </c:spPr>
            <c:extLst>
              <c:ext xmlns:c16="http://schemas.microsoft.com/office/drawing/2014/chart" uri="{C3380CC4-5D6E-409C-BE32-E72D297353CC}">
                <c16:uniqueId val="{00000003-B168-4A4C-AF29-09903E6CAA3B}"/>
              </c:ext>
            </c:extLst>
          </c:dPt>
          <c:dPt>
            <c:idx val="2"/>
            <c:invertIfNegative val="1"/>
            <c:bubble3D val="0"/>
            <c:spPr>
              <a:solidFill>
                <a:srgbClr val="2C5364"/>
              </a:solidFill>
            </c:spPr>
            <c:extLst>
              <c:ext xmlns:c16="http://schemas.microsoft.com/office/drawing/2014/chart" uri="{C3380CC4-5D6E-409C-BE32-E72D297353CC}">
                <c16:uniqueId val="{00000005-B168-4A4C-AF29-09903E6CAA3B}"/>
              </c:ext>
            </c:extLst>
          </c:dPt>
          <c:dPt>
            <c:idx val="3"/>
            <c:invertIfNegative val="1"/>
            <c:bubble3D val="0"/>
            <c:spPr>
              <a:solidFill>
                <a:srgbClr val="2C5364"/>
              </a:solidFill>
            </c:spPr>
            <c:extLst>
              <c:ext xmlns:c16="http://schemas.microsoft.com/office/drawing/2014/chart" uri="{C3380CC4-5D6E-409C-BE32-E72D297353CC}">
                <c16:uniqueId val="{00000007-B168-4A4C-AF29-09903E6CAA3B}"/>
              </c:ext>
            </c:extLst>
          </c:dPt>
          <c:dPt>
            <c:idx val="4"/>
            <c:invertIfNegative val="1"/>
            <c:bubble3D val="0"/>
            <c:spPr>
              <a:solidFill>
                <a:srgbClr val="2C5364"/>
              </a:solidFill>
            </c:spPr>
            <c:extLst>
              <c:ext xmlns:c16="http://schemas.microsoft.com/office/drawing/2014/chart" uri="{C3380CC4-5D6E-409C-BE32-E72D297353CC}">
                <c16:uniqueId val="{00000009-B168-4A4C-AF29-09903E6CAA3B}"/>
              </c:ext>
            </c:extLst>
          </c:dPt>
          <c:dPt>
            <c:idx val="5"/>
            <c:invertIfNegative val="1"/>
            <c:bubble3D val="0"/>
            <c:spPr>
              <a:solidFill>
                <a:srgbClr val="2C5364"/>
              </a:solidFill>
            </c:spPr>
            <c:extLst>
              <c:ext xmlns:c16="http://schemas.microsoft.com/office/drawing/2014/chart" uri="{C3380CC4-5D6E-409C-BE32-E72D297353CC}">
                <c16:uniqueId val="{0000000B-B168-4A4C-AF29-09903E6CAA3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2232E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SYSTEM_ERR
(CPS 장비에러)</c:v>
                </c:pt>
                <c:pt idx="1">
                  <c:v>STATION
(스테이션)</c:v>
                </c:pt>
                <c:pt idx="2">
                  <c:v>CPS_ST
(급전상태)</c:v>
                </c:pt>
                <c:pt idx="3">
                  <c:v>MONITOR
(방화도어)</c:v>
                </c:pt>
                <c:pt idx="4">
                  <c:v>SAFETY</c:v>
                </c:pt>
                <c:pt idx="5">
                  <c:v>MTL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1574</c:v>
                </c:pt>
                <c:pt idx="1">
                  <c:v>356</c:v>
                </c:pt>
                <c:pt idx="2">
                  <c:v>30</c:v>
                </c:pt>
                <c:pt idx="3">
                  <c:v>10</c:v>
                </c:pt>
                <c:pt idx="4">
                  <c:v>9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168-4A4C-AF29-09903E6CAA3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CE0"/>
            </a:solidFill>
          </a:ln>
        </c:spPr>
        <c:txPr>
          <a:bodyPr/>
          <a:lstStyle/>
          <a:p>
            <a:pPr>
              <a:defRPr sz="950">
                <a:solidFill>
                  <a:srgbClr val="6B7B85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E5EAE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5DCE0"/>
            </a:solidFill>
          </a:ln>
        </c:spPr>
        <c:txPr>
          <a:bodyPr/>
          <a:lstStyle/>
          <a:p>
            <a:pPr>
              <a:defRPr sz="950">
                <a:solidFill>
                  <a:srgbClr val="6B7B85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" y="1481328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2232E"/>
                </a:solidFill>
                <a:latin typeface="맑은 고딕"/>
              </a:rP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51790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Arial"/>
              </a:rPr>
              <a:t>RCP LOG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48840"/>
            <a:ext cx="85953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맑은 고딕"/>
              </a:rPr>
              <a:t>RCP 실전 </a:t>
            </a:r>
            <a:r>
              <a:rPr sz="4600" b="1">
                <a:solidFill>
                  <a:srgbClr val="F5A623"/>
                </a:solidFill>
                <a:latin typeface="맑은 고딕"/>
              </a:rPr>
              <a:t>로그 분석</a:t>
            </a:r>
          </a:p>
          <a:p>
            <a:pPr algn="l"/>
            <a:r>
              <a:rPr sz="4600" b="1">
                <a:solidFill>
                  <a:srgbClr val="FFFFFF"/>
                </a:solidFill>
                <a:latin typeface="맑은 고딕"/>
              </a:rPr>
              <a:t>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41648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 err="1">
                <a:solidFill>
                  <a:srgbClr val="9FB3BF"/>
                </a:solidFill>
                <a:latin typeface="맑은 고딕"/>
              </a:rPr>
              <a:t>현장</a:t>
            </a:r>
            <a:r>
              <a:rPr sz="1500" b="0" dirty="0">
                <a:solidFill>
                  <a:srgbClr val="9FB3BF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9FB3BF"/>
                </a:solidFill>
                <a:latin typeface="맑은 고딕"/>
              </a:rPr>
              <a:t>운영</a:t>
            </a:r>
            <a:r>
              <a:rPr sz="1500" b="0" dirty="0">
                <a:solidFill>
                  <a:srgbClr val="9FB3BF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9FB3BF"/>
                </a:solidFill>
                <a:latin typeface="맑은 고딕"/>
              </a:rPr>
              <a:t>로그</a:t>
            </a:r>
            <a:r>
              <a:rPr sz="1500" b="0" dirty="0">
                <a:solidFill>
                  <a:srgbClr val="9FB3BF"/>
                </a:solidFill>
                <a:latin typeface="맑은 고딕"/>
              </a:rPr>
              <a:t> 전 32종 </a:t>
            </a:r>
            <a:r>
              <a:rPr sz="1500" b="0" dirty="0" err="1">
                <a:solidFill>
                  <a:srgbClr val="9FB3BF"/>
                </a:solidFill>
                <a:latin typeface="맑은 고딕"/>
              </a:rPr>
              <a:t>수록</a:t>
            </a:r>
            <a:r>
              <a:rPr sz="1500" b="0" dirty="0">
                <a:solidFill>
                  <a:srgbClr val="9FB3BF"/>
                </a:solidFill>
                <a:latin typeface="맑은 고딕"/>
              </a:rPr>
              <a:t>  ·  Micron AATT Taichung  ·  STOTA20100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맑은 고딕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46811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CA1AE"/>
                </a:solidFill>
                <a:latin typeface="맑은 고딕"/>
              </a:rPr>
              <a:t>로그 종류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5" y="48920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맑은 고딕"/>
              </a:rPr>
              <a:t>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1215" y="546811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CA1AE"/>
                </a:solidFill>
                <a:latin typeface="맑은 고딕"/>
              </a:rPr>
              <a:t>운영 차량 (OHT)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48920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맑은 고딕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4064" y="546811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CA1AE"/>
                </a:solidFill>
                <a:latin typeface="맑은 고딕"/>
              </a:rPr>
              <a:t>프로그램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48920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F5A623"/>
                </a:solidFill>
                <a:latin typeface="맑은 고딕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546811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CA1AE"/>
                </a:solidFill>
                <a:latin typeface="맑은 고딕"/>
              </a:rPr>
              <a:t>PLC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2362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B7B85"/>
                </a:solidFill>
                <a:latin typeface="맑은 고딕"/>
              </a:rPr>
              <a:t>표본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: 2026-08-03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현장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로그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 | 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모든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예시는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실제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로그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발췌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 |  v3.0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로그를 남기는 4개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각 로그는 OCS 를 중심으로 한 통신 방향으로 구분한다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64608" y="2999232"/>
            <a:ext cx="2468880" cy="113385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64608" y="32004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2232E"/>
                </a:solidFill>
                <a:latin typeface="맑은 고딕"/>
              </a:rPr>
              <a:t>OCS (RCP 서버)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360273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2232E"/>
                </a:solidFill>
                <a:latin typeface="Consolas"/>
              </a:rPr>
              <a:t>STOTA20100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64608" y="1572768"/>
            <a:ext cx="2468880" cy="786384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64608" y="1737360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HOST (MCS)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8" y="20482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B8C8D2"/>
                </a:solidFill>
                <a:latin typeface="맑은 고딕"/>
              </a:rPr>
              <a:t>상위 반송 시스템</a:t>
            </a:r>
          </a:p>
        </p:txBody>
      </p:sp>
      <p:sp>
        <p:nvSpPr>
          <p:cNvPr id="11" name="Up-Down Arrow 10"/>
          <p:cNvSpPr/>
          <p:nvPr/>
        </p:nvSpPr>
        <p:spPr>
          <a:xfrm>
            <a:off x="5943600" y="2395728"/>
            <a:ext cx="310896" cy="566928"/>
          </a:xfrm>
          <a:prstGeom prst="upDown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3054096"/>
            <a:ext cx="2194560" cy="1024128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3255264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OHT 차량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0273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B8C8D2"/>
                </a:solidFill>
                <a:latin typeface="맑은 고딕"/>
              </a:rPr>
              <a:t>44대 (U.50~114)</a:t>
            </a:r>
          </a:p>
        </p:txBody>
      </p:sp>
      <p:sp>
        <p:nvSpPr>
          <p:cNvPr id="15" name="Left-Right Arrow 14"/>
          <p:cNvSpPr/>
          <p:nvPr/>
        </p:nvSpPr>
        <p:spPr>
          <a:xfrm>
            <a:off x="2962656" y="3401568"/>
            <a:ext cx="1792224" cy="310896"/>
          </a:xfrm>
          <a:prstGeom prst="left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Left-Right Arrow 15"/>
          <p:cNvSpPr/>
          <p:nvPr/>
        </p:nvSpPr>
        <p:spPr>
          <a:xfrm>
            <a:off x="7443216" y="3401568"/>
            <a:ext cx="1773936" cy="310896"/>
          </a:xfrm>
          <a:prstGeom prst="left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26880" y="3054096"/>
            <a:ext cx="2194560" cy="1024128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3255264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PLC 장비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60273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B8C8D2"/>
                </a:solidFill>
                <a:latin typeface="맑은 고딕"/>
              </a:rPr>
              <a:t>PLC 1~8 · 설비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999232"/>
            <a:ext cx="17922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D48806"/>
                </a:solidFill>
                <a:latin typeface="맑은 고딕"/>
              </a:rPr>
              <a:t>CoreForm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2999232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D48806"/>
                </a:solidFill>
                <a:latin typeface="맑은 고딕"/>
              </a:rPr>
              <a:t>PLCDRIVERFORM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4505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D48806"/>
                </a:solidFill>
                <a:latin typeface="맑은 고딕"/>
              </a:rPr>
              <a:t>MCSIF_Form · Secom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72000"/>
            <a:ext cx="2615184" cy="1426464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71830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2232E"/>
                </a:solidFill>
                <a:latin typeface="맑은 고딕"/>
              </a:rPr>
              <a:t>CoreForm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0292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32E"/>
                </a:solidFill>
                <a:latin typeface="Consolas"/>
              </a:rPr>
              <a:t>OHT ↔ 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32180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2232E"/>
                </a:solidFill>
                <a:latin typeface="맑은 고딕"/>
              </a:rPr>
              <a:t>차량 통신·반송·주행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61441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2232E"/>
                </a:solidFill>
                <a:latin typeface="맑은 고딕"/>
              </a:rPr>
              <a:t>22종 · 2,546 MB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56432" y="4572000"/>
            <a:ext cx="2615184" cy="1426464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02736" y="471830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2232E"/>
                </a:solidFill>
                <a:latin typeface="맑은 고딕"/>
              </a:rPr>
              <a:t>MCSIF_Form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2736" y="50292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48806"/>
                </a:solidFill>
                <a:latin typeface="Consolas"/>
              </a:rPr>
              <a:t>HOST ↔ 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2736" y="532180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B85"/>
                </a:solidFill>
                <a:latin typeface="맑은 고딕"/>
              </a:rPr>
              <a:t>Host 명령/이벤트 변환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2736" y="561441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맑은 고딕"/>
              </a:rPr>
              <a:t>4종 · 288 MB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54496" y="4572000"/>
            <a:ext cx="2615184" cy="1426464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471830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2232E"/>
                </a:solidFill>
                <a:latin typeface="맑은 고딕"/>
              </a:rPr>
              <a:t>Secom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0292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48806"/>
                </a:solidFill>
                <a:latin typeface="Consolas"/>
              </a:rPr>
              <a:t>HOST ↔ 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32180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B85"/>
                </a:solidFill>
                <a:latin typeface="맑은 고딕"/>
              </a:rPr>
              <a:t>SECS/HSMS 통신 원문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61441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맑은 고딕"/>
              </a:rPr>
              <a:t>3종 · 9,689 MB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4572000"/>
            <a:ext cx="2615184" cy="1426464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98864" y="471830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2232E"/>
                </a:solidFill>
                <a:latin typeface="맑은 고딕"/>
              </a:rPr>
              <a:t>PLCDRIVERFORM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8864" y="50292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48806"/>
                </a:solidFill>
                <a:latin typeface="Consolas"/>
              </a:rPr>
              <a:t>PLC ↔ OCS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532180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B85"/>
                </a:solidFill>
                <a:latin typeface="맑은 고딕"/>
              </a:rPr>
              <a:t>장비 태그 읽기/쓰기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8864" y="561441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맑은 고딕"/>
              </a:rPr>
              <a:t>3종 · 24 MB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400800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B85"/>
                </a:solidFill>
                <a:latin typeface="맑은 고딕"/>
              </a:rPr>
              <a:t>분석의 90%는 CoreForm.  Secom 은 하루 170MB — 시각·SystemBytes 를 특정한 뒤 그 부분만 연다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전체 로그 32종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이 매뉴얼은 32종 전부를 실제 로그와 함께 다룬다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3677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2232E"/>
                </a:solidFill>
                <a:latin typeface="맑은 고딕"/>
              </a:rPr>
              <a:t>CoreForm — 차량 통신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581912"/>
            <a:ext cx="541324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1655064"/>
            <a:ext cx="5413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Comm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89780" y="1581912"/>
            <a:ext cx="630936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89780" y="1655064"/>
            <a:ext cx="6309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CommT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48732" y="1581912"/>
            <a:ext cx="1347825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48732" y="1655064"/>
            <a:ext cx="134782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CommException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0312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2585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2232E"/>
                </a:solidFill>
                <a:latin typeface="맑은 고딕"/>
              </a:rPr>
              <a:t>CoreForm — 반송 지시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203704"/>
            <a:ext cx="630936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2276856"/>
            <a:ext cx="6309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2203704"/>
            <a:ext cx="989380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79392" y="2276856"/>
            <a:ext cx="9893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OrderNack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6788" y="2203704"/>
            <a:ext cx="989380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96788" y="2276856"/>
            <a:ext cx="9893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OrderFail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4185" y="2203704"/>
            <a:ext cx="1168603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4185" y="2276856"/>
            <a:ext cx="116860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SelectOrder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0804" y="2203704"/>
            <a:ext cx="899769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10804" y="2276856"/>
            <a:ext cx="89976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HandOver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2724912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28803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2232E"/>
                </a:solidFill>
                <a:latin typeface="맑은 고딕"/>
              </a:rPr>
              <a:t>CoreForm — 주행·경로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2825496"/>
            <a:ext cx="1168603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20440" y="2898648"/>
            <a:ext cx="116860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MoveHistory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17059" y="2825496"/>
            <a:ext cx="989380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17059" y="2898648"/>
            <a:ext cx="9893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PntOccupy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34456" y="2825496"/>
            <a:ext cx="720547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34456" y="2898648"/>
            <a:ext cx="7205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Finder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83019" y="2825496"/>
            <a:ext cx="362102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83019" y="2898648"/>
            <a:ext cx="36210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TM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73137" y="2825496"/>
            <a:ext cx="1078992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73137" y="2898648"/>
            <a:ext cx="10789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HomeChange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80145" y="2825496"/>
            <a:ext cx="541324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80145" y="2898648"/>
            <a:ext cx="5413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Test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3346704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9808" y="35021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2232E"/>
                </a:solidFill>
                <a:latin typeface="맑은 고딕"/>
              </a:rPr>
              <a:t>CoreForm — 상태·감시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20440" y="3447288"/>
            <a:ext cx="630936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20440" y="3520440"/>
            <a:ext cx="6309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Event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79392" y="3447288"/>
            <a:ext cx="541324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79392" y="3520440"/>
            <a:ext cx="5413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Ping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48732" y="3447288"/>
            <a:ext cx="810158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948732" y="3520440"/>
            <a:ext cx="81015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Warning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86907" y="3447288"/>
            <a:ext cx="1258214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886907" y="3520440"/>
            <a:ext cx="125821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VehicleEvent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73137" y="3447288"/>
            <a:ext cx="720547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73137" y="3520440"/>
            <a:ext cx="7205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PlcTag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21700" y="3447288"/>
            <a:ext cx="1168603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21700" y="3520440"/>
            <a:ext cx="116860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UIException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3968496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8" y="412394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2232E"/>
                </a:solidFill>
                <a:latin typeface="맑은 고딕"/>
              </a:rPr>
              <a:t>CoreForm — Host 메시지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520440" y="4069080"/>
            <a:ext cx="810158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520440" y="4142232"/>
            <a:ext cx="81015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MsgRecv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58614" y="4069080"/>
            <a:ext cx="810158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458614" y="4142232"/>
            <a:ext cx="81015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Consolas"/>
              </a:rPr>
              <a:t>MsgSend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4590288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9808" y="474573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2232E"/>
                </a:solidFill>
                <a:latin typeface="맑은 고딕"/>
              </a:rPr>
              <a:t>MCSIF_Form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520440" y="4690872"/>
            <a:ext cx="989380" cy="347472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520440" y="4764024"/>
            <a:ext cx="9893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MCSSystem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637836" y="4690872"/>
            <a:ext cx="1527048" cy="347472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637836" y="4764024"/>
            <a:ext cx="15270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SecsMsgTransfer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92900" y="4690872"/>
            <a:ext cx="1437436" cy="347472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92900" y="4764024"/>
            <a:ext cx="14374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WCFMsgTransfer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858353" y="4690872"/>
            <a:ext cx="1706270" cy="347472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858353" y="4764024"/>
            <a:ext cx="170627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WCFMsgTransferXML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6928" y="521208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49808" y="536752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2232E"/>
                </a:solidFill>
                <a:latin typeface="맑은 고딕"/>
              </a:rPr>
              <a:t>PLCDRIVERFORM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520440" y="5312664"/>
            <a:ext cx="989380" cy="347472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520440" y="5385816"/>
            <a:ext cx="9893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ReadWrite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637836" y="5312664"/>
            <a:ext cx="1078992" cy="347472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637836" y="5385816"/>
            <a:ext cx="10789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PlcCommLog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844844" y="5312664"/>
            <a:ext cx="1168603" cy="347472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844844" y="5385816"/>
            <a:ext cx="116860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MsgTransfer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6928" y="5833872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9808" y="59893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2232E"/>
                </a:solidFill>
                <a:latin typeface="맑은 고딕"/>
              </a:rPr>
              <a:t>Secom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520440" y="5934456"/>
            <a:ext cx="810158" cy="347472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520440" y="6007608"/>
            <a:ext cx="81015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SECS-II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458614" y="5934456"/>
            <a:ext cx="720547" cy="347472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458614" y="6007608"/>
            <a:ext cx="7205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SECS-I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07177" y="5934456"/>
            <a:ext cx="1168603" cy="347472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307177" y="6007608"/>
            <a:ext cx="116860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SECOMDRIVER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6400800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B85"/>
                </a:solidFill>
                <a:latin typeface="맑은 고딕"/>
              </a:rPr>
              <a:t>각 로그는 이후 슬라이드에서 [실제 로그 라인] + [필드 구조] + [역할·확인 시점] 순으로 설명한다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Comm ①  차량 상태보고 [R:01]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CoreForm · OHT ↔ OCS  |  가장 중요한 로그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1064240" cy="74980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499616"/>
            <a:ext cx="10771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F5A623"/>
                </a:solidFill>
                <a:latin typeface="Consolas"/>
              </a:rPr>
              <a:t>08-03 09:01:02.626, U. 80 [R:01] [ 1286,    0,    0, 1291],ST=[ 1288],SEG=[ 286],M=[A],S=[G],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F5A623"/>
                </a:solidFill>
                <a:latin typeface="Consolas"/>
              </a:rPr>
              <a:t>E=[  0],D=[ 515],P=[4200],N=[-],NP=[    0],R=[00],B=[00],MD=[00],JOB=[ 40802019],[ 31ms, 874ms]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2140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C5364"/>
                </a:solidFill>
                <a:latin typeface="맑은 고딕"/>
              </a:rPr>
              <a:t>필드 (사양서 OHT PROTOCOL 3.4.6  TYPE 0x01 순서 그대로)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6888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[①②③④]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" y="2468880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현재 바코드 / 방향 바코드 / (미사용·항상0) / 최종 목적지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5234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ST=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752344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경로변경 분기 — 분기 바코드 바로 다음 (Station 아님)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3580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SEG=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3035808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현재 세그먼트(레일) 번호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31927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M= / S=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3319272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차량 모드(A=Auto) / 주행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60273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E=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3602736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알람 코드 — 0이면 정상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8620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D= / P=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3886200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직전 바코드에서 온 거리 / 현재 속도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246888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N= / NP=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1" y="2468880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다음 차량 명령 / 그 바코드 위치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275234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R= / B=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1" y="2752344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화물 점유 / 차량 상태 비트(01정위치 02에러 04인터락 10PAUSE)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303580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MD=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1" y="3035808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모듈 정보 (청소모듈 유무·ON/OFF)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331927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JOB=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2631" y="3319272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작업번호(오더) — Order 로그 조인 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8" y="360273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[ ,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2631" y="3602736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처리시간 ms, 통신주기 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251960"/>
            <a:ext cx="11064240" cy="859536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370832"/>
            <a:ext cx="10735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차량이 주기적으로 보내는 상태 전문. 위치·속도·알람·작업번호가 한 줄에 전부 들어 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681728"/>
            <a:ext cx="10735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차량 관련 모든 문제의 시작점. 읽는 순서 → E=(알람) → S=(상태) → JOB=(오더) → 대괄호 → P=(속도)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949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" y="5522976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5A623"/>
                </a:solidFill>
                <a:latin typeface="맑은 고딕"/>
              </a:rPr>
              <a:t>같은 로그에 함께 남는 다른 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15584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[S:11] MOVE / [S:2A] MOVE-M (이동 지령)   ·   [R:11] MOVE-REPLY. COOE:[0] (응답)   ·   Make ViaPoint (경유점 산출)
HandleVehicleAtHome-InitAlloc (홈 대기 재배정)   ·   FreeAll (점유 일괄 해제)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Comm ②  핵심 4개 값이 채워졌다 빠지는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U.111 현장 로그 : 오더 735129 완료 → 적재 → 새 오더까지 45초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4956048" cy="475488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47218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48806"/>
                </a:solidFill>
                <a:latin typeface="맑은 고딕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81328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C5364"/>
                </a:solidFill>
                <a:latin typeface="Consolas"/>
              </a:rPr>
              <a:t>JOB=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81328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2232E"/>
                </a:solidFill>
                <a:latin typeface="맑은 고딕"/>
              </a:rPr>
              <a:t>현재 오더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426464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6B7B85"/>
                </a:solidFill>
                <a:latin typeface="맑은 고딕"/>
              </a:rPr>
              <a:t>Order 로그에서 이 차량이 받은 지시를 확인한다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20240"/>
            <a:ext cx="4956048" cy="475488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02082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48806"/>
                </a:solidFill>
                <a:latin typeface="맑은 고딕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29968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C5364"/>
                </a:solidFill>
                <a:latin typeface="Consolas"/>
              </a:rPr>
              <a:t>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029968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2232E"/>
                </a:solidFill>
                <a:latin typeface="맑은 고딕"/>
              </a:rPr>
              <a:t>최종 목적지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975104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6B7B85"/>
                </a:solidFill>
                <a:latin typeface="맑은 고딕"/>
              </a:rPr>
              <a:t>그 오더의 목적지. 오더가 끝나면 0 으로 빠진다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468880"/>
            <a:ext cx="4956048" cy="475488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56946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48806"/>
                </a:solidFill>
                <a:latin typeface="맑은 고딕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578608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C5364"/>
                </a:solidFill>
                <a:latin typeface="Consolas"/>
              </a:rPr>
              <a:t>DP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578608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2232E"/>
                </a:solidFill>
                <a:latin typeface="맑은 고딕"/>
              </a:rPr>
              <a:t>방향 바코드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523744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6B7B85"/>
                </a:solidFill>
                <a:latin typeface="맑은 고딕"/>
              </a:rPr>
              <a:t>다음 분기에서 갈 방향. 그 분기를 지나면 다음 분기로 갱신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017520"/>
            <a:ext cx="4956048" cy="475488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3118103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48806"/>
                </a:solidFill>
                <a:latin typeface="맑은 고딕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127248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C5364"/>
                </a:solidFill>
                <a:latin typeface="Consolas"/>
              </a:rPr>
              <a:t>ST=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127248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2232E"/>
                </a:solidFill>
                <a:latin typeface="맑은 고딕"/>
              </a:rPr>
              <a:t>경로변경 분기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072384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6B7B85"/>
                </a:solidFill>
                <a:latin typeface="맑은 고딕"/>
              </a:rPr>
              <a:t>분기 바코드 바로 다음 바코드. 재지령 가능한 마지막 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42432" y="1371600"/>
            <a:ext cx="5888736" cy="26700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88736" y="1499616"/>
            <a:ext cx="5596128" cy="2414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0" dirty="0" err="1">
                <a:solidFill>
                  <a:srgbClr val="7EC8E3"/>
                </a:solidFill>
                <a:latin typeface="Consolas"/>
              </a:rPr>
              <a:t>시각</a:t>
            </a:r>
            <a:r>
              <a:rPr sz="919" b="0" dirty="0">
                <a:solidFill>
                  <a:srgbClr val="7EC8E3"/>
                </a:solidFill>
                <a:latin typeface="Consolas"/>
              </a:rPr>
              <a:t>       CP     DP    ST     TP   S  </a:t>
            </a:r>
            <a:r>
              <a:rPr sz="919" b="0" dirty="0" err="1">
                <a:solidFill>
                  <a:srgbClr val="7EC8E3"/>
                </a:solidFill>
                <a:latin typeface="Consolas"/>
              </a:rPr>
              <a:t>해석</a:t>
            </a:r>
            <a:endParaRPr sz="919" b="0" dirty="0">
              <a:solidFill>
                <a:srgbClr val="7EC8E3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0" dirty="0">
                <a:solidFill>
                  <a:srgbClr val="F5A623"/>
                </a:solidFill>
                <a:latin typeface="Consolas"/>
              </a:rPr>
              <a:t>09:29:31  1303  1304  1305  10620  G  4개 </a:t>
            </a:r>
            <a:r>
              <a:rPr sz="919" b="0" dirty="0" err="1">
                <a:solidFill>
                  <a:srgbClr val="F5A623"/>
                </a:solidFill>
                <a:latin typeface="Consolas"/>
              </a:rPr>
              <a:t>모두</a:t>
            </a:r>
            <a:r>
              <a:rPr sz="919" b="0" dirty="0">
                <a:solidFill>
                  <a:srgbClr val="F5A623"/>
                </a:solidFill>
                <a:latin typeface="Consolas"/>
              </a:rPr>
              <a:t> 값 — </a:t>
            </a:r>
            <a:r>
              <a:rPr sz="919" b="0" dirty="0" err="1">
                <a:solidFill>
                  <a:srgbClr val="F5A623"/>
                </a:solidFill>
                <a:latin typeface="Consolas"/>
              </a:rPr>
              <a:t>정상</a:t>
            </a:r>
            <a:r>
              <a:rPr sz="919" b="0" dirty="0">
                <a:solidFill>
                  <a:srgbClr val="F5A623"/>
                </a:solidFill>
                <a:latin typeface="Consolas"/>
              </a:rPr>
              <a:t> </a:t>
            </a:r>
            <a:r>
              <a:rPr sz="919" b="0" dirty="0" err="1">
                <a:solidFill>
                  <a:srgbClr val="F5A623"/>
                </a:solidFill>
                <a:latin typeface="Consolas"/>
              </a:rPr>
              <a:t>주행</a:t>
            </a:r>
            <a:endParaRPr sz="919" b="0" dirty="0">
              <a:solidFill>
                <a:srgbClr val="F5A623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0" dirty="0">
                <a:solidFill>
                  <a:srgbClr val="C8D6DF"/>
                </a:solidFill>
                <a:latin typeface="Consolas"/>
              </a:rPr>
              <a:t>09:29:33  1304  1267  1305  10620  G  1304 </a:t>
            </a:r>
            <a:r>
              <a:rPr sz="919" b="0" dirty="0" err="1">
                <a:solidFill>
                  <a:srgbClr val="C8D6DF"/>
                </a:solidFill>
                <a:latin typeface="Consolas"/>
              </a:rPr>
              <a:t>통과</a:t>
            </a:r>
            <a:r>
              <a:rPr sz="919" b="0" dirty="0">
                <a:solidFill>
                  <a:srgbClr val="C8D6DF"/>
                </a:solidFill>
                <a:latin typeface="Consolas"/>
              </a:rPr>
              <a:t> → DP </a:t>
            </a:r>
            <a:r>
              <a:rPr sz="919" b="0" dirty="0" err="1">
                <a:solidFill>
                  <a:srgbClr val="C8D6DF"/>
                </a:solidFill>
                <a:latin typeface="Consolas"/>
              </a:rPr>
              <a:t>다음</a:t>
            </a:r>
            <a:r>
              <a:rPr sz="919" b="0" dirty="0">
                <a:solidFill>
                  <a:srgbClr val="C8D6DF"/>
                </a:solidFill>
                <a:latin typeface="Consolas"/>
              </a:rPr>
              <a:t> </a:t>
            </a:r>
            <a:r>
              <a:rPr sz="919" b="0" dirty="0" err="1">
                <a:solidFill>
                  <a:srgbClr val="C8D6DF"/>
                </a:solidFill>
                <a:latin typeface="Consolas"/>
              </a:rPr>
              <a:t>분기로</a:t>
            </a:r>
            <a:endParaRPr sz="919" b="0" dirty="0">
              <a:solidFill>
                <a:srgbClr val="C8D6DF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0" dirty="0">
                <a:solidFill>
                  <a:srgbClr val="C8D6DF"/>
                </a:solidFill>
                <a:latin typeface="Consolas"/>
              </a:rPr>
              <a:t>09:29:34  1304  1267  1267  10620  G  ST 도 1267 로 </a:t>
            </a:r>
            <a:r>
              <a:rPr sz="919" b="0" dirty="0" err="1">
                <a:solidFill>
                  <a:srgbClr val="C8D6DF"/>
                </a:solidFill>
                <a:latin typeface="Consolas"/>
              </a:rPr>
              <a:t>따라</a:t>
            </a:r>
            <a:r>
              <a:rPr sz="919" b="0" dirty="0">
                <a:solidFill>
                  <a:srgbClr val="C8D6DF"/>
                </a:solidFill>
                <a:latin typeface="Consolas"/>
              </a:rPr>
              <a:t> </a:t>
            </a:r>
            <a:r>
              <a:rPr sz="919" b="0" dirty="0" err="1">
                <a:solidFill>
                  <a:srgbClr val="C8D6DF"/>
                </a:solidFill>
                <a:latin typeface="Consolas"/>
              </a:rPr>
              <a:t>갱신</a:t>
            </a:r>
            <a:endParaRPr sz="919" b="0" dirty="0">
              <a:solidFill>
                <a:srgbClr val="C8D6DF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0" dirty="0">
                <a:solidFill>
                  <a:srgbClr val="F5A623"/>
                </a:solidFill>
                <a:latin typeface="Consolas"/>
              </a:rPr>
              <a:t>09:29:43  1267     0     0  10620  G  </a:t>
            </a:r>
            <a:r>
              <a:rPr sz="919" b="0" dirty="0" err="1">
                <a:solidFill>
                  <a:srgbClr val="F5A623"/>
                </a:solidFill>
                <a:latin typeface="Consolas"/>
              </a:rPr>
              <a:t>분기</a:t>
            </a:r>
            <a:r>
              <a:rPr sz="919" b="0" dirty="0">
                <a:solidFill>
                  <a:srgbClr val="F5A623"/>
                </a:solidFill>
                <a:latin typeface="Consolas"/>
              </a:rPr>
              <a:t> </a:t>
            </a:r>
            <a:r>
              <a:rPr sz="919" b="0" dirty="0" err="1">
                <a:solidFill>
                  <a:srgbClr val="F5A623"/>
                </a:solidFill>
                <a:latin typeface="Consolas"/>
              </a:rPr>
              <a:t>통과</a:t>
            </a:r>
            <a:r>
              <a:rPr sz="919" b="0" dirty="0">
                <a:solidFill>
                  <a:srgbClr val="F5A623"/>
                </a:solidFill>
                <a:latin typeface="Consolas"/>
              </a:rPr>
              <a:t> → DP·ST </a:t>
            </a:r>
            <a:r>
              <a:rPr sz="919" b="0" dirty="0" err="1">
                <a:solidFill>
                  <a:srgbClr val="F5A623"/>
                </a:solidFill>
                <a:latin typeface="Consolas"/>
              </a:rPr>
              <a:t>빠짐</a:t>
            </a:r>
            <a:endParaRPr sz="919" b="0" dirty="0">
              <a:solidFill>
                <a:srgbClr val="F5A623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0" dirty="0">
                <a:solidFill>
                  <a:srgbClr val="C8D6DF"/>
                </a:solidFill>
                <a:latin typeface="Consolas"/>
              </a:rPr>
              <a:t>09:29:46  1267     0     0  10620  G  </a:t>
            </a:r>
            <a:r>
              <a:rPr sz="919" b="0" dirty="0" err="1">
                <a:solidFill>
                  <a:srgbClr val="C8D6DF"/>
                </a:solidFill>
                <a:latin typeface="Consolas"/>
              </a:rPr>
              <a:t>목적지</a:t>
            </a:r>
            <a:r>
              <a:rPr sz="919" b="0" dirty="0">
                <a:solidFill>
                  <a:srgbClr val="C8D6DF"/>
                </a:solidFill>
                <a:latin typeface="Consolas"/>
              </a:rPr>
              <a:t> 앞 </a:t>
            </a:r>
            <a:r>
              <a:rPr sz="919" b="0" dirty="0" err="1">
                <a:solidFill>
                  <a:srgbClr val="C8D6DF"/>
                </a:solidFill>
                <a:latin typeface="Consolas"/>
              </a:rPr>
              <a:t>감속</a:t>
            </a:r>
            <a:r>
              <a:rPr sz="919" b="0" dirty="0">
                <a:solidFill>
                  <a:srgbClr val="C8D6DF"/>
                </a:solidFill>
                <a:latin typeface="Consolas"/>
              </a:rPr>
              <a:t> (P=0)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0" dirty="0">
                <a:solidFill>
                  <a:srgbClr val="27AE60"/>
                </a:solidFill>
                <a:latin typeface="Consolas"/>
              </a:rPr>
              <a:t>09:29:47 10620     0     0      0  A  </a:t>
            </a:r>
            <a:r>
              <a:rPr sz="919" b="0" dirty="0" err="1">
                <a:solidFill>
                  <a:srgbClr val="27AE60"/>
                </a:solidFill>
                <a:latin typeface="Consolas"/>
              </a:rPr>
              <a:t>도착</a:t>
            </a:r>
            <a:r>
              <a:rPr sz="919" b="0" dirty="0">
                <a:solidFill>
                  <a:srgbClr val="27AE60"/>
                </a:solidFill>
                <a:latin typeface="Consolas"/>
              </a:rPr>
              <a:t> → TP </a:t>
            </a:r>
            <a:r>
              <a:rPr sz="919" b="0" dirty="0" err="1">
                <a:solidFill>
                  <a:srgbClr val="27AE60"/>
                </a:solidFill>
                <a:latin typeface="Consolas"/>
              </a:rPr>
              <a:t>빠짐</a:t>
            </a:r>
            <a:endParaRPr sz="919" b="0" dirty="0">
              <a:solidFill>
                <a:srgbClr val="27AE60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0" dirty="0">
                <a:solidFill>
                  <a:srgbClr val="C8D6DF"/>
                </a:solidFill>
                <a:latin typeface="Consolas"/>
              </a:rPr>
              <a:t>09:29:49 10620     0     0      0  L  </a:t>
            </a:r>
            <a:r>
              <a:rPr sz="919" b="0" dirty="0" err="1">
                <a:solidFill>
                  <a:srgbClr val="C8D6DF"/>
                </a:solidFill>
                <a:latin typeface="Consolas"/>
              </a:rPr>
              <a:t>적재</a:t>
            </a:r>
            <a:r>
              <a:rPr sz="919" b="0" dirty="0">
                <a:solidFill>
                  <a:srgbClr val="C8D6DF"/>
                </a:solidFill>
                <a:latin typeface="Consolas"/>
              </a:rPr>
              <a:t> </a:t>
            </a:r>
            <a:r>
              <a:rPr sz="919" b="0" dirty="0" err="1">
                <a:solidFill>
                  <a:srgbClr val="C8D6DF"/>
                </a:solidFill>
                <a:latin typeface="Consolas"/>
              </a:rPr>
              <a:t>시작</a:t>
            </a:r>
            <a:endParaRPr sz="919" b="0" dirty="0">
              <a:solidFill>
                <a:srgbClr val="C8D6DF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0" dirty="0">
                <a:solidFill>
                  <a:srgbClr val="C8D6DF"/>
                </a:solidFill>
                <a:latin typeface="Consolas"/>
              </a:rPr>
              <a:t>09:30:12 10620     0     0      0  O  </a:t>
            </a:r>
            <a:r>
              <a:rPr sz="919" b="0" dirty="0" err="1">
                <a:solidFill>
                  <a:srgbClr val="C8D6DF"/>
                </a:solidFill>
                <a:latin typeface="Consolas"/>
              </a:rPr>
              <a:t>적재</a:t>
            </a:r>
            <a:r>
              <a:rPr sz="919" b="0" dirty="0">
                <a:solidFill>
                  <a:srgbClr val="C8D6DF"/>
                </a:solidFill>
                <a:latin typeface="Consolas"/>
              </a:rPr>
              <a:t> </a:t>
            </a:r>
            <a:r>
              <a:rPr sz="919" b="0" dirty="0" err="1">
                <a:solidFill>
                  <a:srgbClr val="C8D6DF"/>
                </a:solidFill>
                <a:latin typeface="Consolas"/>
              </a:rPr>
              <a:t>완료</a:t>
            </a:r>
            <a:endParaRPr sz="919" b="0" dirty="0">
              <a:solidFill>
                <a:srgbClr val="C8D6DF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0" dirty="0">
                <a:solidFill>
                  <a:srgbClr val="F5A623"/>
                </a:solidFill>
                <a:latin typeface="Consolas"/>
              </a:rPr>
              <a:t>09:30:14 10620  1276  1270   1283  G  새 </a:t>
            </a:r>
            <a:r>
              <a:rPr sz="919" b="0" dirty="0" err="1">
                <a:solidFill>
                  <a:srgbClr val="F5A623"/>
                </a:solidFill>
                <a:latin typeface="Consolas"/>
              </a:rPr>
              <a:t>오더</a:t>
            </a:r>
            <a:r>
              <a:rPr sz="919" b="0" dirty="0">
                <a:solidFill>
                  <a:srgbClr val="F5A623"/>
                </a:solidFill>
                <a:latin typeface="Consolas"/>
              </a:rPr>
              <a:t> → 4개 </a:t>
            </a:r>
            <a:r>
              <a:rPr sz="919" b="0" dirty="0" err="1">
                <a:solidFill>
                  <a:srgbClr val="F5A623"/>
                </a:solidFill>
                <a:latin typeface="Consolas"/>
              </a:rPr>
              <a:t>다시</a:t>
            </a:r>
            <a:r>
              <a:rPr sz="919" b="0" dirty="0">
                <a:solidFill>
                  <a:srgbClr val="F5A623"/>
                </a:solidFill>
                <a:latin typeface="Consolas"/>
              </a:rPr>
              <a:t> </a:t>
            </a:r>
            <a:r>
              <a:rPr sz="919" b="0" dirty="0" err="1">
                <a:solidFill>
                  <a:srgbClr val="F5A623"/>
                </a:solidFill>
                <a:latin typeface="Consolas"/>
              </a:rPr>
              <a:t>채워짐</a:t>
            </a:r>
            <a:endParaRPr sz="919" b="0" dirty="0">
              <a:solidFill>
                <a:srgbClr val="F5A623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0" dirty="0">
                <a:solidFill>
                  <a:srgbClr val="C8D6DF"/>
                </a:solidFill>
                <a:latin typeface="Consolas"/>
              </a:rPr>
              <a:t>09:30:17  1271  1276  1275   1248  G  </a:t>
            </a:r>
            <a:r>
              <a:rPr sz="919" b="0" dirty="0" err="1">
                <a:solidFill>
                  <a:srgbClr val="C8D6DF"/>
                </a:solidFill>
                <a:latin typeface="Consolas"/>
              </a:rPr>
              <a:t>주행</a:t>
            </a:r>
            <a:r>
              <a:rPr sz="919" b="0" dirty="0">
                <a:solidFill>
                  <a:srgbClr val="C8D6DF"/>
                </a:solidFill>
                <a:latin typeface="Consolas"/>
              </a:rPr>
              <a:t> </a:t>
            </a:r>
            <a:r>
              <a:rPr sz="919" b="0" dirty="0" err="1">
                <a:solidFill>
                  <a:srgbClr val="C8D6DF"/>
                </a:solidFill>
                <a:latin typeface="Consolas"/>
              </a:rPr>
              <a:t>재개</a:t>
            </a:r>
            <a:endParaRPr sz="919" b="0" dirty="0">
              <a:solidFill>
                <a:srgbClr val="C8D6DF"/>
              </a:solidFill>
              <a:latin typeface="Consola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3657600"/>
            <a:ext cx="4956048" cy="1572768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" y="380390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D48806"/>
                </a:solidFill>
                <a:latin typeface="맑은 고딕"/>
              </a:rPr>
              <a:t>현장에서 확정된 규칙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114800"/>
            <a:ext cx="4572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2232E"/>
                </a:solidFill>
                <a:latin typeface="맑은 고딕"/>
              </a:rPr>
              <a:t>· TP 는 수행 중인 오더의 목적지
  → TP=0 은 "지시 없음" (다음 오더 대기)
· DP·ST 는 분기를 지날 때마다 다음 분기로
  갱신되고, 남은 분기가 없으면 0
· 도착 순간 TP 가 빠지고 S 가 A 로 바뀐다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42432" y="4224528"/>
            <a:ext cx="5888736" cy="100584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43434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맑은 고딕"/>
              </a:rPr>
              <a:t>대괄호 3번째(BP)는 이 사이트에서 쓰지 않는다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645152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4개 날짜 · 12개 시간대 · 상태보고 663,925건을 전수 검사한 결과
3번째 값이 0 이 아닌 건은 0 건. 경로변경 분기는 ST= 로 올라온다.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76672"/>
            <a:ext cx="11064240" cy="859536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5495544"/>
            <a:ext cx="10735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핵심 4개(JOB·TP·DP·ST)가 채워졌다 빠지는 주기가 곧 오더 한 건이다.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06440"/>
            <a:ext cx="10735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차량이 멈춰 있으면 마지막 줄의 TP 부터 본다 — TP=0 이면 지시가 없는 것이고, 값이 있으면 가는 중인데 못 가는 것이다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Comm ③  S= 주행 상태와 명령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사양서가 상태 문자와 CMD 코드를 정의해 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481328" cy="100584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91056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12232E"/>
                </a:solidFill>
                <a:latin typeface="Consolas"/>
              </a:rPr>
              <a:t>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2232E"/>
                </a:solidFill>
                <a:latin typeface="맑은 고딕"/>
              </a:rPr>
              <a:t>주행중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22576" y="1847088"/>
            <a:ext cx="310896" cy="219456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651760" y="1463040"/>
            <a:ext cx="1481328" cy="100584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0" y="1591056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12232E"/>
                </a:solidFill>
                <a:latin typeface="Consola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048256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2232E"/>
                </a:solidFill>
                <a:latin typeface="맑은 고딕"/>
              </a:rPr>
              <a:t>정위치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51376" y="1847088"/>
            <a:ext cx="310896" cy="219456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80560" y="1463040"/>
            <a:ext cx="1481328" cy="100584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591056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5A623"/>
                </a:solidFill>
                <a:latin typeface="Consolas"/>
              </a:rPr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48256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적재중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80176" y="1847088"/>
            <a:ext cx="310896" cy="219456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09360" y="1463040"/>
            <a:ext cx="1481328" cy="100584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591056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5A623"/>
                </a:solidFill>
                <a:latin typeface="Consolas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048256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적재완료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08976" y="1847088"/>
            <a:ext cx="310896" cy="219456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38160" y="1463040"/>
            <a:ext cx="1481328" cy="100584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1591056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5A623"/>
                </a:solidFill>
                <a:latin typeface="Consolas"/>
              </a:rPr>
              <a:t>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048256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하역중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637776" y="1847088"/>
            <a:ext cx="310896" cy="219456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966960" y="1463040"/>
            <a:ext cx="1481328" cy="100584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66960" y="1591056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5A623"/>
                </a:solidFill>
                <a:latin typeface="Consolas"/>
              </a:rPr>
              <a:t>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048256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하역완료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57860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B85"/>
                </a:solidFill>
                <a:latin typeface="맑은 고딕"/>
              </a:rPr>
              <a:t>정상 이적재 한 사이클  ·  마지막 N 이후 다시 G 로 돌아간다  ·  중간에서 멈추면 그 단계가 고장 지점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01752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C5364"/>
                </a:solidFill>
                <a:latin typeface="맑은 고딕"/>
              </a:rPr>
              <a:t>나머지 상태 문자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34670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10512" y="3346704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초기상태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63016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10512" y="3630168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정지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91363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0512" y="3913632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에러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19709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B / 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10512" y="4197096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업데이트중 / 완료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448056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Q / 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10512" y="4480560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스캔중 / 완료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1928" y="301752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C5364"/>
                </a:solidFill>
                <a:latin typeface="맑은 고딕"/>
              </a:rPr>
              <a:t>명령 코드 (사양서 CMD)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334670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25512" y="3346704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MOVE — 이동 지령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81928" y="363016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2A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25512" y="3630168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MOVE-M — 목적지 연장 이동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81928" y="391363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25512" y="3913632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ROUTE-CHANGE — 경로 변경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1928" y="419709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13 / 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25512" y="4197096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PAUSE / RESUME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81928" y="448056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21 / 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25512" y="4480560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FROM / TO — 적재 / 하역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484632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6384" y="4974336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C5364"/>
                </a:solidFill>
                <a:latin typeface="맑은 고딕"/>
              </a:rPr>
              <a:t>COOE 응답 코드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" y="5266944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2232E"/>
                </a:solidFill>
                <a:latin typeface="맑은 고딕"/>
              </a:rPr>
              <a:t>0 성공   ·   1 수행 불가   ·   2 UnknownHeader   ·   3 UnknownCMD   ·   4 차량번호 불일치   ·   5 사이즈 이상   ·   6 위치값 이상
[S:11] 을 보냈는데 [R:11] MOVE-REPLY 가 없으면 차량이 명령을 수신하지 못한 것이다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594360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86384" y="60716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실무 최우선 신호 :  S=G 인데 P=0 지속 (주행 지령은 받았는데 못 움직임)   ·   S=L 또는 U 에서 정체 (이적재 PIO 미완료)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CommT  ·  CommException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CoreForm · OHT ↔ 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CommT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차량 통신 타임아웃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75104"/>
            <a:ext cx="5440680" cy="2176272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5148072" cy="1920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dirty="0">
                <a:solidFill>
                  <a:srgbClr val="C8D6DF"/>
                </a:solidFill>
                <a:latin typeface="Consolas"/>
              </a:rPr>
              <a:t>09:30:48.104, U. 51 </a:t>
            </a:r>
            <a:r>
              <a:rPr sz="850" b="0" dirty="0" err="1">
                <a:solidFill>
                  <a:srgbClr val="C8D6DF"/>
                </a:solidFill>
                <a:latin typeface="Consolas"/>
              </a:rPr>
              <a:t>TimeOut</a:t>
            </a:r>
            <a:r>
              <a:rPr sz="850" b="0" dirty="0">
                <a:solidFill>
                  <a:srgbClr val="C8D6DF"/>
                </a:solidFill>
                <a:latin typeface="Consolas"/>
              </a:rPr>
              <a:t>, M=A, S=G, PNT=1102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dirty="0">
                <a:solidFill>
                  <a:srgbClr val="C8D6DF"/>
                </a:solidFill>
                <a:latin typeface="Consolas"/>
              </a:rPr>
              <a:t>09:30:48.901, U. 78 </a:t>
            </a:r>
            <a:r>
              <a:rPr sz="850" b="0" dirty="0" err="1">
                <a:solidFill>
                  <a:srgbClr val="C8D6DF"/>
                </a:solidFill>
                <a:latin typeface="Consolas"/>
              </a:rPr>
              <a:t>TimeOut</a:t>
            </a:r>
            <a:r>
              <a:rPr sz="850" b="0" dirty="0">
                <a:solidFill>
                  <a:srgbClr val="C8D6DF"/>
                </a:solidFill>
                <a:latin typeface="Consolas"/>
              </a:rPr>
              <a:t>, M=A, S=G, PNT=1018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dirty="0">
                <a:solidFill>
                  <a:srgbClr val="C8D6DF"/>
                </a:solidFill>
                <a:latin typeface="Consolas"/>
              </a:rPr>
              <a:t>09:30:53.853, U. 86 </a:t>
            </a:r>
            <a:r>
              <a:rPr sz="850" b="0" dirty="0" err="1">
                <a:solidFill>
                  <a:srgbClr val="C8D6DF"/>
                </a:solidFill>
                <a:latin typeface="Consolas"/>
              </a:rPr>
              <a:t>TimeOut</a:t>
            </a:r>
            <a:r>
              <a:rPr sz="850" b="0" dirty="0">
                <a:solidFill>
                  <a:srgbClr val="C8D6DF"/>
                </a:solidFill>
                <a:latin typeface="Consolas"/>
              </a:rPr>
              <a:t>, M=A, S=G, PNT=1238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dirty="0">
                <a:solidFill>
                  <a:srgbClr val="C8D6DF"/>
                </a:solidFill>
                <a:latin typeface="Consolas"/>
              </a:rPr>
              <a:t>09:31:01.335, U. 54 </a:t>
            </a:r>
            <a:r>
              <a:rPr sz="850" b="0" dirty="0" err="1">
                <a:solidFill>
                  <a:srgbClr val="C8D6DF"/>
                </a:solidFill>
                <a:latin typeface="Consolas"/>
              </a:rPr>
              <a:t>TimeOut</a:t>
            </a:r>
            <a:r>
              <a:rPr sz="850" b="0" dirty="0">
                <a:solidFill>
                  <a:srgbClr val="C8D6DF"/>
                </a:solidFill>
                <a:latin typeface="Consolas"/>
              </a:rPr>
              <a:t>, M=A, S=G, PNT=1103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dirty="0">
                <a:solidFill>
                  <a:srgbClr val="C8D6DF"/>
                </a:solidFill>
                <a:latin typeface="Consolas"/>
              </a:rPr>
              <a:t>09:31:06.303, U.112 </a:t>
            </a:r>
            <a:r>
              <a:rPr sz="850" b="0" dirty="0" err="1">
                <a:solidFill>
                  <a:srgbClr val="C8D6DF"/>
                </a:solidFill>
                <a:latin typeface="Consolas"/>
              </a:rPr>
              <a:t>TimeOut</a:t>
            </a:r>
            <a:r>
              <a:rPr sz="850" b="0" dirty="0">
                <a:solidFill>
                  <a:srgbClr val="C8D6DF"/>
                </a:solidFill>
                <a:latin typeface="Consolas"/>
              </a:rPr>
              <a:t>, M=A, S=G, PNT=1413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dirty="0">
                <a:solidFill>
                  <a:srgbClr val="C8D6DF"/>
                </a:solidFill>
                <a:latin typeface="Consolas"/>
              </a:rPr>
              <a:t>09:31:07.740, U. 61 </a:t>
            </a:r>
            <a:r>
              <a:rPr sz="850" b="0" dirty="0" err="1">
                <a:solidFill>
                  <a:srgbClr val="C8D6DF"/>
                </a:solidFill>
                <a:latin typeface="Consolas"/>
              </a:rPr>
              <a:t>TimeOut</a:t>
            </a:r>
            <a:r>
              <a:rPr sz="850" b="0" dirty="0">
                <a:solidFill>
                  <a:srgbClr val="C8D6DF"/>
                </a:solidFill>
                <a:latin typeface="Consolas"/>
              </a:rPr>
              <a:t>, M=A, S=G, PNT=1229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dirty="0">
                <a:solidFill>
                  <a:srgbClr val="F5A623"/>
                </a:solidFill>
                <a:latin typeface="Consolas"/>
              </a:rPr>
              <a:t>09:31:12.879, U. 86 </a:t>
            </a:r>
            <a:r>
              <a:rPr sz="850" b="0" dirty="0" err="1">
                <a:solidFill>
                  <a:srgbClr val="F5A623"/>
                </a:solidFill>
                <a:latin typeface="Consolas"/>
              </a:rPr>
              <a:t>TimeOut</a:t>
            </a:r>
            <a:r>
              <a:rPr sz="850" b="0" dirty="0">
                <a:solidFill>
                  <a:srgbClr val="F5A623"/>
                </a:solidFill>
                <a:latin typeface="Consolas"/>
              </a:rPr>
              <a:t>, M=A, S=G, PNT=1030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dirty="0">
                <a:solidFill>
                  <a:srgbClr val="F5A623"/>
                </a:solidFill>
                <a:latin typeface="Consolas"/>
              </a:rPr>
              <a:t>09:31:17.331, U. 61 </a:t>
            </a:r>
            <a:r>
              <a:rPr sz="850" b="0" dirty="0" err="1">
                <a:solidFill>
                  <a:srgbClr val="F5A623"/>
                </a:solidFill>
                <a:latin typeface="Consolas"/>
              </a:rPr>
              <a:t>TimeOut</a:t>
            </a:r>
            <a:r>
              <a:rPr sz="850" b="0" dirty="0">
                <a:solidFill>
                  <a:srgbClr val="F5A623"/>
                </a:solidFill>
                <a:latin typeface="Consolas"/>
              </a:rPr>
              <a:t>, M=A, S=G, PNT=1238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dirty="0">
                <a:solidFill>
                  <a:srgbClr val="C8D6DF"/>
                </a:solidFill>
                <a:latin typeface="Consolas"/>
              </a:rPr>
              <a:t>09:31:21.346, U. 89 </a:t>
            </a:r>
            <a:r>
              <a:rPr sz="850" b="0" dirty="0" err="1">
                <a:solidFill>
                  <a:srgbClr val="C8D6DF"/>
                </a:solidFill>
                <a:latin typeface="Consolas"/>
              </a:rPr>
              <a:t>TimeOut</a:t>
            </a:r>
            <a:r>
              <a:rPr sz="850" b="0" dirty="0">
                <a:solidFill>
                  <a:srgbClr val="C8D6DF"/>
                </a:solidFill>
                <a:latin typeface="Consolas"/>
              </a:rPr>
              <a:t>, M=A, S=G, PNT=1266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dirty="0">
                <a:solidFill>
                  <a:srgbClr val="C8D6DF"/>
                </a:solidFill>
                <a:latin typeface="Consolas"/>
              </a:rPr>
              <a:t>09:31:26.782, U. 75 </a:t>
            </a:r>
            <a:r>
              <a:rPr sz="850" b="0" dirty="0" err="1">
                <a:solidFill>
                  <a:srgbClr val="C8D6DF"/>
                </a:solidFill>
                <a:latin typeface="Consolas"/>
              </a:rPr>
              <a:t>TimeOut</a:t>
            </a:r>
            <a:r>
              <a:rPr sz="850" b="0" dirty="0">
                <a:solidFill>
                  <a:srgbClr val="C8D6DF"/>
                </a:solidFill>
                <a:latin typeface="Consolas"/>
              </a:rPr>
              <a:t>, M=A, S=G, PNT=1311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79392"/>
            <a:ext cx="5440680" cy="1389888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398264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차량 응답이 제 시간에 오지 않은 건만 뽑아 기록.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82312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무선 품질 점검. 실측 정상 = 1시간 491건, 차량당 18~24건 고르게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5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0392B"/>
                </a:solidFill>
                <a:latin typeface="맑은 고딕"/>
              </a:rPr>
              <a:t>추정  </a:t>
            </a:r>
            <a:r>
              <a:rPr sz="1000" b="0">
                <a:solidFill>
                  <a:srgbClr val="6B7B85"/>
                </a:solidFill>
                <a:latin typeface="맑은 고딕"/>
              </a:rPr>
              <a:t>PNT 가 특정 구간에 몰리면 그 구간 전파 음영으로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815583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M= / S=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5815583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타임아웃 당시 모드 / 주행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099047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PNT=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56232" y="6099047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타임아웃 당시 차량 위치 바코드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CommException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5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통신 계층 .NET 예외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1975104"/>
            <a:ext cx="5440680" cy="2176272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2103120"/>
            <a:ext cx="5148072" cy="1920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C8D6DF"/>
                </a:solidFill>
                <a:latin typeface="Consolas"/>
              </a:rPr>
              <a:t>10:26:44.709, Cannot access a disposed object.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C8D6DF"/>
                </a:solidFill>
                <a:latin typeface="Consolas"/>
              </a:rPr>
              <a:t>Object name: 'System.Net.Sockets.Socket'.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C8D6DF"/>
                </a:solidFill>
                <a:latin typeface="Consolas"/>
              </a:rPr>
              <a:t>10:26:44.709, System.Private.CoreLib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C8D6DF"/>
                </a:solidFill>
                <a:latin typeface="Consolas"/>
              </a:rPr>
              <a:t>10:26:44.709,    at System.Net.Sockets.Socket.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C8D6DF"/>
                </a:solidFill>
                <a:latin typeface="Consolas"/>
              </a:rPr>
              <a:t>       Shutdown(SocketShutdown how)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F5A623"/>
                </a:solidFill>
                <a:latin typeface="Consolas"/>
              </a:rPr>
              <a:t>   at DNLibUdpSocket.AsyncUdpSocketClient.Close()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C8D6DF"/>
                </a:solidFill>
                <a:latin typeface="Consolas"/>
              </a:rPr>
              <a:t>10:37:34.422, Cannot access a disposed object.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C8D6DF"/>
                </a:solidFill>
                <a:latin typeface="Consolas"/>
              </a:rPr>
              <a:t>Object name: 'System.Net.Sockets.Socket'.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C8D6DF"/>
                </a:solidFill>
                <a:latin typeface="Consolas"/>
              </a:rPr>
              <a:t>10:42:03.589, Cannot access a disposed object.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C8D6DF"/>
                </a:solidFill>
                <a:latin typeface="Consolas"/>
              </a:rPr>
              <a:t>Object name: 'System.Net.Sockets.Socket'.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4279392"/>
            <a:ext cx="5440680" cy="1389888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79" y="4398264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통신 소켓 정리 과정에서 발생한 예외와 스택.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4782312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용량이 갑자기 커지면 재접속 폭증 신호. 하루 2KB 수준이 정상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516635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dirty="0" err="1">
                <a:solidFill>
                  <a:srgbClr val="C0392B"/>
                </a:solidFill>
                <a:latin typeface="맑은 고딕"/>
              </a:rPr>
              <a:t>추정</a:t>
            </a:r>
            <a:r>
              <a:rPr sz="1000" b="1" dirty="0">
                <a:solidFill>
                  <a:srgbClr val="C0392B"/>
                </a:solidFill>
                <a:latin typeface="맑은 고딕"/>
              </a:rPr>
              <a:t> 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해제된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소켓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접근은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연결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종료의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부수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예외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—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원인이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아닌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결과</a:t>
            </a:r>
            <a:endParaRPr sz="1000" b="0" dirty="0">
              <a:solidFill>
                <a:srgbClr val="6B7B85"/>
              </a:solidFill>
              <a:latin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36207" y="5815583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다중 라인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5815583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1건이 4~5줄. 건수는 타임스탬프 줄만 센다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Event  ·  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CoreForm · 서버 상태와 네트워크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 err="1">
                <a:solidFill>
                  <a:srgbClr val="D48806"/>
                </a:solidFill>
                <a:latin typeface="맑은 고딕"/>
              </a:rPr>
              <a:t>서버</a:t>
            </a:r>
            <a:r>
              <a:rPr sz="950" b="0" dirty="0">
                <a:solidFill>
                  <a:srgbClr val="D48806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D48806"/>
                </a:solidFill>
                <a:latin typeface="맑은 고딕"/>
              </a:rPr>
              <a:t>리소스</a:t>
            </a:r>
            <a:r>
              <a:rPr sz="950" b="0" dirty="0">
                <a:solidFill>
                  <a:srgbClr val="D48806"/>
                </a:solidFill>
                <a:latin typeface="맑은 고딕"/>
              </a:rPr>
              <a:t> (3초 </a:t>
            </a:r>
            <a:r>
              <a:rPr sz="950" b="0" dirty="0" err="1">
                <a:solidFill>
                  <a:srgbClr val="D48806"/>
                </a:solidFill>
                <a:latin typeface="맑은 고딕"/>
              </a:rPr>
              <a:t>주기</a:t>
            </a:r>
            <a:r>
              <a:rPr sz="950" b="0" dirty="0">
                <a:solidFill>
                  <a:srgbClr val="D48806"/>
                </a:solidFill>
                <a:latin typeface="맑은 고딕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09:29:57.336, [CPU: 0.0/ 0.2] [RAM:2280M/59.8%]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               [DB:  0] [HQ:  0] [PQ:  0]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09:30:00.435, [CPU: 0.0/ 0.6] [RAM:2280M/59.8%] ...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09:30:03.528, [CPU: 0.1/ 1.0] [RAM:2280M/59.8%] ...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09:30:06.620, [CPU: 0.0/ 0.0] [RAM:2280M/59.8%] ...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09:30:09.714, [CPU: 0.1/ 0.6] [RAM:2280M/59.8%] ...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09:30:12.806, [CPU: 0.0/ 0.0] [RAM:2280M/59.8%] ...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F5A623"/>
                </a:solidFill>
                <a:latin typeface="Consolas"/>
              </a:rPr>
              <a:t>09:30:34.459, [CPU: 0.1/ 1.8] [RAM:2280M/59.8%]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858768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3초 주기로 서버 리소스와 3종 큐를 기록.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서버가 느릴 때. 실측 정상 = CPU 0~0.1%, RAM 2,280M/59.8% 고정, 큐 전부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01091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6232" y="501091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Core 사용률 / 시스템 전체 (%)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29437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2" y="5294376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Core 사용량(MB) / 시스템 전체(%)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57784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DB/HQ/PQ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557784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DB · Host · PLC 큐 대기 건수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>
                <a:solidFill>
                  <a:srgbClr val="D48806"/>
                </a:solidFill>
                <a:latin typeface="맑은 고딕"/>
              </a:rPr>
              <a:t>전 </a:t>
            </a:r>
            <a:r>
              <a:rPr sz="950" b="0" dirty="0" err="1">
                <a:solidFill>
                  <a:srgbClr val="D48806"/>
                </a:solidFill>
                <a:latin typeface="맑은 고딕"/>
              </a:rPr>
              <a:t>노드</a:t>
            </a:r>
            <a:r>
              <a:rPr sz="950" b="0" dirty="0">
                <a:solidFill>
                  <a:srgbClr val="D48806"/>
                </a:solidFill>
                <a:latin typeface="맑은 고딕"/>
              </a:rPr>
              <a:t> ICMP </a:t>
            </a:r>
            <a:r>
              <a:rPr sz="950" b="0" dirty="0" err="1">
                <a:solidFill>
                  <a:srgbClr val="D48806"/>
                </a:solidFill>
                <a:latin typeface="맑은 고딕"/>
              </a:rPr>
              <a:t>응답</a:t>
            </a:r>
            <a:endParaRPr sz="950" b="0" dirty="0">
              <a:solidFill>
                <a:srgbClr val="D48806"/>
              </a:solidFill>
              <a:latin typeface="맑은 고딕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9048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09:00:43.817, No.61,IP=10.1.0.61,Byte=32,Time=14,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              Status=Success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09:00:43.818, No.153,IP=10.1.1.53,...,Time=14,Success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09:00:43.822, No.155,IP=10.1.1.55,...,Time=19,Success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F5A623"/>
                </a:solidFill>
                <a:latin typeface="Consolas"/>
              </a:rPr>
              <a:t>09:00:43.835, No.50,IP=10.1.0.50,...,Time=31,Success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F5A623"/>
                </a:solidFill>
                <a:latin typeface="Consolas"/>
              </a:rPr>
              <a:t>09:00:43.835, No.150,IP=10.1.1.50,...,Time=32,Success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09:00:43.868, No.60,IP=10.1.0.60,...,Time=65,Success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09:00:44.320, No.73,IP=10.1.0.73,...,Time=1,Success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858768"/>
            <a:ext cx="5440680" cy="1389888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79" y="397763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차량 2채널과 주변 설비 IP 에 대한 주기적 ICMP 결과.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네트워크 물리 연결 확인. 실측 정상 = 성공률 99.87%, 평균 14.1ms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4745736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0392B"/>
                </a:solidFill>
                <a:latin typeface="맑은 고딕"/>
              </a:rPr>
              <a:t>추정  </a:t>
            </a:r>
            <a:r>
              <a:rPr sz="1000" b="0">
                <a:solidFill>
                  <a:srgbClr val="6B7B85"/>
                </a:solidFill>
                <a:latin typeface="맑은 고딕"/>
              </a:rPr>
              <a:t>No.50 과 No.150 은 같은 차량의 두 채널 — 한쪽만 죽으면 이중화만 깨진다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7" y="539496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10.1.0.NN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539496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차량 NN 채널1  (No.NN)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7" y="567842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10.1.1.NN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5678424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차량 NN 채널2  (No.1NN)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7" y="596188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Time /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5961888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응답 ms / Success·TimedOut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PntOccupy — 정션 하나를 통째로 읽는다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CoreForm · OHT ↔ OCS  |  JCR 1030, 09:01 현장 로그 : 세 차량이 순서대로 통과하는 15초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1064240" cy="2084832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499616"/>
            <a:ext cx="1077163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F5A623"/>
                </a:solidFill>
                <a:latin typeface="Consolas"/>
              </a:rPr>
              <a:t>09:01:02.872  U. 81  JCR-OCCU   -&gt;&gt;  Confirm    U.81 이 JCR 1030 선점 (1292→1427 방향)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C0392B"/>
                </a:solidFill>
                <a:latin typeface="Consolas"/>
              </a:rPr>
              <a:t>09:01:02.874  U. 83  JCR-OCCU   -&gt;&gt;  Deny       2ms 뒤 반대편(1426→1293)에서 요청 → 거부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C8D6DF"/>
                </a:solidFill>
                <a:latin typeface="Consolas"/>
              </a:rPr>
              <a:t>09:01:03.073  U. 83  JCR-OCCU   -&gt;&gt;  Deny       약 200ms 간격으로 재시도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C8D6DF"/>
                </a:solidFill>
                <a:latin typeface="Consolas"/>
              </a:rPr>
              <a:t>09:01:03.272  U. 83  JCR-OCCU   -&gt;&gt;  Deny       (8초간 약 40회 반복)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F5A623"/>
                </a:solidFill>
                <a:latin typeface="Consolas"/>
              </a:rPr>
              <a:t>09:01:10.626  U. 81  NONE-RELE  -&gt;&gt;  Confirm    U.81 통과 완료 — 점유 해제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27AE60"/>
                </a:solidFill>
                <a:latin typeface="Consolas"/>
              </a:rPr>
              <a:t>09:01:10.786  U. 83  JCR-OCCU   -&gt;&gt;  Confirm    0.16초 뒤 U.83 승인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C8D6DF"/>
                </a:solidFill>
                <a:latin typeface="Consolas"/>
              </a:rPr>
              <a:t>09:01:17.806  U. 83  NONE-RELE  -&gt;&gt;  Confirm    U.83 통과 완료 — 해제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C8D6DF"/>
                </a:solidFill>
                <a:latin typeface="Consolas"/>
              </a:rPr>
              <a:t>09:01:17.903  U.111  JCR-OCCU   -&gt;&gt;  Confirm    다음 차량이 곧바로 진입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29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C5364"/>
                </a:solidFill>
                <a:latin typeface="맑은 고딕"/>
              </a:rPr>
              <a:t>필드 (원문 형식)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30752"/>
            <a:ext cx="5486400" cy="640080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3858768"/>
            <a:ext cx="5193792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C8D6DF"/>
                </a:solidFill>
                <a:latin typeface="Consolas"/>
              </a:rPr>
              <a:t>UID=993B, &lt;&lt;-, U. 83, PNT=[1426,1293,1427],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C8D6DF"/>
                </a:solidFill>
                <a:latin typeface="Consolas"/>
              </a:rPr>
              <a:t>  CMD=JCR-OCCU, TY=JCR, JCR=1030, DR=0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9768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UID=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4297680"/>
            <a:ext cx="41879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요청/응답 매칭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58114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&lt;&lt;- / -&gt;&gt;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4581144"/>
            <a:ext cx="41879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차량→OCS 요청 / OCS→차량 응답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6460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PNT=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4864608"/>
            <a:ext cx="41879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합류 진입 전 / 합류 / 추가 점유 바코드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14807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CMD=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5148072"/>
            <a:ext cx="41879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JCR-OCCU 점유 요청 · NONE-RELE 해제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43153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RESULT=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431536"/>
            <a:ext cx="41879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Confirm 승인 · Deny 거부 · AlreadyConfirm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71500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JCR= / DR=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0512" y="5715000"/>
            <a:ext cx="41879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합류부 번호 / 도어 번호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3730752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849624"/>
            <a:ext cx="502005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합류부(JCR)·도어 점유권 요청과 승인/거부 이력.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33672"/>
            <a:ext cx="502005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정션 앞에서 차량이 막힐 때. JCR 번호 하나로 필터하면 통과 순서가 그대로 보인다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1928" y="502920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83096" y="515721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맑은 고딕"/>
              </a:rPr>
              <a:t>판정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5449824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· Deny 반복 시간 = 앞차 통과 시간 (정상)
· 실측 1시간 : Deny 23,716 / Confirm 10,723
· 해제 없이 Confirm 지속 → 점유 고착, 뒤차 전부 막힘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Order — 반송 지시 생애주기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CoreForm · 지시 한 건이 처리되는 전 과정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1064240" cy="1481327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499616"/>
            <a:ext cx="10771632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F5A623"/>
                </a:solidFill>
                <a:latin typeface="Consolas"/>
              </a:rPr>
              <a:t>08-03 09:08:23.783, [N. 40624628] U. 62, HomeOrder Event Occured, Point=1157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C8D6DF"/>
                </a:solidFill>
                <a:latin typeface="Consolas"/>
              </a:rPr>
              <a:t>08-03 09:08:23.814, [N. 40624628] U. 62, Vehicle OrderEvent Received, EventNumber=823782, EventType=NEW_ORDER, OrderType=HomeOrder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C8D6DF"/>
                </a:solidFill>
                <a:latin typeface="Consolas"/>
              </a:rPr>
              <a:t>08-03 09:08:23.814, [N. 40624628] U. 62, NewOrder EventReceived, OrderType=HomeOrder, TargetPnt1=1157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C8D6DF"/>
                </a:solidFill>
                <a:latin typeface="Consolas"/>
              </a:rPr>
              <a:t>08-03 09:08:24.689, [N. 40624628] U. 62, Return#6, Step = WAIT_UNTIL_TARGET_REACHED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7EC8E3"/>
                </a:solidFill>
                <a:latin typeface="Consolas"/>
              </a:rPr>
              <a:t>08-03 09:08:26.611, [N.   735049] U. 79, Write PLC CstID = TPKD8688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27AE60"/>
                </a:solidFill>
                <a:latin typeface="Consolas"/>
              </a:rPr>
              <a:t>08-03 09:08:27.125, [N. 40817056] U. 81, OrderFinished, From=  0, To=  0, Finish=True, HandOverCnt=0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80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C5364"/>
                </a:solidFill>
                <a:latin typeface="맑은 고딕"/>
              </a:rPr>
              <a:t>정상 처리 5단계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3218688"/>
            <a:ext cx="256032" cy="25603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3246120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36976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2232E"/>
                </a:solidFill>
                <a:latin typeface="Consolas"/>
              </a:rPr>
              <a:t>Event Occured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3602736"/>
            <a:ext cx="256032" cy="25603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3630168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62102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2232E"/>
                </a:solidFill>
                <a:latin typeface="Consolas"/>
              </a:rPr>
              <a:t>OrderEvent Received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" y="3986784"/>
            <a:ext cx="256032" cy="25603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4014216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00507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2232E"/>
                </a:solidFill>
                <a:latin typeface="Consolas"/>
              </a:rPr>
              <a:t>NewOrder EventReceived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" y="4370832"/>
            <a:ext cx="256032" cy="25603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4398264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3891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2232E"/>
                </a:solidFill>
                <a:latin typeface="Consolas"/>
              </a:rPr>
              <a:t>WAIT_UNTIL_TARGET_REACHED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" y="4754880"/>
            <a:ext cx="256032" cy="25603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4782312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32E"/>
                </a:solidFill>
                <a:latin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77316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2232E"/>
                </a:solidFill>
                <a:latin typeface="Consolas"/>
              </a:rPr>
              <a:t>OrderFinished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321868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[N. nnnn]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3218688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작업번호 — Comm 의 JOB= 과 같은 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350215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OrderType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3502152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HomeOrder / FromToOrder / MoveOrder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3785615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EventType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2" y="3785615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NEW_ORDER / ORDER_DELETE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406908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TargetPnt1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512" y="4069080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목적지 포인트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435254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HandOverCnt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5512" y="4352544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인계 횟수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463600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Write PLC CstID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4636008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카세트 ID 를 PLC 에 기록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230368"/>
            <a:ext cx="11064240" cy="859536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5349240"/>
            <a:ext cx="10735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반송 지시의 발생부터 완료까지 각 단계를 작업번호별로 기록.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60136"/>
            <a:ext cx="10735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지시가 어디까지 처리됐는지 추적. [N. 번호] 로 grep 하면 5단계 중 어디서 끊겼는지 보인다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6263640"/>
            <a:ext cx="11064240" cy="384048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6384" y="63276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2232E"/>
                </a:solidFill>
                <a:latin typeface="맑은 고딕"/>
              </a:rPr>
              <a:t>Event Occured 에서 끝 → 배차 실패(SelectOrder·OrderNack)   |   WAIT 에서 멈춤 → 주행 정체(Comm·PntOccupy)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OrderNack  ·  OrderFail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CoreForm · 지시가 실패한 경우만 남는다 (드물게 나오므로 나오면 반드시 본다)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OrderNack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지시 거부와 사유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09:48:46.977, Type=ToOrder,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CstID=UNKNOWNSTOTA20100260803094846336444,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  Result=Call Prevented, VehicleNumber = 50,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  CmdID = 737278, EventNumber = 4846648, Trig=HOST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09:48:47.493, Type=ToOrder, ... Result=Call Prevented,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VehicleNumber = 50, CmdID = 737279, Trig=HOST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09:52:52.354, Type=FromOrder, CstID=TPK40673,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0392B"/>
                </a:solidFill>
                <a:latin typeface="Consolas"/>
              </a:rPr>
              <a:t>  Result=Cannot find Cassette ID, Trig=HOST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858768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지시를 받았으나 실행하지 않고 거부한 건과 그 사유.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dirty="0" err="1">
                <a:solidFill>
                  <a:srgbClr val="D48806"/>
                </a:solidFill>
                <a:latin typeface="맑은 고딕"/>
              </a:rPr>
              <a:t>확인</a:t>
            </a:r>
            <a:r>
              <a:rPr sz="1000" b="1" dirty="0">
                <a:solidFill>
                  <a:srgbClr val="D48806"/>
                </a:solidFill>
                <a:latin typeface="맑은 고딕"/>
              </a:rPr>
              <a:t>  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Host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지시가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실행되지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않을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때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가장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먼저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.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실측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정상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= 1시간 3건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01091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6232" y="501091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FromOrder 적재 / ToOrder 하역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29437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CstID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2" y="5294376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카세트 ID. UNKNOWN... 은 미인식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57784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557784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거부 사유 — 핵심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86130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CmdID·EventNumber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6232" y="5861304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MCSSystem 과 조인하는 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14476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Trig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56232" y="6144768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HOST(상위) / GT(수동)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OrderFail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5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지시 인계 실패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3679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08-02 20:08:09.038, [N.   731343] U.111,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0392B"/>
                </a:solidFill>
                <a:latin typeface="Consolas"/>
              </a:rPr>
              <a:t>  GetOrder with handOver fail=731342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endParaRPr sz="819" b="0">
              <a:solidFill>
                <a:srgbClr val="C0392B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08-03 17:53:40.725, [N.   737096] U. 86,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0392B"/>
                </a:solidFill>
                <a:latin typeface="Consolas"/>
              </a:rPr>
              <a:t>  GetOrder with handOver fail=737094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endParaRPr sz="819" b="0">
              <a:solidFill>
                <a:srgbClr val="C0392B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7EC8E3"/>
                </a:solidFill>
                <a:latin typeface="Consolas"/>
              </a:rPr>
              <a:t>※ 하루 종일 몇 건만 나오는 로그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7EC8E3"/>
                </a:solidFill>
                <a:latin typeface="Consolas"/>
              </a:rPr>
              <a:t>   파일 자체가 없는 시간대가 대부분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858768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79" y="397763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다른 차량으로부터 작업을 인계받으려다 실패한 건.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작업이 계속 떠돌 때. HandOver 로그에서 fail= 번호를 추적한다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501091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[N. nnnn]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501091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인계받으려던 작업번호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7" y="529437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fail=nnnn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5294376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인계원(源) 작업번호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SelectOrder  ·  HandOver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CoreForm · 배차와 인계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SelectOrder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배차 후보 평가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[#0] ToVeh, [N. 735080] &gt; U. 54, W= 28336,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     MW= 1518336, [ 1016,  0,  0]-&gt;[22112]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[#0] ToVeh, [N. 735080] &gt; U. 57, W= 28836, ...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[#0] ToVeh, [N. 735080] &gt; U. 61, W= 28274, ...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[#0] ToVeh, [N. 735080] &gt; U. 65, W= 16089, ...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27AE60"/>
                </a:solidFill>
                <a:latin typeface="Consolas"/>
              </a:rPr>
              <a:t>[#0] ToVeh, [N. 735080] &gt; U. 79, W= 12014, ...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[#0] ToVeh, [N. 735080] &gt; U. 86, W= 25840, ...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[#0] ToVeh, [N. 735080] &gt; U. 63, W= 59331,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858768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지시 하나에 대해 전 후보 차량의 배차 가중치를 계산한 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"왜 저 차량이 갔나" 에 답하는 로그. 위 예는 W=12014 인 U.79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01091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[N. nnnn]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6232" y="501091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배차 대상 작업번호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29437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W=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2" y="5294376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가중치 — 가장 작은 차량이 선택됨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57784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MW=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557784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보정 포함 최종 가중치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86130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[a,b,c]-&gt;[d]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6232" y="5861304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차량 현재위치 → 목적지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HandOver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5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작업 배정·인계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09:42:12.591, U. 65, [N.735211], ALLOCATE2,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 HO=[ 0], PRIO= 9, TOCNT=0, START=0,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09:42:22.714, U. 65, [N.735211],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   HANDOVER2-FIRSTORDER, HO=[ 1], PRIO= 9,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09:42:25.259, U. 67, [N.735211], ALLOCATE2,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 HO=[ 1], PRIO= 9, TOCNT=1, START=0,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09:42:34.163, U. 67, [N.735211],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   HANDOVER2-SECONDORDER, HO=[ 1], PRIO= 9,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858768"/>
            <a:ext cx="5440680" cy="1389888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79" y="397763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작업이 어느 차량에 배정되고 다른 차량으로 넘어가는 이력.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작업이 계속 넘어갈 때. 위 예 : 735211 이 U.65 → U.67 로 22초 만에 인계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4745736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0392B"/>
                </a:solidFill>
                <a:latin typeface="맑은 고딕"/>
              </a:rPr>
              <a:t>추정  </a:t>
            </a:r>
            <a:r>
              <a:rPr sz="1000" b="0">
                <a:solidFill>
                  <a:srgbClr val="6B7B85"/>
                </a:solidFill>
                <a:latin typeface="맑은 고딕"/>
              </a:rPr>
              <a:t>PRIO 값의 의미는 파라미터 설정에 따라 다를 수 있음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7" y="539496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ALLOCATE2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539496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차량에 작업 배정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7" y="567842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HANDOVER2-*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5678424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인계 발생 (FIRST/SECONDORDER)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7" y="596188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HO=[n]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5961888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인계 횟수 — 3 이상이면 떠도는 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7" y="624535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PRIO=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624535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우선순위 (9 높음 / 50 보통)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7" y="652881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TOCNT=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6528816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타임아웃 횟수 (추정)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MoveHistory  ·  HomeChange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CoreForm · 차량 실시간 위치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MoveHistory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포인트 통과 이력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09:03:56.911, U. 69 L Pnt= 1088, Seg=  87, Time=  874, #1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09:03:57.005, U. 51 L Pnt= 1401, Seg= 400, Time= 1780, #1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09:03:57.036, U.112 L Pnt= 1407, Seg= 406, Time=  874, #1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09:03:57.083, U. 72 L Pnt= 1357, Seg= 356, Time= 1913, #1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09:03:57.458, U. 65 L Pnt= 1238, Seg= 237, Time=  874, #1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0392B"/>
                </a:solidFill>
                <a:latin typeface="Consolas"/>
              </a:rPr>
              <a:t>09:03:57.505, U. 57 L Pnt= 1335, Seg= 334, Time= 7997, #1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09:03:57.786, U.114 L Pnt= 1344, Seg= 337, Time= 3561, #1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09:03:58.114, U. 72 L Pnt= 1359, Seg= 358, Time=  516, #1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858768"/>
            <a:ext cx="5440680" cy="1389888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차량이 실제로 통과한 포인트와 구간별 소요시간.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정체 구간 찾기. Seg 별로 Time 평균을 내면 어느 레일이 느린지 바로 나온다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45736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0392B"/>
                </a:solidFill>
                <a:latin typeface="맑은 고딕"/>
              </a:rPr>
              <a:t>추정  </a:t>
            </a:r>
            <a:r>
              <a:rPr sz="1000" b="0">
                <a:solidFill>
                  <a:srgbClr val="6B7B85"/>
                </a:solidFill>
                <a:latin typeface="맑은 고딕"/>
              </a:rPr>
              <a:t>위 예에서 U.57 의 7,997ms 는 평균(874ms)의 9배 — 그 구간을 의심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39496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Pnt= / Seg=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539496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통과한 바코드 / 세그먼트(레일)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567842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Time=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56232" y="5678424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그 구간 소요시간 (ms)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96188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L / #1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6232" y="5961888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L=통과 기록, #1=구분자 (추정)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HomeChange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5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홈 포인트 변경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09:29:49.760, [N. 0] U. 80, HomeChanged2 1291 -&gt; 1431,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 CurPoint : 1291, CheckCurPnt : 0, ForEscape : 1 #4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09:29:50.775, [N. 0] U. 84, HomeChanged2 1425 -&gt; 1297,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 CurPoint : 1425, ForEscape : 1 #4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09:29:51.121, [N. 0] U. 69, HomeChanged2 5 -&gt; 1206,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   CurPoint : 21018, ForEscape : 1 #-1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09:29:52.400, [N. 0] U. 83, HomeChanged2 1297 -&gt; 1419, ...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09:29:53.087, [N. 0] U. 79, HomeChanged2 1066 -&gt; 1363, 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858768"/>
            <a:ext cx="5440680" cy="1389888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79" y="397763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차량 대기(홈) 위치가 재배치된 이력.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차량이 예상과 다른 곳에 대기할 때. 초 단위 연쇄 변경은 정상(서로 비켜주는 동작)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4745736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0392B"/>
                </a:solidFill>
                <a:latin typeface="맑은 고딕"/>
              </a:rPr>
              <a:t>추정  </a:t>
            </a:r>
            <a:r>
              <a:rPr sz="1000" b="0">
                <a:solidFill>
                  <a:srgbClr val="6B7B85"/>
                </a:solidFill>
                <a:latin typeface="맑은 고딕"/>
              </a:rPr>
              <a:t>CurPoint 가 21018·11153 처럼 1~2만대면 가상 포인트(라인아웃/대기구역)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539496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HomeChanged2 A-&gt;B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539496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홈 포인트를 A 에서 B 로 변경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567842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CurPoint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5678424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변경 시점의 차량 위치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7" y="596188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ForEscape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5961888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1 이면 대피 목적 변경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7" y="624535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#4 / #-1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624535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변경 사유 코드 (추정)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Finder  ·  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CoreForm · 경로 탐색과 세그먼트 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경로 탐색 결과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09:01:51.630, U. 89, F=1271 T=1259 Seg=270 Pnt=1271, W=0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09:01:51.630, U. 89, InitRH, E=3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09:01:51.630, U. 89, M=1271-1272-1273-1274-1275-1258-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              1259-*-1-*-1-*-1-*-1-, W=1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27AE60"/>
                </a:solidFill>
                <a:latin typeface="Consolas"/>
              </a:rPr>
              <a:t>09:01:51.630, U. 89, Tm=0.4617, O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09:01:51.567, U. 64, F=10758 T=10758 Seg=399 Pnt=1399, W=20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09:01:51.677, U. 63, F=10520 T=10520 Seg=233 Pnt=1233, W=20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09:01:24.590, U. 56, F=21404 T=21404 Seg=256 Pnt=1256, W=20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858768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목적지까지의 경로를 계산한 결과와 소요시간.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경로가 이상하거나 탐색이 느릴 때. 정상 Tm 은 1ms 미만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01091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F= / T=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6232" y="501091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탐색 출발 / 목적 포인트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29437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Seg= / Pnt=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2" y="5294376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현재 세그먼트 / 현재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57784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M=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557784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확정된 경로 (하이픈 연결)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86130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Tm= / 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6232" y="5861304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탐색 소요 ms / O=성공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14476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W=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56232" y="6144768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가중치. F=T 인 경우 20 (이동 없음)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TM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5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세그먼트 점유 계산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3679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F5A623"/>
                </a:solidFill>
                <a:latin typeface="Consolas"/>
              </a:rPr>
              <a:t>09:01:51.630, U. 89, </a:t>
            </a:r>
            <a:r>
              <a:rPr sz="819" b="0" dirty="0" err="1">
                <a:solidFill>
                  <a:srgbClr val="F5A623"/>
                </a:solidFill>
                <a:latin typeface="Consolas"/>
              </a:rPr>
              <a:t>AllocSegW</a:t>
            </a:r>
            <a:r>
              <a:rPr sz="819" b="0" dirty="0">
                <a:solidFill>
                  <a:srgbClr val="F5A623"/>
                </a:solidFill>
                <a:latin typeface="Consolas"/>
              </a:rPr>
              <a:t> = 0,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F5A623"/>
                </a:solidFill>
                <a:latin typeface="Consolas"/>
              </a:rPr>
              <a:t>   </a:t>
            </a:r>
            <a:r>
              <a:rPr sz="819" b="0" dirty="0" err="1">
                <a:solidFill>
                  <a:srgbClr val="F5A623"/>
                </a:solidFill>
                <a:latin typeface="Consolas"/>
              </a:rPr>
              <a:t>SegList</a:t>
            </a:r>
            <a:r>
              <a:rPr sz="819" b="0" dirty="0">
                <a:solidFill>
                  <a:srgbClr val="F5A623"/>
                </a:solidFill>
                <a:latin typeface="Consolas"/>
              </a:rPr>
              <a:t> = 271,272,273,274,775,258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  P=1271, S=271, C=1, Tr=0,    Tm = 0.0035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  P=1272, S=272, C=2, Tr=502,  Tm = 0.01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  P=1273, S=273, C=3, Tr=1001, Tm = 0.011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  P=1274, S=274, C=4, Tr=1501, Tm = 0.0122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0392B"/>
                </a:solidFill>
                <a:latin typeface="Consolas"/>
              </a:rPr>
              <a:t>  </a:t>
            </a:r>
            <a:r>
              <a:rPr sz="819" b="0" dirty="0" err="1">
                <a:solidFill>
                  <a:srgbClr val="C0392B"/>
                </a:solidFill>
                <a:latin typeface="Consolas"/>
              </a:rPr>
              <a:t>Brk</a:t>
            </a:r>
            <a:r>
              <a:rPr sz="819" b="0" dirty="0">
                <a:solidFill>
                  <a:srgbClr val="C0392B"/>
                </a:solidFill>
                <a:latin typeface="Consolas"/>
              </a:rPr>
              <a:t>. </a:t>
            </a:r>
            <a:r>
              <a:rPr sz="819" b="0" dirty="0" err="1">
                <a:solidFill>
                  <a:srgbClr val="C0392B"/>
                </a:solidFill>
                <a:latin typeface="Consolas"/>
              </a:rPr>
              <a:t>Pnt</a:t>
            </a:r>
            <a:r>
              <a:rPr sz="819" b="0" dirty="0">
                <a:solidFill>
                  <a:srgbClr val="C0392B"/>
                </a:solidFill>
                <a:latin typeface="Consolas"/>
              </a:rPr>
              <a:t> </a:t>
            </a:r>
            <a:r>
              <a:rPr sz="819" b="0" dirty="0" err="1">
                <a:solidFill>
                  <a:srgbClr val="C0392B"/>
                </a:solidFill>
                <a:latin typeface="Consolas"/>
              </a:rPr>
              <a:t>OutSegSize</a:t>
            </a:r>
            <a:r>
              <a:rPr sz="819" b="0" dirty="0">
                <a:solidFill>
                  <a:srgbClr val="C0392B"/>
                </a:solidFill>
                <a:latin typeface="Consolas"/>
              </a:rPr>
              <a:t>. </a:t>
            </a:r>
            <a:r>
              <a:rPr sz="819" b="0" dirty="0" err="1">
                <a:solidFill>
                  <a:srgbClr val="C0392B"/>
                </a:solidFill>
                <a:latin typeface="Consolas"/>
              </a:rPr>
              <a:t>Pnt</a:t>
            </a:r>
            <a:r>
              <a:rPr sz="819" b="0" dirty="0">
                <a:solidFill>
                  <a:srgbClr val="C0392B"/>
                </a:solidFill>
                <a:latin typeface="Consolas"/>
              </a:rPr>
              <a:t>=1436, Tm=0.0089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  W=0 R=0.0133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858768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79" y="397763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Finder 가 정한 경로에 대해 세그먼트별 점유·소요를 계산.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경로는 나왔는데 차량이 가지 않을 때. Brk. 지점이 계산이 멈춘 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501091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AllocSegW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501091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세그먼트 할당 가중치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7" y="529437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SegList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5294376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경로상 세그먼트 목록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7" y="557784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P= / S= / C=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557784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포인트 / 세그먼트 / 순번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7" y="586130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Tr= / Tm=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5861304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 err="1">
                <a:solidFill>
                  <a:srgbClr val="12232E"/>
                </a:solidFill>
                <a:latin typeface="맑은 고딕"/>
              </a:rPr>
              <a:t>누적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주행시간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ms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/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계산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소요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ms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(Tr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추정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7" y="614476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Brk.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9792" y="6144768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계산 중단 지점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VehicleEvent  · 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CoreForm · 알람 이력과 검증 출력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VehicleEvent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차량 알람 등록/해제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09:34:03.852, U. 85 DeleteAlarmDB = VEHICLE_189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09:34:06.071, U. 78 DeleteAlarmDB = VEHICLE_30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09:34:07.008, U. 61 DeleteAlarmDB = VEHICLE_30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09:34:08.898, U. 68 DeleteAlarmDB = VEHICLE_30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7EC8E3"/>
                </a:solidFill>
                <a:latin typeface="Consolas"/>
              </a:rPr>
              <a:t>09:34:13.289, U. 50 RegistProcess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09:34:25.722, U. 78 DeleteAlarmDB = VEHICLE_30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09:34:25.894, U. 79 DeleteAlarmDB = VEHICLE_30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09:34:26.659, U. 61 DeleteAlarmDB = VEHICLE_30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858768"/>
            <a:ext cx="5440680" cy="1389888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차량 알람이 DB 에 등록/해제된 이력.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알람 이력 확인. 30번은 혼잡도 계측값으로 읽는다 (알람이라기보다 정체 지표)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45736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dirty="0" err="1">
                <a:solidFill>
                  <a:srgbClr val="C0392B"/>
                </a:solidFill>
                <a:latin typeface="맑은 고딕"/>
              </a:rPr>
              <a:t>추정</a:t>
            </a:r>
            <a:r>
              <a:rPr sz="1000" b="1" dirty="0">
                <a:solidFill>
                  <a:srgbClr val="C0392B"/>
                </a:solidFill>
                <a:latin typeface="맑은 고딕"/>
              </a:rPr>
              <a:t> 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여러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차량의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30번이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연달아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해제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=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막혔던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행렬이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풀리는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순간</a:t>
            </a:r>
            <a:endParaRPr sz="1000" b="0" dirty="0">
              <a:solidFill>
                <a:srgbClr val="6B7B85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" y="539496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DeleteAlarmDB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539496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 err="1">
                <a:solidFill>
                  <a:srgbClr val="12232E"/>
                </a:solidFill>
                <a:latin typeface="맑은 고딕"/>
              </a:rPr>
              <a:t>알람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해제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(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VEHICLE_번호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567842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RegistProcess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56232" y="5678424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차량 등록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96188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VEHICLE_30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6232" y="5961888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 err="1">
                <a:solidFill>
                  <a:srgbClr val="12232E"/>
                </a:solidFill>
                <a:latin typeface="맑은 고딕"/>
              </a:rPr>
              <a:t>전방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차량감지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정지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—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실측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504건/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시간</a:t>
            </a:r>
            <a:endParaRPr sz="900" b="0" dirty="0">
              <a:solidFill>
                <a:srgbClr val="12232E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2648" y="624535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VEHICLE_31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56232" y="624535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 err="1">
                <a:solidFill>
                  <a:srgbClr val="12232E"/>
                </a:solidFill>
                <a:latin typeface="맑은 고딕"/>
              </a:rPr>
              <a:t>전방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사람감지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—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실측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3건/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시간</a:t>
            </a:r>
            <a:endParaRPr sz="900" b="0" dirty="0">
              <a:solidFill>
                <a:srgbClr val="12232E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9048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5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개발·검증용 출력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679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09:36:07.075, U. 53, SamePath Index,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 FromI=14, ToI=14,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 Matrix=1015-1015-*-1-*-1-*-1-*-1-, W=1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09:37:03.074, U. 87, SamePath Index,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 FromI=15, ToI=15, Matrix=1016-1016-..., W=1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09:42:06.217, U. 86, SamePath Index,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 FromI=55, ToI=55, Matrix=1057-1057-..., W=1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09:44:59.442, U. 78, FromI=146, ToI=146, 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858768"/>
            <a:ext cx="5440680" cy="1389888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79" y="397763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경로 매트릭스 검증용 임시 출력.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운영 판단 근거로 쓰지 않는다. 개발/검증 시에만 참고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4745736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0392B"/>
                </a:solidFill>
                <a:latin typeface="맑은 고딕"/>
              </a:rPr>
              <a:t>추정  </a:t>
            </a:r>
            <a:r>
              <a:rPr sz="1000" b="0">
                <a:solidFill>
                  <a:srgbClr val="6B7B85"/>
                </a:solidFill>
                <a:latin typeface="맑은 고딕"/>
              </a:rPr>
              <a:t>FromI = ToI 인 케이스만 기록되는 것으로 보임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539496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SamePath 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539496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출발과 목적이 같은 경로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7" y="567842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FromI / ToI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5678424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경로 매트릭스 인덱스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7" y="596188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Matrix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5961888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경로 매트릭스 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MsgRecv  ·  MsgSend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 err="1">
                <a:solidFill>
                  <a:srgbClr val="6B7B85"/>
                </a:solidFill>
                <a:latin typeface="맑은 고딕"/>
              </a:rPr>
              <a:t>CoreForm</a:t>
            </a:r>
            <a:r>
              <a:rPr sz="1200" b="0" dirty="0">
                <a:solidFill>
                  <a:srgbClr val="6B7B85"/>
                </a:solidFill>
                <a:latin typeface="맑은 고딕"/>
              </a:rPr>
              <a:t> · </a:t>
            </a:r>
            <a:r>
              <a:rPr lang="en-US" sz="1200" b="0" dirty="0">
                <a:solidFill>
                  <a:srgbClr val="6B7B85"/>
                </a:solidFill>
                <a:latin typeface="맑은 고딕"/>
              </a:rPr>
              <a:t>Host</a:t>
            </a:r>
            <a:r>
              <a:rPr lang="ko-KR" altLang="en-US" sz="12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200" b="0" dirty="0">
                <a:solidFill>
                  <a:srgbClr val="6B7B85"/>
                </a:solidFill>
                <a:latin typeface="맑은 고딕"/>
              </a:rPr>
              <a:t>와 </a:t>
            </a:r>
            <a:r>
              <a:rPr sz="1200" b="0" dirty="0" err="1">
                <a:solidFill>
                  <a:srgbClr val="6B7B85"/>
                </a:solidFill>
                <a:latin typeface="맑은 고딕"/>
              </a:rPr>
              <a:t>주고받는</a:t>
            </a:r>
            <a:r>
              <a:rPr sz="1200" b="0" dirty="0">
                <a:solidFill>
                  <a:srgbClr val="6B7B85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B85"/>
                </a:solidFill>
                <a:latin typeface="맑은 고딕"/>
              </a:rPr>
              <a:t>메시지</a:t>
            </a:r>
            <a:endParaRPr sz="1200" b="0" dirty="0">
              <a:solidFill>
                <a:srgbClr val="6B7B85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MsgRecv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수신 메시지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09:34:50.811, [Recv] No.3450811, Msg Event Catched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09:34:50.856, [Info] No.3450811, Msg Event Process,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              Type = RemoteCommandTransferFromTo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7EC8E3"/>
                </a:solidFill>
                <a:latin typeface="Consolas"/>
              </a:rPr>
              <a:t>09:34:51.388, AliveCheck. Id=0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7EC8E3"/>
                </a:solidFill>
                <a:latin typeface="Consolas"/>
              </a:rPr>
              <a:t>09:35:01.698, AliveCheck. Id=0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7EC8E3"/>
                </a:solidFill>
                <a:latin typeface="Consolas"/>
              </a:rPr>
              <a:t>09:35:12.008, AliveCheck. Id=0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09:35:33.176, [Info] No.3533176, Msg Event Process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0392B"/>
                </a:solidFill>
                <a:latin typeface="Consolas"/>
              </a:rPr>
              <a:t>   Start, EventName = ManualCommandInsert, Ip = 10.1.3.219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858768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5111496" cy="1687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000" b="1" dirty="0" err="1">
                <a:solidFill>
                  <a:srgbClr val="D48806"/>
                </a:solidFill>
                <a:latin typeface="맑은 고딕"/>
              </a:rPr>
              <a:t>역할</a:t>
            </a:r>
            <a:r>
              <a:rPr sz="1000" b="1" dirty="0">
                <a:solidFill>
                  <a:srgbClr val="D48806"/>
                </a:solidFill>
                <a:latin typeface="맑은 고딕"/>
              </a:rPr>
              <a:t> </a:t>
            </a:r>
            <a:r>
              <a:rPr lang="en-US" altLang="ko-KR" sz="1000" dirty="0" err="1">
                <a:solidFill>
                  <a:srgbClr val="12232E"/>
                </a:solidFill>
                <a:latin typeface="맑은 고딕"/>
              </a:rPr>
              <a:t>HOST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와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lang="en-US" sz="1050" b="0" dirty="0">
                <a:solidFill>
                  <a:srgbClr val="12232E"/>
                </a:solidFill>
                <a:latin typeface="맑은 고딕"/>
              </a:rPr>
              <a:t>HMI</a:t>
            </a:r>
            <a:r>
              <a:rPr lang="ko-KR" altLang="en-US"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로부터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수신한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명령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/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이벤트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dirty="0" err="1">
                <a:solidFill>
                  <a:srgbClr val="D48806"/>
                </a:solidFill>
                <a:latin typeface="맑은 고딕"/>
              </a:rPr>
              <a:t>확인</a:t>
            </a:r>
            <a:r>
              <a:rPr sz="1000" b="1" dirty="0">
                <a:solidFill>
                  <a:srgbClr val="D48806"/>
                </a:solidFill>
                <a:latin typeface="맑은 고딕"/>
              </a:rPr>
              <a:t>  </a:t>
            </a:r>
            <a:r>
              <a:rPr lang="en-US" sz="1050" b="0" dirty="0">
                <a:solidFill>
                  <a:srgbClr val="12232E"/>
                </a:solidFill>
                <a:latin typeface="맑은 고딕"/>
              </a:rPr>
              <a:t>Host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지시가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도착했는지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,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누가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수동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조작했는지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확인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.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AliveCheck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끊기면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연동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단절</a:t>
            </a:r>
            <a:endParaRPr sz="1050" b="0" dirty="0">
              <a:solidFill>
                <a:srgbClr val="12232E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" y="501091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[Recv] Catched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6232" y="501091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메시지 수신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29437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Type=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2" y="5294376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RemoteCommandTransferFromTo 등 명령 종류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57784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AliveCheck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557784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약 10초 주기 생존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86130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Ip 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6232" y="5861304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발신 단말 IP — HMI 수동 조작 추적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MsgSend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5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송신 이벤트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09:11:24.584, [S] No.1124587, 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gRpc</a:t>
            </a:r>
            <a:r>
              <a:rPr sz="819" b="0" dirty="0">
                <a:solidFill>
                  <a:srgbClr val="C8D6DF"/>
                </a:solidFill>
                <a:latin typeface="Consolas"/>
              </a:rPr>
              <a:t> Host Send Success,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              Name = 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EventTransferPaused</a:t>
            </a:r>
            <a:r>
              <a:rPr sz="819" b="0" dirty="0">
                <a:solidFill>
                  <a:srgbClr val="C8D6DF"/>
                </a:solidFill>
                <a:latin typeface="Consolas"/>
              </a:rPr>
              <a:t>, Remain = 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09:11:24.895, ... Name = 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EventVehicleCarrierRemoved</a:t>
            </a:r>
            <a:r>
              <a:rPr sz="819" b="0" dirty="0">
                <a:solidFill>
                  <a:srgbClr val="C8D6DF"/>
                </a:solidFill>
                <a:latin typeface="Consolas"/>
              </a:rPr>
              <a:t>, Remain = 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09:11:24.895, ... Name = 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EventVehicleDepositeCompleted</a:t>
            </a:r>
            <a:r>
              <a:rPr sz="819" b="0" dirty="0">
                <a:solidFill>
                  <a:srgbClr val="C8D6DF"/>
                </a:solidFill>
                <a:latin typeface="Consolas"/>
              </a:rPr>
              <a:t>, Remain = 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F5A623"/>
                </a:solidFill>
                <a:latin typeface="Consolas"/>
              </a:rPr>
              <a:t>09:11:25.629, ... Name = </a:t>
            </a:r>
            <a:r>
              <a:rPr sz="819" b="0" dirty="0" err="1">
                <a:solidFill>
                  <a:srgbClr val="F5A623"/>
                </a:solidFill>
                <a:latin typeface="Consolas"/>
              </a:rPr>
              <a:t>EventAlarmSetReport</a:t>
            </a:r>
            <a:r>
              <a:rPr sz="819" b="0" dirty="0">
                <a:solidFill>
                  <a:srgbClr val="F5A623"/>
                </a:solidFill>
                <a:latin typeface="Consolas"/>
              </a:rPr>
              <a:t>, Remain = 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F5A623"/>
                </a:solidFill>
                <a:latin typeface="Consolas"/>
              </a:rPr>
              <a:t>09:11:25.630, ... Name = </a:t>
            </a:r>
            <a:r>
              <a:rPr sz="819" b="0" dirty="0" err="1">
                <a:solidFill>
                  <a:srgbClr val="F5A623"/>
                </a:solidFill>
                <a:latin typeface="Consolas"/>
              </a:rPr>
              <a:t>EventAlarmSet</a:t>
            </a:r>
            <a:r>
              <a:rPr sz="819" b="0" dirty="0">
                <a:solidFill>
                  <a:srgbClr val="F5A623"/>
                </a:solidFill>
                <a:latin typeface="Consolas"/>
              </a:rPr>
              <a:t>, Remain = 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F5A623"/>
                </a:solidFill>
                <a:latin typeface="Consolas"/>
              </a:rPr>
              <a:t>09:11:25.630, ... Name = </a:t>
            </a:r>
            <a:r>
              <a:rPr sz="819" b="0" dirty="0" err="1">
                <a:solidFill>
                  <a:srgbClr val="F5A623"/>
                </a:solidFill>
                <a:latin typeface="Consolas"/>
              </a:rPr>
              <a:t>EventUnitAlarmSet</a:t>
            </a:r>
            <a:r>
              <a:rPr sz="819" b="0" dirty="0">
                <a:solidFill>
                  <a:srgbClr val="F5A623"/>
                </a:solidFill>
                <a:latin typeface="Consolas"/>
              </a:rPr>
              <a:t>, Remain = 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09:11:26.677, ... Name = EventAlarmClearReport, Remain =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858768"/>
            <a:ext cx="5440680" cy="1389888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79" y="397763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dirty="0" err="1">
                <a:solidFill>
                  <a:srgbClr val="D48806"/>
                </a:solidFill>
                <a:latin typeface="맑은 고딕"/>
              </a:rPr>
              <a:t>역할</a:t>
            </a:r>
            <a:r>
              <a:rPr sz="1000" b="1" dirty="0">
                <a:solidFill>
                  <a:srgbClr val="D48806"/>
                </a:solidFill>
                <a:latin typeface="맑은 고딕"/>
              </a:rPr>
              <a:t>  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OCS 가 </a:t>
            </a:r>
            <a:r>
              <a:rPr lang="en-US" sz="1050" b="0" dirty="0">
                <a:solidFill>
                  <a:srgbClr val="12232E"/>
                </a:solidFill>
                <a:latin typeface="맑은 고딕"/>
              </a:rPr>
              <a:t>Host</a:t>
            </a:r>
            <a:r>
              <a:rPr lang="ko-KR" altLang="en-US"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로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올린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이벤트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dirty="0" err="1">
                <a:solidFill>
                  <a:srgbClr val="D48806"/>
                </a:solidFill>
                <a:latin typeface="맑은 고딕"/>
              </a:rPr>
              <a:t>확인</a:t>
            </a:r>
            <a:r>
              <a:rPr sz="1000" b="1" dirty="0">
                <a:solidFill>
                  <a:srgbClr val="D48806"/>
                </a:solidFill>
                <a:latin typeface="맑은 고딕"/>
              </a:rPr>
              <a:t>  </a:t>
            </a:r>
            <a:r>
              <a:rPr lang="en-US" sz="1050" b="0" dirty="0">
                <a:solidFill>
                  <a:srgbClr val="12232E"/>
                </a:solidFill>
                <a:latin typeface="맑은 고딕"/>
              </a:rPr>
              <a:t>Host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보고가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나갔는지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확인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. Remain 이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계속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쌓이면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lang="en-US" sz="1050" b="0" dirty="0">
                <a:solidFill>
                  <a:srgbClr val="12232E"/>
                </a:solidFill>
                <a:latin typeface="맑은 고딕"/>
              </a:rPr>
              <a:t>Host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응답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지연</a:t>
            </a:r>
            <a:endParaRPr sz="1050" b="0" dirty="0">
              <a:solidFill>
                <a:srgbClr val="12232E"/>
              </a:solidFill>
              <a:latin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55079" y="4745736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0392B"/>
                </a:solidFill>
                <a:latin typeface="맑은 고딕"/>
              </a:rPr>
              <a:t>추정  </a:t>
            </a:r>
            <a:r>
              <a:rPr sz="1000" b="0">
                <a:solidFill>
                  <a:srgbClr val="6B7B85"/>
                </a:solidFill>
                <a:latin typeface="맑은 고딕"/>
              </a:rPr>
              <a:t>알람은 3종 세트로 나간다 : AlarmSetReport + AlarmSet + UnitAlarmSet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7" y="539496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[S] Send Success/Fail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539496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송신 성공 / 실패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7" y="567842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Name 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5678424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이벤트 종류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7" y="596188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Remain 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5961888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송신 대기 큐 잔량 — 0~1 이 정상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Warning — 본래 Core 의 경고를 잡는 로그다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CoreForm  |  AP SNMP 기능이 추가되며 묻혔지만, Core 경고가 여기 남는다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C5364"/>
                </a:solidFill>
                <a:latin typeface="맑은 고딕"/>
              </a:rPr>
              <a:t>Core 경고 (3일 스캔 : 총 44건)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00784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28800"/>
            <a:ext cx="10771632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dirty="0">
                <a:solidFill>
                  <a:srgbClr val="F5A623"/>
                </a:solidFill>
                <a:latin typeface="Consolas"/>
              </a:rPr>
              <a:t>08:26:01.692, U.189 </a:t>
            </a:r>
            <a:r>
              <a:rPr sz="900" b="0" dirty="0" err="1">
                <a:solidFill>
                  <a:srgbClr val="F5A623"/>
                </a:solidFill>
                <a:latin typeface="Consolas"/>
              </a:rPr>
              <a:t>ComThread</a:t>
            </a:r>
            <a:r>
              <a:rPr sz="900" b="0" dirty="0">
                <a:solidFill>
                  <a:srgbClr val="F5A623"/>
                </a:solidFill>
                <a:latin typeface="Consolas"/>
              </a:rPr>
              <a:t> Time Increased...  3667ms, Reply=31ms, Step=</a:t>
            </a:r>
            <a:r>
              <a:rPr sz="900" b="0" dirty="0" err="1">
                <a:solidFill>
                  <a:srgbClr val="F5A623"/>
                </a:solidFill>
                <a:latin typeface="Consolas"/>
              </a:rPr>
              <a:t>StepComMgrRun</a:t>
            </a:r>
            <a:r>
              <a:rPr sz="900" b="0" dirty="0">
                <a:solidFill>
                  <a:srgbClr val="F5A623"/>
                </a:solidFill>
                <a:latin typeface="Consolas"/>
              </a:rPr>
              <a:t>-&gt;</a:t>
            </a:r>
            <a:r>
              <a:rPr sz="900" b="0" dirty="0" err="1">
                <a:solidFill>
                  <a:srgbClr val="F5A623"/>
                </a:solidFill>
                <a:latin typeface="Consolas"/>
              </a:rPr>
              <a:t>StepComMgrWaitRecvData</a:t>
            </a:r>
            <a:endParaRPr sz="900" b="0" dirty="0">
              <a:solidFill>
                <a:srgbClr val="F5A623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dirty="0">
                <a:solidFill>
                  <a:srgbClr val="F5A623"/>
                </a:solidFill>
                <a:latin typeface="Consolas"/>
              </a:rPr>
              <a:t>08:26:01.727, U.190 </a:t>
            </a:r>
            <a:r>
              <a:rPr sz="900" b="0" dirty="0" err="1">
                <a:solidFill>
                  <a:srgbClr val="F5A623"/>
                </a:solidFill>
                <a:latin typeface="Consolas"/>
              </a:rPr>
              <a:t>ComThread</a:t>
            </a:r>
            <a:r>
              <a:rPr sz="900" b="0" dirty="0">
                <a:solidFill>
                  <a:srgbClr val="F5A623"/>
                </a:solidFill>
                <a:latin typeface="Consolas"/>
              </a:rPr>
              <a:t> Time Increased...  3624ms, Reply=31ms, Step=</a:t>
            </a:r>
            <a:r>
              <a:rPr sz="900" b="0" dirty="0" err="1">
                <a:solidFill>
                  <a:srgbClr val="F5A623"/>
                </a:solidFill>
                <a:latin typeface="Consolas"/>
              </a:rPr>
              <a:t>StepComMgrRun</a:t>
            </a:r>
            <a:r>
              <a:rPr sz="900" b="0" dirty="0">
                <a:solidFill>
                  <a:srgbClr val="F5A623"/>
                </a:solidFill>
                <a:latin typeface="Consolas"/>
              </a:rPr>
              <a:t>-&gt;</a:t>
            </a:r>
            <a:r>
              <a:rPr sz="900" b="0" dirty="0" err="1">
                <a:solidFill>
                  <a:srgbClr val="F5A623"/>
                </a:solidFill>
                <a:latin typeface="Consolas"/>
              </a:rPr>
              <a:t>StepComMgrWaitRecvData</a:t>
            </a:r>
            <a:endParaRPr sz="900" b="0" dirty="0">
              <a:solidFill>
                <a:srgbClr val="F5A623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dirty="0">
                <a:solidFill>
                  <a:srgbClr val="F5A623"/>
                </a:solidFill>
                <a:latin typeface="Consolas"/>
              </a:rPr>
              <a:t>08:26:01.727, U.187 </a:t>
            </a:r>
            <a:r>
              <a:rPr sz="900" b="0" dirty="0" err="1">
                <a:solidFill>
                  <a:srgbClr val="F5A623"/>
                </a:solidFill>
                <a:latin typeface="Consolas"/>
              </a:rPr>
              <a:t>ComThread</a:t>
            </a:r>
            <a:r>
              <a:rPr sz="900" b="0" dirty="0">
                <a:solidFill>
                  <a:srgbClr val="F5A623"/>
                </a:solidFill>
                <a:latin typeface="Consolas"/>
              </a:rPr>
              <a:t> Time Increased...  3108ms, Reply=62ms, Step=</a:t>
            </a:r>
            <a:r>
              <a:rPr sz="900" b="0" dirty="0" err="1">
                <a:solidFill>
                  <a:srgbClr val="F5A623"/>
                </a:solidFill>
                <a:latin typeface="Consolas"/>
              </a:rPr>
              <a:t>StepComMgrRun</a:t>
            </a:r>
            <a:r>
              <a:rPr sz="900" b="0" dirty="0">
                <a:solidFill>
                  <a:srgbClr val="F5A623"/>
                </a:solidFill>
                <a:latin typeface="Consolas"/>
              </a:rPr>
              <a:t>-&gt;</a:t>
            </a:r>
            <a:r>
              <a:rPr sz="900" b="0" dirty="0" err="1">
                <a:solidFill>
                  <a:srgbClr val="F5A623"/>
                </a:solidFill>
                <a:latin typeface="Consolas"/>
              </a:rPr>
              <a:t>StepComMgrWaitRecvData</a:t>
            </a:r>
            <a:endParaRPr sz="900" b="0" dirty="0">
              <a:solidFill>
                <a:srgbClr val="F5A623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dirty="0">
                <a:solidFill>
                  <a:srgbClr val="7EC8E3"/>
                </a:solidFill>
                <a:latin typeface="Consolas"/>
              </a:rPr>
              <a:t>          ... </a:t>
            </a:r>
            <a:r>
              <a:rPr sz="900" b="0" dirty="0" err="1">
                <a:solidFill>
                  <a:srgbClr val="7EC8E3"/>
                </a:solidFill>
                <a:latin typeface="Consolas"/>
              </a:rPr>
              <a:t>같은</a:t>
            </a:r>
            <a:r>
              <a:rPr sz="900" b="0" dirty="0">
                <a:solidFill>
                  <a:srgbClr val="7EC8E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7EC8E3"/>
                </a:solidFill>
                <a:latin typeface="Consolas"/>
              </a:rPr>
              <a:t>시각</a:t>
            </a:r>
            <a:r>
              <a:rPr sz="900" b="0" dirty="0">
                <a:solidFill>
                  <a:srgbClr val="7EC8E3"/>
                </a:solidFill>
                <a:latin typeface="Consolas"/>
              </a:rPr>
              <a:t>(08:26:01)에 </a:t>
            </a:r>
            <a:r>
              <a:rPr sz="900" b="0" dirty="0" err="1">
                <a:solidFill>
                  <a:srgbClr val="7EC8E3"/>
                </a:solidFill>
                <a:latin typeface="Consolas"/>
              </a:rPr>
              <a:t>수십</a:t>
            </a:r>
            <a:r>
              <a:rPr sz="900" b="0" dirty="0">
                <a:solidFill>
                  <a:srgbClr val="7EC8E3"/>
                </a:solidFill>
                <a:latin typeface="Consolas"/>
              </a:rPr>
              <a:t> 대 </a:t>
            </a:r>
            <a:r>
              <a:rPr sz="900" b="0" dirty="0" err="1">
                <a:solidFill>
                  <a:srgbClr val="7EC8E3"/>
                </a:solidFill>
                <a:latin typeface="Consolas"/>
              </a:rPr>
              <a:t>동시</a:t>
            </a:r>
            <a:r>
              <a:rPr sz="900" b="0" dirty="0">
                <a:solidFill>
                  <a:srgbClr val="7EC8E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7EC8E3"/>
                </a:solidFill>
                <a:latin typeface="Consolas"/>
              </a:rPr>
              <a:t>발생</a:t>
            </a:r>
            <a:r>
              <a:rPr sz="900" b="0" dirty="0">
                <a:solidFill>
                  <a:srgbClr val="7EC8E3"/>
                </a:solidFill>
                <a:latin typeface="Consolas"/>
              </a:rPr>
              <a:t>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88920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90779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48806"/>
                </a:solidFill>
                <a:latin typeface="맑은 고딕"/>
              </a:rPr>
              <a:t>읽는 법 — Reply 와 스레드 시간을 분리해서 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20040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dirty="0">
                <a:solidFill>
                  <a:srgbClr val="12232E"/>
                </a:solidFill>
                <a:latin typeface="맑은 고딕"/>
              </a:rPr>
              <a:t>Reply(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차량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응답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)는 31ms 로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정상인데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통신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스레드가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3.5초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걸렸다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→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원인은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차량이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아니라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서버측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부하다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.
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여러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차량이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같은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시각에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동시에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뜨면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서버측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, 한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대만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뜨면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그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차량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통신이다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9476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C5364"/>
                </a:solidFill>
                <a:latin typeface="맑은 고딕"/>
              </a:rPr>
              <a:t>Core 경고 3종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11480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dirty="0" err="1">
                <a:solidFill>
                  <a:srgbClr val="2C5364"/>
                </a:solidFill>
                <a:latin typeface="Consolas"/>
              </a:rPr>
              <a:t>ComThread</a:t>
            </a:r>
            <a:r>
              <a:rPr sz="950" b="1" dirty="0">
                <a:solidFill>
                  <a:srgbClr val="2C5364"/>
                </a:solidFill>
                <a:latin typeface="Consolas"/>
              </a:rPr>
              <a:t> Time Increased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4114800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 err="1">
                <a:solidFill>
                  <a:srgbClr val="12232E"/>
                </a:solidFill>
                <a:latin typeface="맑은 고딕"/>
              </a:rPr>
              <a:t>차량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통신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스레드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처리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지연</a:t>
            </a:r>
            <a:endParaRPr sz="900" b="0" dirty="0">
              <a:solidFill>
                <a:srgbClr val="12232E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439826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dirty="0" err="1">
                <a:solidFill>
                  <a:srgbClr val="2C5364"/>
                </a:solidFill>
                <a:latin typeface="Consolas"/>
              </a:rPr>
              <a:t>ExecuteOrder</a:t>
            </a:r>
            <a:r>
              <a:rPr sz="950" b="1" dirty="0">
                <a:solidFill>
                  <a:srgbClr val="2C5364"/>
                </a:solidFill>
                <a:latin typeface="Consolas"/>
              </a:rPr>
              <a:t> Elapsed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4398264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 err="1">
                <a:solidFill>
                  <a:srgbClr val="12232E"/>
                </a:solidFill>
                <a:latin typeface="맑은 고딕"/>
              </a:rPr>
              <a:t>오더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처리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지연</a:t>
            </a:r>
            <a:endParaRPr sz="900" b="0" dirty="0">
              <a:solidFill>
                <a:srgbClr val="12232E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468172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dirty="0">
                <a:solidFill>
                  <a:srgbClr val="2C5364"/>
                </a:solidFill>
                <a:latin typeface="Consolas"/>
              </a:rPr>
              <a:t>Request timed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4681728"/>
            <a:ext cx="4050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12232E"/>
                </a:solidFill>
                <a:latin typeface="맑은 고딕"/>
              </a:rPr>
              <a:t>SNMP/REST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폴링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응답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없음</a:t>
            </a:r>
            <a:endParaRPr sz="900" b="0" dirty="0">
              <a:solidFill>
                <a:srgbClr val="12232E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81928" y="379476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C5364"/>
                </a:solidFill>
                <a:latin typeface="맑은 고딕"/>
              </a:rPr>
              <a:t>설비 SNMP 감시 (같은 로그에 혼재)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4114800"/>
            <a:ext cx="5349240" cy="1216152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4242816"/>
            <a:ext cx="5056631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dirty="0">
                <a:solidFill>
                  <a:srgbClr val="C8D6DF"/>
                </a:solidFill>
                <a:latin typeface="Consolas"/>
              </a:rPr>
              <a:t>09:09:10.666, OCS02_SNMP, POWER/STATUS - 2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dirty="0">
                <a:solidFill>
                  <a:srgbClr val="C8D6DF"/>
                </a:solidFill>
                <a:latin typeface="Consolas"/>
              </a:rPr>
              <a:t>09:09:10.681, UPS_SNMP, BATTERY/STATUS - 0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dirty="0">
                <a:solidFill>
                  <a:srgbClr val="C0392B"/>
                </a:solidFill>
                <a:latin typeface="Consolas"/>
              </a:rPr>
              <a:t>09:09:10.729, AP01_SNMP, CPU/STATUS - 84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dirty="0">
                <a:solidFill>
                  <a:srgbClr val="C8D6DF"/>
                </a:solidFill>
                <a:latin typeface="Consolas"/>
              </a:rPr>
              <a:t>09:09:10.730, AP02_SNMP, CPU/STATUS - 17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dirty="0">
                <a:solidFill>
                  <a:srgbClr val="F5A623"/>
                </a:solidFill>
                <a:latin typeface="Consolas"/>
              </a:rPr>
              <a:t>09:09:10.735, AP04_SNMP, CPU/STATUS - 65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38928"/>
            <a:ext cx="11064240" cy="859536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10735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dirty="0" err="1">
                <a:solidFill>
                  <a:srgbClr val="D48806"/>
                </a:solidFill>
                <a:latin typeface="맑은 고딕"/>
              </a:rPr>
              <a:t>역할</a:t>
            </a:r>
            <a:r>
              <a:rPr sz="1000" b="1" dirty="0">
                <a:solidFill>
                  <a:srgbClr val="D48806"/>
                </a:solidFill>
                <a:latin typeface="맑은 고딕"/>
              </a:rPr>
              <a:t>  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Core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내부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경고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(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통신·오더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지연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) +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설비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SNMP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상태값을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한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로그에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기록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68696"/>
            <a:ext cx="10735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dirty="0" err="1">
                <a:solidFill>
                  <a:srgbClr val="D48806"/>
                </a:solidFill>
                <a:latin typeface="맑은 고딕"/>
              </a:rPr>
              <a:t>확인</a:t>
            </a:r>
            <a:r>
              <a:rPr sz="1000" b="1" dirty="0">
                <a:solidFill>
                  <a:srgbClr val="D48806"/>
                </a:solidFill>
                <a:latin typeface="맑은 고딕"/>
              </a:rPr>
              <a:t> 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서버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지연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징후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. _SNMP 가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없는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줄만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걸러내면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Core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경고만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남는다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→ Select-String -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NotMatch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'_SNMP'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00800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B85"/>
                </a:solidFill>
                <a:latin typeface="맑은 고딕"/>
              </a:rPr>
              <a:t>AP CPU 값은 CommT 타임아웃과 직결 — AP01 84% 처럼 편차가 크면 그 AP 커버리지 구간을 점검한다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UIException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CoreForm · UI/DB 예외  |  대만 사이트라 OS 로케일이 번체 중문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1064240" cy="182422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499616"/>
            <a:ext cx="10771632" cy="1568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dirty="0">
                <a:solidFill>
                  <a:srgbClr val="C0392B"/>
                </a:solidFill>
                <a:latin typeface="Consolas"/>
              </a:rPr>
              <a:t>08-03 09:50:57.847, </a:t>
            </a:r>
            <a:r>
              <a:rPr sz="950" b="0" dirty="0" err="1">
                <a:solidFill>
                  <a:srgbClr val="C0392B"/>
                </a:solidFill>
                <a:latin typeface="Consolas"/>
              </a:rPr>
              <a:t>在接收來自伺服器的要求時發生傳輸層級的錯誤</a:t>
            </a:r>
            <a:r>
              <a:rPr sz="950" b="0" dirty="0">
                <a:solidFill>
                  <a:srgbClr val="C0392B"/>
                </a:solidFill>
                <a:latin typeface="Consolas"/>
              </a:rPr>
              <a:t>。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dirty="0">
                <a:solidFill>
                  <a:srgbClr val="C0392B"/>
                </a:solidFill>
                <a:latin typeface="Consolas"/>
              </a:rPr>
              <a:t>   (provider: TCP Provider, error: 0 - </a:t>
            </a:r>
            <a:r>
              <a:rPr sz="950" b="0" dirty="0" err="1">
                <a:solidFill>
                  <a:srgbClr val="C0392B"/>
                </a:solidFill>
                <a:latin typeface="Consolas"/>
              </a:rPr>
              <a:t>遠端主機已強制關閉一個現存的連線</a:t>
            </a:r>
            <a:r>
              <a:rPr sz="950" b="0" dirty="0">
                <a:solidFill>
                  <a:srgbClr val="C0392B"/>
                </a:solidFill>
                <a:latin typeface="Consolas"/>
              </a:rPr>
              <a:t>。)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dirty="0">
                <a:solidFill>
                  <a:srgbClr val="C8D6DF"/>
                </a:solidFill>
                <a:latin typeface="Consolas"/>
              </a:rPr>
              <a:t>08-03 09:50:57.847, </a:t>
            </a:r>
            <a:r>
              <a:rPr sz="950" b="0" dirty="0" err="1">
                <a:solidFill>
                  <a:srgbClr val="C8D6DF"/>
                </a:solidFill>
                <a:latin typeface="Consolas"/>
              </a:rPr>
              <a:t>.Net</a:t>
            </a:r>
            <a:r>
              <a:rPr sz="950" b="0" dirty="0">
                <a:solidFill>
                  <a:srgbClr val="C8D6DF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C8D6DF"/>
                </a:solidFill>
                <a:latin typeface="Consolas"/>
              </a:rPr>
              <a:t>SqlClient</a:t>
            </a:r>
            <a:r>
              <a:rPr sz="950" b="0" dirty="0">
                <a:solidFill>
                  <a:srgbClr val="C8D6DF"/>
                </a:solidFill>
                <a:latin typeface="Consolas"/>
              </a:rPr>
              <a:t> Data Provider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dirty="0">
                <a:solidFill>
                  <a:srgbClr val="C8D6DF"/>
                </a:solidFill>
                <a:latin typeface="Consolas"/>
              </a:rPr>
              <a:t>08-03 09:50:57.847,    於 </a:t>
            </a:r>
            <a:r>
              <a:rPr sz="950" b="0" dirty="0" err="1">
                <a:solidFill>
                  <a:srgbClr val="C8D6DF"/>
                </a:solidFill>
                <a:latin typeface="Consolas"/>
              </a:rPr>
              <a:t>System.Data.SqlClient.SqlConnection.OnError</a:t>
            </a:r>
            <a:r>
              <a:rPr sz="950" b="0" dirty="0">
                <a:solidFill>
                  <a:srgbClr val="C8D6DF"/>
                </a:solidFill>
                <a:latin typeface="Consolas"/>
              </a:rPr>
              <a:t>(...)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dirty="0">
                <a:solidFill>
                  <a:srgbClr val="C8D6DF"/>
                </a:solidFill>
                <a:latin typeface="Consolas"/>
              </a:rPr>
              <a:t>   於 </a:t>
            </a:r>
            <a:r>
              <a:rPr sz="950" b="0" dirty="0" err="1">
                <a:solidFill>
                  <a:srgbClr val="C8D6DF"/>
                </a:solidFill>
                <a:latin typeface="Consolas"/>
              </a:rPr>
              <a:t>System.Data.SqlClient.TdsParser.ThrowExceptionAndWarning</a:t>
            </a:r>
            <a:r>
              <a:rPr sz="950" b="0" dirty="0">
                <a:solidFill>
                  <a:srgbClr val="C8D6DF"/>
                </a:solidFill>
                <a:latin typeface="Consolas"/>
              </a:rPr>
              <a:t>(...)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dirty="0">
                <a:solidFill>
                  <a:srgbClr val="C8D6DF"/>
                </a:solidFill>
                <a:latin typeface="Consolas"/>
              </a:rPr>
              <a:t>   於 </a:t>
            </a:r>
            <a:r>
              <a:rPr sz="950" b="0" dirty="0" err="1">
                <a:solidFill>
                  <a:srgbClr val="C8D6DF"/>
                </a:solidFill>
                <a:latin typeface="Consolas"/>
              </a:rPr>
              <a:t>System.Data.SqlClient.TdsParserStateObject.ReadSniError</a:t>
            </a:r>
            <a:r>
              <a:rPr sz="950" b="0" dirty="0">
                <a:solidFill>
                  <a:srgbClr val="C8D6DF"/>
                </a:solidFill>
                <a:latin typeface="Consolas"/>
              </a:rPr>
              <a:t>(...)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dirty="0">
                <a:solidFill>
                  <a:srgbClr val="C8D6DF"/>
                </a:solidFill>
                <a:latin typeface="Consolas"/>
              </a:rPr>
              <a:t>   於 </a:t>
            </a:r>
            <a:r>
              <a:rPr sz="950" b="0" dirty="0" err="1">
                <a:solidFill>
                  <a:srgbClr val="C8D6DF"/>
                </a:solidFill>
                <a:latin typeface="Consolas"/>
              </a:rPr>
              <a:t>System.Data.SqlClient.TdsParserStateObject.TryReadNetworkPacket</a:t>
            </a:r>
            <a:r>
              <a:rPr sz="950" b="0" dirty="0">
                <a:solidFill>
                  <a:srgbClr val="C8D6DF"/>
                </a:solidFill>
                <a:latin typeface="Consolas"/>
              </a:rPr>
              <a:t>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C5364"/>
                </a:solidFill>
                <a:latin typeface="맑은 고딕"/>
              </a:rPr>
              <a:t>자주 보는 중문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56616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傳輸層級的錯誤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" y="3566160"/>
            <a:ext cx="4142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 err="1">
                <a:solidFill>
                  <a:srgbClr val="12232E"/>
                </a:solidFill>
                <a:latin typeface="맑은 고딕"/>
              </a:rPr>
              <a:t>전송</a:t>
            </a:r>
            <a:r>
              <a:rPr sz="9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12232E"/>
                </a:solidFill>
                <a:latin typeface="맑은 고딕"/>
              </a:rPr>
              <a:t>계층</a:t>
            </a:r>
            <a:r>
              <a:rPr sz="9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12232E"/>
                </a:solidFill>
                <a:latin typeface="맑은 고딕"/>
              </a:rPr>
              <a:t>오류</a:t>
            </a:r>
            <a:endParaRPr sz="950" b="0" dirty="0">
              <a:solidFill>
                <a:srgbClr val="12232E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384962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遠端主機已強制關閉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3849624"/>
            <a:ext cx="4142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 err="1">
                <a:solidFill>
                  <a:srgbClr val="12232E"/>
                </a:solidFill>
                <a:latin typeface="맑은 고딕"/>
              </a:rPr>
              <a:t>원격</a:t>
            </a:r>
            <a:r>
              <a:rPr sz="9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12232E"/>
                </a:solidFill>
                <a:latin typeface="맑은 고딕"/>
              </a:rPr>
              <a:t>호스트가</a:t>
            </a:r>
            <a:r>
              <a:rPr sz="9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12232E"/>
                </a:solidFill>
                <a:latin typeface="맑은 고딕"/>
              </a:rPr>
              <a:t>연결을</a:t>
            </a:r>
            <a:r>
              <a:rPr sz="9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12232E"/>
                </a:solidFill>
                <a:latin typeface="맑은 고딕"/>
              </a:rPr>
              <a:t>강제</a:t>
            </a:r>
            <a:r>
              <a:rPr sz="9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12232E"/>
                </a:solidFill>
                <a:latin typeface="맑은 고딕"/>
              </a:rPr>
              <a:t>종료</a:t>
            </a:r>
            <a:endParaRPr sz="950" b="0" dirty="0">
              <a:solidFill>
                <a:srgbClr val="12232E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4133087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現存的連線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4133087"/>
            <a:ext cx="4142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 err="1">
                <a:solidFill>
                  <a:srgbClr val="12232E"/>
                </a:solidFill>
                <a:latin typeface="맑은 고딕"/>
              </a:rPr>
              <a:t>기존</a:t>
            </a:r>
            <a:r>
              <a:rPr sz="9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12232E"/>
                </a:solidFill>
                <a:latin typeface="맑은 고딕"/>
              </a:rPr>
              <a:t>연결</a:t>
            </a:r>
            <a:endParaRPr sz="950" b="0" dirty="0">
              <a:solidFill>
                <a:srgbClr val="12232E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441655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逾時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4416552"/>
            <a:ext cx="4142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2232E"/>
                </a:solidFill>
                <a:latin typeface="맑은 고딕"/>
              </a:rPr>
              <a:t>타임아웃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70001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C5364"/>
                </a:solidFill>
                <a:latin typeface="Consolas"/>
              </a:rPr>
              <a:t>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4700016"/>
            <a:ext cx="4142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>
                <a:solidFill>
                  <a:srgbClr val="12232E"/>
                </a:solidFill>
                <a:latin typeface="맑은 고딕"/>
              </a:rPr>
              <a:t>at (</a:t>
            </a:r>
            <a:r>
              <a:rPr sz="950" b="0" dirty="0" err="1">
                <a:solidFill>
                  <a:srgbClr val="12232E"/>
                </a:solidFill>
                <a:latin typeface="맑은 고딕"/>
              </a:rPr>
              <a:t>스택</a:t>
            </a:r>
            <a:r>
              <a:rPr sz="9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12232E"/>
                </a:solidFill>
                <a:latin typeface="맑은 고딕"/>
              </a:rPr>
              <a:t>프레임</a:t>
            </a:r>
            <a:r>
              <a:rPr sz="950" b="0" dirty="0">
                <a:solidFill>
                  <a:srgbClr val="12232E"/>
                </a:solidFill>
                <a:latin typeface="맑은 고딕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356616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6" y="37033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C5364"/>
                </a:solidFill>
                <a:latin typeface="맑은 고딕"/>
              </a:rPr>
              <a:t>위 메시지의 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4005072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2232E"/>
                </a:solidFill>
                <a:latin typeface="맑은 고딕"/>
              </a:rPr>
              <a:t>"서버 요청 수신 중 전송 계층 오류 —
원격 호스트가 기존 연결을 강제 종료함"
→ DB 연결이 끊긴 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12080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330952"/>
            <a:ext cx="10735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HMI/UI 계층과 DB 사이에서 발생한 예외와 스택.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41848"/>
            <a:ext cx="10735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간헐 발생은 무해. 몰려서 나오면 DB 서버 또는 네트워크 점검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52744"/>
            <a:ext cx="10735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0392B"/>
                </a:solidFill>
                <a:latin typeface="맑은 고딕"/>
              </a:rPr>
              <a:t>추정  </a:t>
            </a:r>
            <a:r>
              <a:rPr sz="1000" b="0">
                <a:solidFill>
                  <a:srgbClr val="6B7B85"/>
                </a:solidFill>
                <a:latin typeface="맑은 고딕"/>
              </a:rPr>
              <a:t>다중 라인 엔트리 — 건수는 타임스탬프로 시작하는 줄만 센다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dirty="0" err="1">
                <a:solidFill>
                  <a:srgbClr val="12232E"/>
                </a:solidFill>
                <a:latin typeface="맑은 고딕"/>
              </a:rPr>
              <a:t>PlcTag</a:t>
            </a:r>
            <a:r>
              <a:rPr sz="2700" b="1" dirty="0">
                <a:solidFill>
                  <a:srgbClr val="12232E"/>
                </a:solidFill>
                <a:latin typeface="맑은 고딕"/>
              </a:rPr>
              <a:t> ①  PLC </a:t>
            </a:r>
            <a:r>
              <a:rPr sz="2700" b="1" dirty="0" err="1">
                <a:solidFill>
                  <a:srgbClr val="12232E"/>
                </a:solidFill>
                <a:latin typeface="맑은 고딕"/>
              </a:rPr>
              <a:t>태그의</a:t>
            </a:r>
            <a:r>
              <a:rPr sz="2700" b="1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2700" b="1" dirty="0" err="1">
                <a:solidFill>
                  <a:srgbClr val="12232E"/>
                </a:solidFill>
                <a:latin typeface="맑은 고딕"/>
              </a:rPr>
              <a:t>본체는</a:t>
            </a:r>
            <a:r>
              <a:rPr sz="2700" b="1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2700" b="1" dirty="0" err="1">
                <a:solidFill>
                  <a:srgbClr val="12232E"/>
                </a:solidFill>
                <a:latin typeface="맑은 고딕"/>
              </a:rPr>
              <a:t>장비</a:t>
            </a:r>
            <a:r>
              <a:rPr sz="2700" b="1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2700" b="1" dirty="0" err="1">
                <a:solidFill>
                  <a:srgbClr val="12232E"/>
                </a:solidFill>
                <a:latin typeface="맑은 고딕"/>
              </a:rPr>
              <a:t>감시다</a:t>
            </a:r>
            <a:endParaRPr sz="2700" b="1" dirty="0">
              <a:solidFill>
                <a:srgbClr val="12232E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CoreForm · PLC ↔ OCS  |  태그맵 1,988개 구성 · 260103_PlcTag_L30.xlsx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371600"/>
          <a:ext cx="57607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0" y="1371600"/>
            <a:ext cx="5047488" cy="1572768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84848" y="1517904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D48806"/>
                </a:solidFill>
                <a:latin typeface="맑은 고딕"/>
              </a:rPr>
              <a:t>1,988개 중 1,574개가 장비 에러 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1865376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solidFill>
                  <a:srgbClr val="12232E"/>
                </a:solidFill>
                <a:latin typeface="맑은 고딕"/>
              </a:rPr>
              <a:t>SYSTEM_ERR = CPS(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비접촉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급전장치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) 30대 ×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에러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약 50종
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전압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(Over/Under/Peak) ·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전류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·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게이트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폴트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· EMO ·
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퓨즈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· 팬 ·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초기충전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실패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등
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카세트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추적은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STATION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태그의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일부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기능이다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90672"/>
            <a:ext cx="5047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C5364"/>
                </a:solidFill>
                <a:latin typeface="맑은 고딕"/>
              </a:rPr>
              <a:t>STATION 태그의 8개 속성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419856"/>
            <a:ext cx="9875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48806"/>
                </a:solidFill>
                <a:latin typeface="Consolas"/>
              </a:rPr>
              <a:t>_ST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41985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 err="1">
                <a:solidFill>
                  <a:srgbClr val="12232E"/>
                </a:solidFill>
                <a:latin typeface="맑은 고딕"/>
              </a:rPr>
              <a:t>장비</a:t>
            </a:r>
            <a:r>
              <a:rPr sz="8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12232E"/>
                </a:solidFill>
                <a:latin typeface="맑은 고딕"/>
              </a:rPr>
              <a:t>상태</a:t>
            </a:r>
            <a:r>
              <a:rPr sz="850" b="0" dirty="0">
                <a:solidFill>
                  <a:srgbClr val="12232E"/>
                </a:solidFill>
                <a:latin typeface="맑은 고딕"/>
              </a:rPr>
              <a:t> (1정상/3알람)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7424" y="3419856"/>
            <a:ext cx="9875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48806"/>
                </a:solidFill>
                <a:latin typeface="Consolas"/>
              </a:rPr>
              <a:t>_ALARMID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13264" y="341985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12232E"/>
                </a:solidFill>
                <a:latin typeface="맑은 고딕"/>
              </a:rPr>
              <a:t>알람 번호 → ErrTag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12464"/>
            <a:ext cx="9875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48806"/>
                </a:solidFill>
                <a:latin typeface="Consolas"/>
              </a:rPr>
              <a:t>_CSTID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712464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12232E"/>
                </a:solidFill>
                <a:latin typeface="맑은 고딕"/>
              </a:rPr>
              <a:t>카세트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3712464"/>
            <a:ext cx="9875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48806"/>
                </a:solidFill>
                <a:latin typeface="Consolas"/>
              </a:rPr>
              <a:t>_EXIST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264" y="3712464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12232E"/>
                </a:solidFill>
                <a:latin typeface="맑은 고딕"/>
              </a:rPr>
              <a:t>존재 여부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05072"/>
            <a:ext cx="9875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48806"/>
                </a:solidFill>
                <a:latin typeface="Consolas"/>
              </a:rPr>
              <a:t>_USEUNUSE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00507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12232E"/>
                </a:solidFill>
                <a:latin typeface="맑은 고딕"/>
              </a:rPr>
              <a:t>사용/미사용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4005072"/>
            <a:ext cx="9875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48806"/>
                </a:solidFill>
                <a:latin typeface="Consolas"/>
              </a:rPr>
              <a:t>_INOUT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3264" y="400507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12232E"/>
                </a:solidFill>
                <a:latin typeface="맑은 고딕"/>
              </a:rPr>
              <a:t>입출 방향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97680"/>
            <a:ext cx="9875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48806"/>
                </a:solidFill>
                <a:latin typeface="Consolas"/>
              </a:rPr>
              <a:t>_CSTSIZE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29768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12232E"/>
                </a:solidFill>
                <a:latin typeface="맑은 고딕"/>
              </a:rPr>
              <a:t>카세트 크기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4297680"/>
            <a:ext cx="9875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48806"/>
                </a:solidFill>
                <a:latin typeface="Consolas"/>
              </a:rPr>
              <a:t>_FLOOR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264" y="429768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12232E"/>
                </a:solidFill>
                <a:latin typeface="맑은 고딕"/>
              </a:rPr>
              <a:t>바닥면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663440"/>
            <a:ext cx="11064240" cy="859536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782312"/>
            <a:ext cx="10735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PLC 태그 값이 바뀔 때마다 [이전값] -&gt; [새값] 형식으로 기록.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93207"/>
            <a:ext cx="10735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장비 상태·알람 확인, 카세트 위치 추적. 상세 주소와 R/W 결과는 ReadWrite 로그에서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6692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578815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맑은 고딕"/>
              </a:rPr>
              <a:t>SAFETY · MONITOR 태그가 잡는 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608076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라이트커튼 감지 · 방화도어(FD) 상태/패널 모드 · MTL 리프터 트랙/스토퍼 — 안전 계통 신호가 전부 PLC 태그로 올라온다.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PlcTag ②  장비 알람과 카세트를 모두 잡는다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04:51 현장 로그 : 스테이션 765 알람 발생부터 복구까지 4분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1064240" cy="1627632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499616"/>
            <a:ext cx="1077163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C0392B"/>
                </a:solidFill>
                <a:latin typeface="Consolas"/>
              </a:rPr>
              <a:t>04:51:30.459  STATION_765_ALARMID   [0] -&gt; [110]     알람 110 발생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C0392B"/>
                </a:solidFill>
                <a:latin typeface="Consolas"/>
              </a:rPr>
              <a:t>04:51:30.459  STATION_765_ST        [1] -&gt; [3]       상태 : 정상 → 알람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C8D6DF"/>
                </a:solidFill>
                <a:latin typeface="Consolas"/>
              </a:rPr>
              <a:t>04:55:16.966  STATION_763~766_ST    [1] -&gt; [2]       주변 스테이션 일괄 전환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27AE60"/>
                </a:solidFill>
                <a:latin typeface="Consolas"/>
              </a:rPr>
              <a:t>04:55:18.528  STATION_765_ALARMID   [110] -&gt; [0]     알람 해제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C8D6DF"/>
                </a:solidFill>
                <a:latin typeface="Consolas"/>
              </a:rPr>
              <a:t>04:55:18.528  STATION_765_ST        [3] -&gt; [2]       복귀 중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27AE60"/>
                </a:solidFill>
                <a:latin typeface="Consolas"/>
              </a:rPr>
              <a:t>04:55:52.894  STATION_763~766_ST    [2] -&gt; [1]       전체 정상 복귀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26080"/>
            <a:ext cx="5440680" cy="1188720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30632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48806"/>
                </a:solidFill>
                <a:latin typeface="맑은 고딕"/>
              </a:rPr>
              <a:t>ALARMID 는 ErrTag 로 조회한다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364992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solidFill>
                  <a:srgbClr val="12232E"/>
                </a:solidFill>
                <a:latin typeface="맑은 고딕"/>
              </a:rPr>
              <a:t>110 → 260103_ErrTag_L30.xlsx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에서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
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ErrEvent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=110,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ErrType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=STATIONALARM :
"OLUS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송수신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조건이상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" (code 8122)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926080"/>
            <a:ext cx="5440680" cy="118872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91656" y="30632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C5364"/>
                </a:solidFill>
                <a:latin typeface="맑은 고딕"/>
              </a:rPr>
              <a:t>ST 값 읽기 (관측 기준 · 추정)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3364992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solidFill>
                  <a:srgbClr val="12232E"/>
                </a:solidFill>
                <a:latin typeface="맑은 고딕"/>
              </a:rPr>
              <a:t>1 =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정상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가동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
3 =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알람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상태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
2 =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전환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대기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(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알람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전후에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거쳐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2232E"/>
                </a:solidFill>
                <a:latin typeface="맑은 고딕"/>
              </a:rPr>
              <a:t>간다</a:t>
            </a:r>
            <a:r>
              <a:rPr sz="1000" b="0" dirty="0">
                <a:solidFill>
                  <a:srgbClr val="12232E"/>
                </a:solidFill>
                <a:latin typeface="맑은 고딕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31596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C5364"/>
                </a:solidFill>
                <a:latin typeface="맑은 고딕"/>
              </a:rPr>
              <a:t>같은 로그가 카세트 이동도 추적한다 (09:40)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645152"/>
            <a:ext cx="11064240" cy="1152144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4773168"/>
            <a:ext cx="10771632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dirty="0">
                <a:solidFill>
                  <a:srgbClr val="F5A623"/>
                </a:solidFill>
                <a:latin typeface="Consolas"/>
              </a:rPr>
              <a:t>09:40:41  STATION_768_CSTID    [] -&gt; [TPK31082]      768 에 </a:t>
            </a:r>
            <a:r>
              <a:rPr sz="950" b="0" dirty="0" err="1">
                <a:solidFill>
                  <a:srgbClr val="F5A623"/>
                </a:solidFill>
                <a:latin typeface="Consolas"/>
              </a:rPr>
              <a:t>도착</a:t>
            </a:r>
            <a:endParaRPr sz="950" b="0" dirty="0">
              <a:solidFill>
                <a:srgbClr val="F5A623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dirty="0">
                <a:solidFill>
                  <a:srgbClr val="C8D6DF"/>
                </a:solidFill>
                <a:latin typeface="Consolas"/>
              </a:rPr>
              <a:t>09:40:43  STATION_768_EXIST    [0] -&gt; [1]            </a:t>
            </a:r>
            <a:r>
              <a:rPr sz="950" b="0" dirty="0" err="1">
                <a:solidFill>
                  <a:srgbClr val="C8D6DF"/>
                </a:solidFill>
                <a:latin typeface="Consolas"/>
              </a:rPr>
              <a:t>존재</a:t>
            </a:r>
            <a:r>
              <a:rPr sz="950" b="0" dirty="0">
                <a:solidFill>
                  <a:srgbClr val="C8D6DF"/>
                </a:solidFill>
                <a:latin typeface="Consolas"/>
              </a:rPr>
              <a:t> ON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dirty="0">
                <a:solidFill>
                  <a:srgbClr val="F5A623"/>
                </a:solidFill>
                <a:latin typeface="Consolas"/>
              </a:rPr>
              <a:t>09:40:49  STATION_10768_CSTID  [] -&gt; [TPK31082]      10768 에 </a:t>
            </a:r>
            <a:r>
              <a:rPr sz="950" b="0" dirty="0" err="1">
                <a:solidFill>
                  <a:srgbClr val="F5A623"/>
                </a:solidFill>
                <a:latin typeface="Consolas"/>
              </a:rPr>
              <a:t>나타남</a:t>
            </a:r>
            <a:endParaRPr sz="950" b="0" dirty="0">
              <a:solidFill>
                <a:srgbClr val="F5A623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dirty="0">
                <a:solidFill>
                  <a:srgbClr val="C8D6DF"/>
                </a:solidFill>
                <a:latin typeface="Consolas"/>
              </a:rPr>
              <a:t>09:40:49  STATION_768_CSTID    [TPK31082] -&gt; []      768 </a:t>
            </a:r>
            <a:r>
              <a:rPr sz="950" b="0" dirty="0" err="1">
                <a:solidFill>
                  <a:srgbClr val="C8D6DF"/>
                </a:solidFill>
                <a:latin typeface="Consolas"/>
              </a:rPr>
              <a:t>비움</a:t>
            </a:r>
            <a:r>
              <a:rPr sz="950" b="0" dirty="0">
                <a:solidFill>
                  <a:srgbClr val="C8D6DF"/>
                </a:solidFill>
                <a:latin typeface="Consolas"/>
              </a:rPr>
              <a:t> (</a:t>
            </a:r>
            <a:r>
              <a:rPr sz="950" b="0" dirty="0" err="1">
                <a:solidFill>
                  <a:srgbClr val="C8D6DF"/>
                </a:solidFill>
                <a:latin typeface="Consolas"/>
              </a:rPr>
              <a:t>이동</a:t>
            </a:r>
            <a:r>
              <a:rPr sz="950" b="0" dirty="0">
                <a:solidFill>
                  <a:srgbClr val="C8D6DF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C8D6DF"/>
                </a:solidFill>
                <a:latin typeface="Consolas"/>
              </a:rPr>
              <a:t>완료</a:t>
            </a:r>
            <a:r>
              <a:rPr sz="950" b="0" dirty="0">
                <a:solidFill>
                  <a:srgbClr val="C8D6DF"/>
                </a:solidFill>
                <a:latin typeface="Consolas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779008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" y="58978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dirty="0" err="1">
                <a:solidFill>
                  <a:srgbClr val="FFFFFF"/>
                </a:solidFill>
                <a:latin typeface="맑은 고딕"/>
              </a:rPr>
              <a:t>이상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판별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:  _CSTID 는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찼는데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_EXIST=0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이면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불일치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(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센서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또는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DB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오류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)   ·   값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변화가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아예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없으면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PLC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통신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두절</a:t>
            </a:r>
            <a:endParaRPr sz="1050" b="1" dirty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ReadWrite  ·  PlcCommLog  ·  MsgTransfer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PLCDRIVERFORM · PLC ↔ 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2232E"/>
                </a:solidFill>
                <a:latin typeface="Consolas"/>
              </a:rPr>
              <a:t>ReadWrite — 태그 읽기/쓰기 + 3단계 결과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700784"/>
            <a:ext cx="10771632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C8D6DF"/>
                </a:solidFill>
                <a:latin typeface="Consolas"/>
              </a:rPr>
              <a:t>08-03 09:40:41.830, TagName : STATION_768_CSTID, PlcNum : 6, ADDRESS : 10410, DATATYPE : STR,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F5A623"/>
                </a:solidFill>
                <a:latin typeface="Consolas"/>
              </a:rPr>
              <a:t>   OLD : , NEW : TPK31082, PLCREAD : OK, DBWrite : OK, PlcConnection : OK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C8D6DF"/>
                </a:solidFill>
                <a:latin typeface="Consolas"/>
              </a:rPr>
              <a:t>08-03 08:29:18.004, TagName : STATION_30799_ALARMID, PlcNum : 3, ADDRESS : 10651, DATATYPE : INT,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C0392B"/>
                </a:solidFill>
                <a:latin typeface="Consolas"/>
              </a:rPr>
              <a:t>   OLD : 0, NEW : 120, PLCREAD : OK, DBWrite : OK, PlcConnection :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1635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PlcNum /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" y="2816352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PLC 번호 / 실제 메모리 주소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09981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DATATYPE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3099816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STR 문자열 / INT 정수 / BIT 비트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38328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OLD → 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3383280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값 변화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281635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PLCREAD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1" y="2816352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PLC 읽기 성공 (NG → 통신/주소 문제)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309981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DBWrite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1" y="3099816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DB 기록 성공 (NG → PLC 와 DB 불일치)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338328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PlcConnection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1" y="3383280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PLC 연결 상태 (NG → 연결 끊김)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749039"/>
            <a:ext cx="11064240" cy="859536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867911"/>
            <a:ext cx="10735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PlcTag 의 상위 로그. 어느 PLC 의 어느 주소에 썼고 DB 기록까지 성공했는지 기록.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78807"/>
            <a:ext cx="10735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PLC 와 DB 가 안 맞을 때. 3단계(PLCREAD·DBWrite·PlcConnection)가 전부 OK 여야 정상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736592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32E"/>
                </a:solidFill>
                <a:latin typeface="Consolas"/>
              </a:rPr>
              <a:t>PlcCommLog — PLC 연결 상태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29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5157216"/>
            <a:ext cx="51480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09:13:04.806, U. 4, CurrentStep : Run 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BeforeStep : WaitConnect, AccessMode : None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09:13:04.806, U. 3, CurrentStep : Run 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  BeforeStep : WaitConnect, AccessMode : PLC_READ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108192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B85"/>
                </a:solidFill>
                <a:latin typeface="맑은 고딕"/>
              </a:rPr>
              <a:t>U. n 은 차량이 아니라 PLC 번호(1~8). Run 이 정상, WaitConnect 에 머물면 미연결.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736592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32E"/>
                </a:solidFill>
                <a:latin typeface="Consolas"/>
              </a:rPr>
              <a:t>MsgTransfer — Core → PLC 쓰기 요청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5029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5157216"/>
            <a:ext cx="51480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09:41:06.468, [CoreToPlcDrv] EvtNumber : 04106464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   EventWriteDataRequest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&lt;WcfEvent&gt;&lt;Header&gt;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&lt;WORKTYPE&gt;Update&lt;/WORKTYPE&gt; &lt;PROCESS&gt;4&lt;/PROCESS&gt;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6108192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B85"/>
                </a:solidFill>
                <a:latin typeface="맑은 고딕"/>
              </a:rPr>
              <a:t>Order 의 Write PLC CstID 와 짝이 되고, 실제 결과는 ReadWrite 에 남는다.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MCSSystem  ·  WCFMsgTransfer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MCSIF_Form · HOST ↔ 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MCSSystem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Host 명령 처리 결과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0392B"/>
                </a:solidFill>
                <a:latin typeface="Consolas"/>
              </a:rPr>
              <a:t>09:48:47.086, S2F49 TRANSFER Call Prevented,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0392B"/>
                </a:solidFill>
                <a:latin typeface="Consolas"/>
              </a:rPr>
              <a:t>   VehicleNumber = 50, CmdID = 737278,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0392B"/>
                </a:solidFill>
                <a:latin typeface="Consolas"/>
              </a:rPr>
              <a:t>   EventNumber = 4846648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09:48:47.695, S2F49 TRANSFER Call Prevented,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 VehicleNumber = 50, CmdID = 737279, ...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09:49:37.651, S2F41 ABORT Order Step is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 CompleteStep, CmdID = 737271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0392B"/>
                </a:solidFill>
                <a:latin typeface="Consolas"/>
              </a:rPr>
              <a:t>09:52:52.400, S2F41 Remove Cannot find Cassette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858768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Host 가 내린 명령의 처리 결과(주로 실패)를 기록.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Host 지시가 거부된 이유를 가장 먼저 확인. 1시간에 몇 건이 정상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01091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S2F49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6232" y="501091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12232E"/>
                </a:solidFill>
                <a:latin typeface="맑은 고딕"/>
              </a:rPr>
              <a:t>Host 의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반송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지시</a:t>
            </a:r>
            <a:endParaRPr sz="900" b="0" dirty="0">
              <a:solidFill>
                <a:srgbClr val="12232E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648" y="529437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S2F41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2" y="5294376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12232E"/>
                </a:solidFill>
                <a:latin typeface="맑은 고딕"/>
              </a:rPr>
              <a:t>Host 의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제어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명령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(ABORT/Remove)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57784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CmdID·EventNumber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557784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 err="1">
                <a:solidFill>
                  <a:srgbClr val="12232E"/>
                </a:solidFill>
                <a:latin typeface="맑은 고딕"/>
              </a:rPr>
              <a:t>OrderNack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과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조인하는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WCFMsgTransfer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Core ↔ MCSIF 이벤트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1975104"/>
            <a:ext cx="5440680" cy="1755648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2103120"/>
            <a:ext cx="5148072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09:08:07.507, [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CoreToMCS</a:t>
            </a:r>
            <a:r>
              <a:rPr sz="819" b="0" dirty="0">
                <a:solidFill>
                  <a:srgbClr val="C8D6DF"/>
                </a:solidFill>
                <a:latin typeface="Consolas"/>
              </a:rPr>
              <a:t>] [ID=0] 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EvtNum</a:t>
            </a:r>
            <a:r>
              <a:rPr sz="819" b="0" dirty="0">
                <a:solidFill>
                  <a:srgbClr val="C8D6DF"/>
                </a:solidFill>
                <a:latin typeface="Consolas"/>
              </a:rPr>
              <a:t> : 00807503,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   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SysByte</a:t>
            </a:r>
            <a:r>
              <a:rPr sz="819" b="0" dirty="0">
                <a:solidFill>
                  <a:srgbClr val="C8D6DF"/>
                </a:solidFill>
                <a:latin typeface="Consolas"/>
              </a:rPr>
              <a:t> : 00000000 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EventName</a:t>
            </a:r>
            <a:r>
              <a:rPr sz="819" b="0" dirty="0">
                <a:solidFill>
                  <a:srgbClr val="C8D6DF"/>
                </a:solidFill>
                <a:latin typeface="Consolas"/>
              </a:rPr>
              <a:t> : 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EventAlarmSetReport</a:t>
            </a:r>
            <a:endParaRPr sz="819" b="0" dirty="0">
              <a:solidFill>
                <a:srgbClr val="C8D6DF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09:08:07.507, [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CoreToMCS</a:t>
            </a:r>
            <a:r>
              <a:rPr sz="819" b="0" dirty="0">
                <a:solidFill>
                  <a:srgbClr val="C8D6DF"/>
                </a:solidFill>
                <a:latin typeface="Consolas"/>
              </a:rPr>
              <a:t>] [ID=0] ... 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EventAlarmSet</a:t>
            </a:r>
            <a:endParaRPr sz="819" b="0" dirty="0">
              <a:solidFill>
                <a:srgbClr val="C8D6DF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09:08:07.820, [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CoreToMCS</a:t>
            </a:r>
            <a:r>
              <a:rPr sz="819" b="0" dirty="0">
                <a:solidFill>
                  <a:srgbClr val="C8D6DF"/>
                </a:solidFill>
                <a:latin typeface="Consolas"/>
              </a:rPr>
              <a:t>] [ID=0] ... 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EventMonitoredVehicle</a:t>
            </a:r>
            <a:endParaRPr sz="819" b="0" dirty="0">
              <a:solidFill>
                <a:srgbClr val="C8D6DF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0392B"/>
                </a:solidFill>
                <a:latin typeface="Consolas"/>
              </a:rPr>
              <a:t>09:08:07.958, [</a:t>
            </a:r>
            <a:r>
              <a:rPr sz="819" b="0" dirty="0" err="1">
                <a:solidFill>
                  <a:srgbClr val="C0392B"/>
                </a:solidFill>
                <a:latin typeface="Consolas"/>
              </a:rPr>
              <a:t>CoreToMCS</a:t>
            </a:r>
            <a:r>
              <a:rPr sz="819" b="0" dirty="0">
                <a:solidFill>
                  <a:srgbClr val="C0392B"/>
                </a:solidFill>
                <a:latin typeface="Consolas"/>
              </a:rPr>
              <a:t>] [ID=1] ... </a:t>
            </a:r>
            <a:r>
              <a:rPr sz="819" b="0" dirty="0" err="1">
                <a:solidFill>
                  <a:srgbClr val="C0392B"/>
                </a:solidFill>
                <a:latin typeface="Consolas"/>
              </a:rPr>
              <a:t>EventMonitoredVehicle</a:t>
            </a:r>
            <a:r>
              <a:rPr sz="819" b="0" dirty="0">
                <a:solidFill>
                  <a:srgbClr val="C0392B"/>
                </a:solidFill>
                <a:latin typeface="Consolas"/>
              </a:rPr>
              <a:t>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0392B"/>
                </a:solidFill>
                <a:latin typeface="Consolas"/>
              </a:rPr>
              <a:t>   </a:t>
            </a:r>
            <a:r>
              <a:rPr sz="819" b="0" dirty="0" err="1">
                <a:solidFill>
                  <a:srgbClr val="C0392B"/>
                </a:solidFill>
                <a:latin typeface="Consolas"/>
              </a:rPr>
              <a:t>HandleReceiveCoreEventMsg</a:t>
            </a:r>
            <a:r>
              <a:rPr sz="819" b="0" dirty="0">
                <a:solidFill>
                  <a:srgbClr val="C0392B"/>
                </a:solidFill>
                <a:latin typeface="Consolas"/>
              </a:rPr>
              <a:t> failed NOT_DEFINE_XCOMPROC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09:08:09.568, [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CoreToMCS</a:t>
            </a:r>
            <a:r>
              <a:rPr sz="819" b="0" dirty="0">
                <a:solidFill>
                  <a:srgbClr val="C8D6DF"/>
                </a:solidFill>
                <a:latin typeface="Consolas"/>
              </a:rPr>
              <a:t>] [ID=0] ... 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EventVehicleArrived</a:t>
            </a:r>
            <a:endParaRPr sz="819" b="0" dirty="0">
              <a:solidFill>
                <a:srgbClr val="C8D6DF"/>
              </a:solidFill>
              <a:latin typeface="Consolas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09:08:12.459, [</a:t>
            </a:r>
            <a:r>
              <a:rPr sz="819" b="0" dirty="0" err="1">
                <a:solidFill>
                  <a:srgbClr val="C8D6DF"/>
                </a:solidFill>
                <a:latin typeface="Consolas"/>
              </a:rPr>
              <a:t>CoreToMCS</a:t>
            </a:r>
            <a:r>
              <a:rPr sz="819" b="0" dirty="0">
                <a:solidFill>
                  <a:srgbClr val="C8D6DF"/>
                </a:solidFill>
                <a:latin typeface="Consolas"/>
              </a:rPr>
              <a:t>] [ID=0] ... EventAlarmClearReport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858768"/>
            <a:ext cx="5440680" cy="1389888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79" y="3977639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dirty="0" err="1">
                <a:solidFill>
                  <a:srgbClr val="D48806"/>
                </a:solidFill>
                <a:latin typeface="맑은 고딕"/>
              </a:rPr>
              <a:t>역할</a:t>
            </a:r>
            <a:r>
              <a:rPr sz="1000" b="1" dirty="0">
                <a:solidFill>
                  <a:srgbClr val="D48806"/>
                </a:solidFill>
                <a:latin typeface="맑은 고딕"/>
              </a:rPr>
              <a:t>  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Core 가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만든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이벤트를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MCSIF 가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받아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처리한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이력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4361688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dirty="0" err="1">
                <a:solidFill>
                  <a:srgbClr val="D48806"/>
                </a:solidFill>
                <a:latin typeface="맑은 고딕"/>
              </a:rPr>
              <a:t>확인</a:t>
            </a:r>
            <a:r>
              <a:rPr sz="1000" b="1" dirty="0">
                <a:solidFill>
                  <a:srgbClr val="D48806"/>
                </a:solidFill>
                <a:latin typeface="맑은 고딕"/>
              </a:rPr>
              <a:t> 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이벤트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유실·처리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실패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확인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. failed 가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보이면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인터페이스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정의를</a:t>
            </a:r>
            <a:r>
              <a:rPr sz="105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2232E"/>
                </a:solidFill>
                <a:latin typeface="맑은 고딕"/>
              </a:rPr>
              <a:t>점검</a:t>
            </a:r>
            <a:endParaRPr sz="1050" b="0" dirty="0">
              <a:solidFill>
                <a:srgbClr val="12232E"/>
              </a:solidFill>
              <a:latin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55079" y="4745736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dirty="0" err="1">
                <a:solidFill>
                  <a:srgbClr val="C0392B"/>
                </a:solidFill>
                <a:latin typeface="맑은 고딕"/>
              </a:rPr>
              <a:t>추정</a:t>
            </a:r>
            <a:r>
              <a:rPr sz="1000" b="1" dirty="0">
                <a:solidFill>
                  <a:srgbClr val="C0392B"/>
                </a:solidFill>
                <a:latin typeface="맑은 고딕"/>
              </a:rPr>
              <a:t>  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위 예 :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채널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0 은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성공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,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채널</a:t>
            </a:r>
            <a:r>
              <a:rPr sz="1000" b="0" dirty="0">
                <a:solidFill>
                  <a:srgbClr val="6B7B85"/>
                </a:solidFill>
                <a:latin typeface="맑은 고딕"/>
              </a:rPr>
              <a:t> 1 만 NOT_DEFINE_XCOMPROC 로 </a:t>
            </a:r>
            <a:r>
              <a:rPr sz="1000" b="0" dirty="0" err="1">
                <a:solidFill>
                  <a:srgbClr val="6B7B85"/>
                </a:solidFill>
                <a:latin typeface="맑은 고딕"/>
              </a:rPr>
              <a:t>실패</a:t>
            </a:r>
            <a:endParaRPr sz="1000" b="0" dirty="0">
              <a:solidFill>
                <a:srgbClr val="6B7B85"/>
              </a:solidFill>
              <a:latin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36207" y="539496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[CoreToMCS]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539496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Core → MCSIF 방향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7" y="567842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[ID=n]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5678424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Host 연결 채널 번호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7" y="596188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EvtNum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5961888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이벤트 번호 — XML 로그 조인 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7" y="624535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failed ...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624535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처리 실패 사유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SecsMsgTransfer  ·  WCFMsgTransferXML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MCSIF_Form · HOST ↔ 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SecsMsgTransfer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SECS 메시지 송수신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75104"/>
            <a:ext cx="5440680" cy="1943100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5148072" cy="1687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09:08:29.937, [ID=1] EvtNum : 00829783, SysByte :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  00000000, [SEND] S6F11 CEID = 503,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  (CEID_Unit_Alarm_Clear)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09:08:29.984, [ID=1] ... SysByte : 00B0D35A,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27AE60"/>
                </a:solidFill>
                <a:latin typeface="Consolas"/>
              </a:rPr>
              <a:t>  [RECV] S5F2 Alarm Report Acknowledge ... OK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09:08:31.530, ... [SEND] S5F1, Alarm Report Send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09:08:32.765, ... [SEND] S6F11 CEID = 52, (CEID_Alarm_Set)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09:08:33.561, ... [SEND] S6F11 CEID = 201,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(CEID_Vehicle_Arrived)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04622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165091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SECS 규격 메시지의 송수신 이력과 CEID.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49140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Host 보고가 실제로 나갔는지 확인. [SEND] 후 [RECV] S5F2 가 없으면 Host 미수신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19836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[SEND] / [RECV]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6232" y="5198364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OCS→Host / Host→OCS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48182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S6F11 / S5F1 / S5F2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2" y="5481828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이벤트 보고 / 알람 보고 / 알람 응답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76529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CEID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576529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이벤트 ID (51·52 알람, 503·504 유닛알람, 201 도착)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04875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SysByte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6232" y="6048756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Secom 원문(SECS-I/II)과 조인하는 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13716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232E"/>
                </a:solidFill>
                <a:latin typeface="Consolas"/>
              </a:rPr>
              <a:t>WCFMsgTransferXML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5" y="1691640"/>
            <a:ext cx="5440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48806"/>
                </a:solidFill>
                <a:latin typeface="맑은 고딕"/>
              </a:rPr>
              <a:t>이벤트 XML 원문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1975104"/>
            <a:ext cx="5440680" cy="1943100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2103120"/>
            <a:ext cx="5148072" cy="1687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F5A623"/>
                </a:solidFill>
                <a:latin typeface="Consolas"/>
              </a:rPr>
              <a:t>&lt;EVENTNAME&gt;EventTransferPaused&lt;/EVENTNAME&gt;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&lt;EVENTNUMBER&gt;23677&lt;/EVENTNUMBER&gt;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&lt;MESSAGEID&gt;23677&lt;/MESSAGEID&gt;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7EC8E3"/>
                </a:solidFill>
                <a:latin typeface="Consolas"/>
              </a:rPr>
              <a:t>&lt;USERNAME&gt;ADMIN&lt;/USERNAME&gt;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7EC8E3"/>
                </a:solidFill>
                <a:latin typeface="Consolas"/>
              </a:rPr>
              <a:t>&lt;TRIGGER&gt;CORE&lt;/TRIGGER&gt;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&lt;DATETIME&gt;2026-08-03 09:00:23.670&lt;/DATETIME&gt;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&lt;WORKTYPE&gt;Occure&lt;/WORKTYPE&gt;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&lt;PCNAME&gt;STOTA20100&lt;/PCNAME&gt;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&lt;IPADDRESS&gt;10.36.202.163_10.1.1.253_...&lt;/IPADDRESS&gt;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404622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D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79" y="4165091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역할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이벤트의 전체 내용을 XML 원문으로 보관.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4549140"/>
            <a:ext cx="51114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8806"/>
                </a:solidFill>
                <a:latin typeface="맑은 고딕"/>
              </a:rPr>
              <a:t>확인  </a:t>
            </a:r>
            <a:r>
              <a:rPr sz="1050" b="0">
                <a:solidFill>
                  <a:srgbClr val="12232E"/>
                </a:solidFill>
                <a:latin typeface="맑은 고딕"/>
              </a:rPr>
              <a:t>이벤트 상세 내용이 필요할 때만. WCFMsgTransfer 에서 EvtNum 특정 후 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519836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EVENTNUMBER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5198364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WCFMsgTransfer 의 EvtNum 과 동일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548182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5481828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CORE=자동 / ADMIN·GT=사람 조작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7" y="576529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WORKTYPE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576529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Occure / Update 등 동작 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7" y="6048756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USERNAME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6048756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조작자 계정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SECS-II  ·  SECS-I  ·  SECOMDRIVER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Secom · HOST ↔ OCS  |  하루 170MB — 시각과 SystemBytes 를 특정한 뒤 그 부분만 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32E"/>
                </a:solidFill>
                <a:latin typeface="Consolas"/>
              </a:rPr>
              <a:t>SECS-II — 전문 해석본 (사람이 읽는 형태)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64240" cy="1545336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700784"/>
            <a:ext cx="10771632" cy="128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F5A623"/>
                </a:solidFill>
                <a:latin typeface="Consolas"/>
              </a:rPr>
              <a:t>08-03 00:00:24.506 SEND : D1 S6F11 W  SystemBytes=11517666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C8D6DF"/>
                </a:solidFill>
                <a:latin typeface="Consolas"/>
              </a:rPr>
              <a:t>   &lt;L 3  &lt;U4 1 DATAID '0'&gt;  &lt;U2 1 CEID '504'&gt;   &lt;L 1 &lt;L 2 &lt;U2 1 RPTID '12'&gt;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C8D6DF"/>
                </a:solidFill>
                <a:latin typeface="Consolas"/>
              </a:rPr>
              <a:t>       &lt;L 6 &lt;A 10 EQPNAME 'STOTA20100'&gt;  &lt;A 10 UNITID 'STOTA00088'&gt;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F5A623"/>
                </a:solidFill>
                <a:latin typeface="Consolas"/>
              </a:rPr>
              <a:t>            &lt;U2 1 ALARMID '30'&gt;  &lt;A 34 ALARMTEXT 'FRONT_VEHICLE_SENSOR_DETECTED_STOP'&gt;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C8D6DF"/>
                </a:solidFill>
                <a:latin typeface="Consolas"/>
              </a:rPr>
              <a:t>            &lt;A 0 VEHICLECURRENTPOSITION ''&gt;  &lt;A 1 UNITSTATUSCLEABLE 'N'&gt; &gt; &gt; &gt; &gt;.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27AE60"/>
                </a:solidFill>
                <a:latin typeface="Consolas"/>
              </a:rPr>
              <a:t>08-03 00:00:24.506 SENT : S6 F11 [11517666] ErrorCode=0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4612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SystemBytes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" y="3246120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SecsMsgTransfer 와 조인하는 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52958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CEID / RPTID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3529584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 err="1">
                <a:solidFill>
                  <a:srgbClr val="12232E"/>
                </a:solidFill>
                <a:latin typeface="맑은 고딕"/>
              </a:rPr>
              <a:t>이벤트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ID /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리포트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81304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EQPNAME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3813048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12232E"/>
                </a:solidFill>
                <a:latin typeface="맑은 고딕"/>
              </a:rPr>
              <a:t>OCS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서버명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/ UNITID 는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차량</a:t>
            </a:r>
            <a:r>
              <a:rPr sz="900" b="0" dirty="0">
                <a:solidFill>
                  <a:srgbClr val="12232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2232E"/>
                </a:solidFill>
                <a:latin typeface="맑은 고딕"/>
              </a:rPr>
              <a:t>유닛</a:t>
            </a:r>
            <a:endParaRPr sz="900" b="0" dirty="0">
              <a:solidFill>
                <a:srgbClr val="12232E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99048" y="324612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ALARMID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1" y="3246120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알람 번호 (ALARMTEXT 는 이름)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352958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ErrorCode=0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1" y="3529584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송신 성공 (≠0 이면 Host 거부)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381304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C5364"/>
                </a:solidFill>
                <a:latin typeface="Consolas"/>
              </a:rPr>
              <a:t>&lt;L&gt; &lt;A&gt; &lt;U2&gt;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1" y="3813048"/>
            <a:ext cx="4233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2232E"/>
                </a:solidFill>
                <a:latin typeface="맑은 고딕"/>
              </a:rPr>
              <a:t>리스트 / ASCII / 부호없는 2바이트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224528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32E"/>
                </a:solidFill>
                <a:latin typeface="Consolas"/>
              </a:rPr>
              <a:t>SECS-I — 바이너리 원문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517136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4645152"/>
            <a:ext cx="51480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C8D6DF"/>
                </a:solidFill>
                <a:latin typeface="Consolas"/>
              </a:rPr>
              <a:t>00:00:37.690 SEND 00 01 86 0B 00 00 00 AF BF 08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F5A623"/>
                </a:solidFill>
                <a:latin typeface="Consolas"/>
              </a:rPr>
              <a:t>     Length = 86   (S6F11W) [SB=11517704]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7EC8E3"/>
                </a:solidFill>
                <a:latin typeface="Consolas"/>
              </a:rPr>
              <a:t>  41 0A 53 54 4F 54 41 32 30 31 30 30 ...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dirty="0">
                <a:solidFill>
                  <a:srgbClr val="27AE60"/>
                </a:solidFill>
                <a:latin typeface="Consolas"/>
              </a:rPr>
              <a:t>00:00:37.706 RECD ... (S6F12) [SB=11517703]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614416"/>
            <a:ext cx="5440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B7B85"/>
                </a:solidFill>
                <a:latin typeface="맑은 고딕"/>
              </a:rPr>
              <a:t>41 0A 53 54... 는 ASCII (41=A타입, 0A=길이10, 'STOTA20100').
SEND 에 대응하는 RECD 가 없으면 Host 미응답.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4224528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32E"/>
                </a:solidFill>
                <a:latin typeface="Consolas"/>
              </a:rPr>
              <a:t>SECOMDRIVER — HSMS 드라이버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4517136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0D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36792" y="4645152"/>
            <a:ext cx="51480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00:01:01.810 (5) (68) HSMSDriver OnReadHsms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27AE60"/>
                </a:solidFill>
                <a:latin typeface="Consolas"/>
              </a:rPr>
              <a:t>     LinkTest Restart Success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00:01:01.825 (5) (50) CHSMSDriver NormalMessage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>
                <a:solidFill>
                  <a:srgbClr val="C8D6DF"/>
                </a:solidFill>
                <a:latin typeface="Consolas"/>
              </a:rPr>
              <a:t>     [Before/After ReceiveEvent SystemByte: 11517754]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5614416"/>
            <a:ext cx="5440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B7B85"/>
                </a:solidFill>
                <a:latin typeface="맑은 고딕"/>
              </a:rPr>
              <a:t>LinkTest Restart Success 가 주기적으로 나와야 정상.
Before 만 있고 After 가 없으면 그 메시지에서 멈춘 것이다.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정상 기준값 (현장 실측)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2026-08-03 10시대 1시간 · 차량 44대 운영 기준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55448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5A623"/>
                </a:solidFill>
                <a:latin typeface="맑은 고딕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55448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5A623"/>
                </a:solidFill>
                <a:latin typeface="맑은 고딕"/>
              </a:rPr>
              <a:t>정상 실측값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55448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5A623"/>
                </a:solidFill>
                <a:latin typeface="맑은 고딕"/>
              </a:rPr>
              <a:t>이상 판정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74520"/>
            <a:ext cx="11064240" cy="310896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911095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232E"/>
                </a:solidFill>
                <a:latin typeface="맑은 고딕"/>
              </a:rPr>
              <a:t>Core 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911095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5364"/>
                </a:solidFill>
                <a:latin typeface="맑은 고딕"/>
              </a:rPr>
              <a:t>0.0 ~ 0.1%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11095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맑은 고딕"/>
              </a:rPr>
              <a:t>20% 초과 지속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23570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232E"/>
                </a:solidFill>
                <a:latin typeface="맑은 고딕"/>
              </a:rPr>
              <a:t>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23570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5364"/>
                </a:solidFill>
                <a:latin typeface="맑은 고딕"/>
              </a:rPr>
              <a:t>2,280MB / 59.8% 고정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3570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맑은 고딕"/>
              </a:rPr>
              <a:t>계속 증가 → 누수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523744"/>
            <a:ext cx="11064240" cy="310896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256032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232E"/>
                </a:solidFill>
                <a:latin typeface="맑은 고딕"/>
              </a:rPr>
              <a:t>DB / HQ / PQ 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56032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5364"/>
                </a:solidFill>
                <a:latin typeface="맑은 고딕"/>
              </a:rPr>
              <a:t>전부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603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맑은 고딕"/>
              </a:rPr>
              <a:t>0 아니고 증가 → 적체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288493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232E"/>
                </a:solidFill>
                <a:latin typeface="맑은 고딕"/>
              </a:rPr>
              <a:t>Ping 성공률 / 응답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88493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5364"/>
                </a:solidFill>
                <a:latin typeface="맑은 고딕"/>
              </a:rPr>
              <a:t>99.87% / 평균 14.1ms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8493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맑은 고딕"/>
              </a:rPr>
              <a:t>99% 미만 · 평균 50ms 초과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172968"/>
            <a:ext cx="11064240" cy="310896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320954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232E"/>
                </a:solidFill>
                <a:latin typeface="맑은 고딕"/>
              </a:rPr>
              <a:t>CommT 타임아웃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209544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5364"/>
                </a:solidFill>
                <a:latin typeface="맑은 고딕"/>
              </a:rPr>
              <a:t>491건/시간 (차량당 18~24)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20954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맑은 고딕"/>
              </a:rPr>
              <a:t>특정 차량 수백 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53415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232E"/>
                </a:solidFill>
                <a:latin typeface="맑은 고딕"/>
              </a:rPr>
              <a:t>PntOccupy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53415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5364"/>
                </a:solidFill>
                <a:latin typeface="맑은 고딕"/>
              </a:rPr>
              <a:t>Deny 23,716 / Confirm 10,723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53415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맑은 고딕"/>
              </a:rPr>
              <a:t>특정 JCR 집중 · 해제 누락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22191"/>
            <a:ext cx="11064240" cy="310896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385876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232E"/>
                </a:solidFill>
                <a:latin typeface="맑은 고딕"/>
              </a:rPr>
              <a:t>알람 30번 / 31번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385876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5364"/>
                </a:solidFill>
                <a:latin typeface="맑은 고딕"/>
              </a:rPr>
              <a:t>504건 / 3건 (시간당)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85876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맑은 고딕"/>
              </a:rPr>
              <a:t>급증 = 정체 심화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4183379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232E"/>
                </a:solidFill>
                <a:latin typeface="맑은 고딕"/>
              </a:rPr>
              <a:t>OrderNack / OrderFail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4183379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5364"/>
                </a:solidFill>
                <a:latin typeface="맑은 고딕"/>
              </a:rPr>
              <a:t>3건 / 0~수 건 (시간당)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183379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맑은 고딕"/>
              </a:rPr>
              <a:t>급증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471416"/>
            <a:ext cx="11064240" cy="310896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" y="450799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232E"/>
                </a:solidFill>
                <a:latin typeface="맑은 고딕"/>
              </a:rPr>
              <a:t>MsgSend Remain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450799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5364"/>
                </a:solidFill>
                <a:latin typeface="맑은 고딕"/>
              </a:rPr>
              <a:t>0 ~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50799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맑은 고딕"/>
              </a:rPr>
              <a:t>계속 증가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83260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232E"/>
                </a:solidFill>
                <a:latin typeface="맑은 고딕"/>
              </a:rPr>
              <a:t>Finder Tm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4832604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5364"/>
                </a:solidFill>
                <a:latin typeface="맑은 고딕"/>
              </a:rPr>
              <a:t>1ms 미만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83260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맑은 고딕"/>
              </a:rPr>
              <a:t>수 ms 이상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120640"/>
            <a:ext cx="11064240" cy="310896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8" y="515721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232E"/>
                </a:solidFill>
                <a:latin typeface="맑은 고딕"/>
              </a:rPr>
              <a:t>MoveHistory 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515721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5364"/>
                </a:solidFill>
                <a:latin typeface="맑은 고딕"/>
              </a:rPr>
              <a:t>874 ~ 2,000ms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15721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맑은 고딕"/>
              </a:rPr>
              <a:t>구간 평균 급증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5481827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232E"/>
                </a:solidFill>
                <a:latin typeface="맑은 고딕"/>
              </a:rPr>
              <a:t>ComThread 경고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5481827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5364"/>
                </a:solidFill>
                <a:latin typeface="맑은 고딕"/>
              </a:rPr>
              <a:t>0~수 건/일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5481827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맑은 고딕"/>
              </a:rPr>
              <a:t>동시 다발 = 서버측 부하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5769864"/>
            <a:ext cx="11064240" cy="310896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1248" y="58064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232E"/>
                </a:solidFill>
                <a:latin typeface="맑은 고딕"/>
              </a:rPr>
              <a:t>CommException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23360" y="580644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5364"/>
                </a:solidFill>
                <a:latin typeface="맑은 고딕"/>
              </a:rPr>
              <a:t>2KB/일 수준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58064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맑은 고딕"/>
              </a:rPr>
              <a:t>MB 단위 = 재접속 폭증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613105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232E"/>
                </a:solidFill>
                <a:latin typeface="맑은 고딕"/>
              </a:rPr>
              <a:t>AP CPU (SNMP)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613105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C5364"/>
                </a:solidFill>
                <a:latin typeface="맑은 고딕"/>
              </a:rPr>
              <a:t>13 ~ 17%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613105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맑은 고딕"/>
              </a:rPr>
              <a:t>84% 같은 편차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2232E"/>
                </a:solidFill>
                <a:latin typeface="맑은 고딕"/>
              </a:rPr>
              <a:t>증상별 진입점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B85"/>
                </a:solidFill>
                <a:latin typeface="맑은 고딕"/>
              </a:rPr>
              <a:t>순서대로 여는 것이 중요하다 — 뒤 로그부터 보면 증상을 원인으로 오인한다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32E"/>
                </a:solidFill>
                <a:latin typeface="맑은 고딕"/>
              </a:rPr>
              <a:t>특정 차량이 안 움직임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517904"/>
            <a:ext cx="530352" cy="36576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20440" y="1591056"/>
            <a:ext cx="530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2232E"/>
                </a:solidFill>
                <a:latin typeface="Consolas"/>
              </a:rPr>
              <a:t>Comm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96511" y="1609344"/>
            <a:ext cx="237744" cy="182880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98264" y="1517904"/>
            <a:ext cx="1010412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98264" y="1591056"/>
            <a:ext cx="10104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PntOccupy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54395" y="1609344"/>
            <a:ext cx="237744" cy="182880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756147" y="1517904"/>
            <a:ext cx="626364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56147" y="1591056"/>
            <a:ext cx="6263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Order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428231" y="1609344"/>
            <a:ext cx="237744" cy="182880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729983" y="1517904"/>
            <a:ext cx="722376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9983" y="1591056"/>
            <a:ext cx="7223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Finder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09397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32E"/>
                </a:solidFill>
                <a:latin typeface="맑은 고딕"/>
              </a:rPr>
              <a:t>라인 전체 정체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2020824"/>
            <a:ext cx="1202436" cy="36576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0440" y="2093976"/>
            <a:ext cx="12024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2232E"/>
                </a:solidFill>
                <a:latin typeface="Consolas"/>
              </a:rPr>
              <a:t>MoveHistory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68596" y="2112264"/>
            <a:ext cx="237744" cy="182880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70348" y="2020824"/>
            <a:ext cx="1010412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0348" y="2093976"/>
            <a:ext cx="10104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PntOccupy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126480" y="2112264"/>
            <a:ext cx="237744" cy="182880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28232" y="2020824"/>
            <a:ext cx="1298448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28232" y="209397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VehicleEvent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59689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32E"/>
                </a:solidFill>
                <a:latin typeface="맑은 고딕"/>
              </a:rPr>
              <a:t>반송 지시가 안 나감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2523744"/>
            <a:ext cx="1010412" cy="365760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20440" y="2596896"/>
            <a:ext cx="10104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OrderNack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576572" y="2615184"/>
            <a:ext cx="237744" cy="182880"/>
          </a:xfrm>
          <a:prstGeom prst="rightArrow">
            <a:avLst/>
          </a:prstGeom>
          <a:solidFill>
            <a:srgbClr val="B0B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878324" y="2523744"/>
            <a:ext cx="1010412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78324" y="2596896"/>
            <a:ext cx="10104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MCSSystem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934455" y="2615184"/>
            <a:ext cx="237744" cy="182880"/>
          </a:xfrm>
          <a:prstGeom prst="rightArrow">
            <a:avLst/>
          </a:prstGeom>
          <a:solidFill>
            <a:srgbClr val="B0B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236207" y="2523744"/>
            <a:ext cx="1202436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6207" y="2596896"/>
            <a:ext cx="12024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SelectOrder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0998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32E"/>
                </a:solidFill>
                <a:latin typeface="맑은 고딕"/>
              </a:rPr>
              <a:t>작업이 계속 넘어감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20440" y="3026664"/>
            <a:ext cx="914400" cy="365760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20440" y="3099816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HandOver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480559" y="3118104"/>
            <a:ext cx="237744" cy="182880"/>
          </a:xfrm>
          <a:prstGeom prst="rightArrow">
            <a:avLst/>
          </a:prstGeom>
          <a:solidFill>
            <a:srgbClr val="B0B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782312" y="3026664"/>
            <a:ext cx="1010412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82312" y="3099816"/>
            <a:ext cx="10104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OrderFail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838443" y="3118104"/>
            <a:ext cx="237744" cy="182880"/>
          </a:xfrm>
          <a:prstGeom prst="rightArrow">
            <a:avLst/>
          </a:prstGeom>
          <a:solidFill>
            <a:srgbClr val="B0B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140195" y="3026664"/>
            <a:ext cx="1202436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40195" y="3099816"/>
            <a:ext cx="12024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SelectOrder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36027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32E"/>
                </a:solidFill>
                <a:latin typeface="맑은 고딕"/>
              </a:rPr>
              <a:t>카세트 ID 오류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20440" y="3529584"/>
            <a:ext cx="1010412" cy="365760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20440" y="3602736"/>
            <a:ext cx="10104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OrderNack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576572" y="3621024"/>
            <a:ext cx="237744" cy="182880"/>
          </a:xfrm>
          <a:prstGeom prst="rightArrow">
            <a:avLst/>
          </a:prstGeom>
          <a:solidFill>
            <a:srgbClr val="B0B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878324" y="3529584"/>
            <a:ext cx="722376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78324" y="3602736"/>
            <a:ext cx="7223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PlcTag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5646420" y="3621024"/>
            <a:ext cx="237744" cy="182880"/>
          </a:xfrm>
          <a:prstGeom prst="rightArrow">
            <a:avLst/>
          </a:prstGeom>
          <a:solidFill>
            <a:srgbClr val="B0B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948172" y="3529584"/>
            <a:ext cx="1010412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48172" y="3602736"/>
            <a:ext cx="10104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ReadWrite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41056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32E"/>
                </a:solidFill>
                <a:latin typeface="맑은 고딕"/>
              </a:rPr>
              <a:t>Host 연동 문제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20440" y="4032504"/>
            <a:ext cx="818388" cy="365760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520440" y="4105656"/>
            <a:ext cx="8183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MsgSend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4384548" y="4123944"/>
            <a:ext cx="237744" cy="182880"/>
          </a:xfrm>
          <a:prstGeom prst="rightArrow">
            <a:avLst/>
          </a:prstGeom>
          <a:solidFill>
            <a:srgbClr val="B0B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4686300" y="4032504"/>
            <a:ext cx="1490472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86300" y="4105656"/>
            <a:ext cx="14904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WCFMsgTransfer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6222492" y="4123944"/>
            <a:ext cx="237744" cy="182880"/>
          </a:xfrm>
          <a:prstGeom prst="rightArrow">
            <a:avLst/>
          </a:prstGeom>
          <a:solidFill>
            <a:srgbClr val="B0B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524244" y="4032504"/>
            <a:ext cx="1586484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24244" y="4105656"/>
            <a:ext cx="15864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SecsMsgTransfer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8156448" y="4123944"/>
            <a:ext cx="237744" cy="182880"/>
          </a:xfrm>
          <a:prstGeom prst="rightArrow">
            <a:avLst/>
          </a:prstGeom>
          <a:solidFill>
            <a:srgbClr val="B0B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458200" y="4032504"/>
            <a:ext cx="1202436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58200" y="4105656"/>
            <a:ext cx="12024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SECOMDRIVER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60857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32E"/>
                </a:solidFill>
                <a:latin typeface="맑은 고딕"/>
              </a:rPr>
              <a:t>무선 통신 불량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520440" y="4535424"/>
            <a:ext cx="626364" cy="36576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520440" y="4608576"/>
            <a:ext cx="6263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2232E"/>
                </a:solidFill>
                <a:latin typeface="Consolas"/>
              </a:rPr>
              <a:t>CommT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4192524" y="4626864"/>
            <a:ext cx="237744" cy="182880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4494276" y="4535424"/>
            <a:ext cx="530352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494276" y="4608576"/>
            <a:ext cx="530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Ping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5070348" y="4626864"/>
            <a:ext cx="237744" cy="182880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5372100" y="4535424"/>
            <a:ext cx="818388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372100" y="4608576"/>
            <a:ext cx="8183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Warning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511149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32E"/>
                </a:solidFill>
                <a:latin typeface="맑은 고딕"/>
              </a:rPr>
              <a:t>장비(PLC) 이상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520440" y="5038344"/>
            <a:ext cx="722376" cy="365760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520440" y="5111496"/>
            <a:ext cx="7223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PlcTag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4288536" y="5129784"/>
            <a:ext cx="237744" cy="182880"/>
          </a:xfrm>
          <a:prstGeom prst="rightArrow">
            <a:avLst/>
          </a:prstGeom>
          <a:solidFill>
            <a:srgbClr val="B0B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4590288" y="5038344"/>
            <a:ext cx="1010412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590288" y="5111496"/>
            <a:ext cx="10104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ReadWrite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5646420" y="5129784"/>
            <a:ext cx="237744" cy="182880"/>
          </a:xfrm>
          <a:prstGeom prst="rightArrow">
            <a:avLst/>
          </a:prstGeom>
          <a:solidFill>
            <a:srgbClr val="B0B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5948172" y="5038344"/>
            <a:ext cx="1106424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948172" y="5111496"/>
            <a:ext cx="11064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PlcCommLog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56144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32E"/>
                </a:solidFill>
                <a:latin typeface="맑은 고딕"/>
              </a:rPr>
              <a:t>서버가 느림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520440" y="5541264"/>
            <a:ext cx="626364" cy="365760"/>
          </a:xfrm>
          <a:prstGeom prst="roundRect">
            <a:avLst>
              <a:gd name="adj" fmla="val 6000"/>
            </a:avLst>
          </a:prstGeom>
          <a:solidFill>
            <a:srgbClr val="2C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520440" y="5614416"/>
            <a:ext cx="6263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Event</a:t>
            </a:r>
          </a:p>
        </p:txBody>
      </p:sp>
      <p:sp>
        <p:nvSpPr>
          <p:cNvPr id="86" name="Right Arrow 85"/>
          <p:cNvSpPr/>
          <p:nvPr/>
        </p:nvSpPr>
        <p:spPr>
          <a:xfrm>
            <a:off x="4192524" y="5632704"/>
            <a:ext cx="237744" cy="182880"/>
          </a:xfrm>
          <a:prstGeom prst="rightArrow">
            <a:avLst/>
          </a:prstGeom>
          <a:solidFill>
            <a:srgbClr val="B0B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4494276" y="5541264"/>
            <a:ext cx="818388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494276" y="5614416"/>
            <a:ext cx="8183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Warning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5358384" y="5632704"/>
            <a:ext cx="237744" cy="182880"/>
          </a:xfrm>
          <a:prstGeom prst="rightArrow">
            <a:avLst/>
          </a:prstGeom>
          <a:solidFill>
            <a:srgbClr val="B0B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5660136" y="5541264"/>
            <a:ext cx="1202436" cy="365760"/>
          </a:xfrm>
          <a:prstGeom prst="roundRect">
            <a:avLst>
              <a:gd name="adj" fmla="val 6000"/>
            </a:avLst>
          </a:prstGeom>
          <a:solidFill>
            <a:srgbClr val="EC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660136" y="5614416"/>
            <a:ext cx="12024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2C5364"/>
                </a:solidFill>
                <a:latin typeface="Consolas"/>
              </a:rPr>
              <a:t>UIException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66928" y="6144768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86384" y="6254496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2232E"/>
                </a:solidFill>
                <a:latin typeface="맑은 고딕"/>
              </a:rPr>
              <a:t>용량이 크거나 건수가 많은 로그가 원인인 경우는 드물다 — 근본 원인 · 증상 · 노이즈를 반드시 분리한다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7100</Words>
  <Application>Microsoft Office PowerPoint</Application>
  <PresentationFormat>와이드스크린</PresentationFormat>
  <Paragraphs>921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Park Jae Min</cp:lastModifiedBy>
  <cp:revision>5</cp:revision>
  <dcterms:created xsi:type="dcterms:W3CDTF">2013-01-27T09:14:16Z</dcterms:created>
  <dcterms:modified xsi:type="dcterms:W3CDTF">2026-08-05T04:20:50Z</dcterms:modified>
  <cp:category/>
</cp:coreProperties>
</file>