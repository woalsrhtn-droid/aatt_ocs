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61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86" r:id="rId9"/>
    <p:sldId id="290" r:id="rId10"/>
    <p:sldId id="263" r:id="rId11"/>
    <p:sldId id="293" r:id="rId12"/>
    <p:sldId id="295" r:id="rId13"/>
    <p:sldId id="273" r:id="rId14"/>
    <p:sldId id="274" r:id="rId15"/>
    <p:sldId id="294" r:id="rId16"/>
    <p:sldId id="275" r:id="rId17"/>
    <p:sldId id="276" r:id="rId18"/>
    <p:sldId id="296" r:id="rId19"/>
    <p:sldId id="277" r:id="rId20"/>
    <p:sldId id="278" r:id="rId21"/>
    <p:sldId id="262" r:id="rId22"/>
    <p:sldId id="265" r:id="rId23"/>
    <p:sldId id="282" r:id="rId24"/>
    <p:sldId id="283" r:id="rId25"/>
    <p:sldId id="284" r:id="rId26"/>
    <p:sldId id="285" r:id="rId27"/>
    <p:sldId id="280" r:id="rId28"/>
    <p:sldId id="287" r:id="rId29"/>
    <p:sldId id="288" r:id="rId30"/>
    <p:sldId id="289" r:id="rId31"/>
    <p:sldId id="272" r:id="rId32"/>
    <p:sldId id="291" r:id="rId33"/>
    <p:sldId id="292" r:id="rId34"/>
    <p:sldId id="269" r:id="rId35"/>
  </p:sldIdLst>
  <p:sldSz cx="9904413" cy="7050088"/>
  <p:notesSz cx="6865938" cy="9998075"/>
  <p:defaultTextStyle>
    <a:defPPr>
      <a:defRPr lang="ko-KR"/>
    </a:defPPr>
    <a:lvl1pPr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1pPr>
    <a:lvl2pPr marL="456860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2pPr>
    <a:lvl3pPr marL="913723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3pPr>
    <a:lvl4pPr marL="1370584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4pPr>
    <a:lvl5pPr marL="1827445" algn="ctr" rtl="0" eaLnBrk="0" fontAlgn="base" latinLnBrk="1" hangingPunct="0">
      <a:spcBef>
        <a:spcPct val="20000"/>
      </a:spcBef>
      <a:spcAft>
        <a:spcPct val="0"/>
      </a:spcAft>
      <a:defRPr kumimoji="1" sz="800" kern="1200">
        <a:solidFill>
          <a:schemeClr val="tx1"/>
        </a:solidFill>
        <a:latin typeface="HY울릉도M"/>
        <a:ea typeface="HY울릉도M"/>
        <a:cs typeface="+mn-cs"/>
      </a:defRPr>
    </a:lvl5pPr>
    <a:lvl6pPr marL="2284306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6pPr>
    <a:lvl7pPr marL="2741164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7pPr>
    <a:lvl8pPr marL="3198026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8pPr>
    <a:lvl9pPr marL="3654896" algn="l" defTabSz="913723" rtl="0" eaLnBrk="1" latinLnBrk="1" hangingPunct="1">
      <a:defRPr kumimoji="1" sz="800" kern="1200">
        <a:solidFill>
          <a:schemeClr val="tx1"/>
        </a:solidFill>
        <a:latin typeface="HY울릉도M"/>
        <a:ea typeface="HY울릉도M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>
          <p15:clr>
            <a:srgbClr val="A4A3A4"/>
          </p15:clr>
        </p15:guide>
        <p15:guide id="2" pos="31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6">
          <p15:clr>
            <a:srgbClr val="A4A3A4"/>
          </p15:clr>
        </p15:guide>
        <p15:guide id="2" pos="215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" initials="1" lastIdx="1" clrIdx="0"/>
  <p:cmAuthor id="2" name="821076643785" initials="8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7724" autoAdjust="0"/>
  </p:normalViewPr>
  <p:slideViewPr>
    <p:cSldViewPr>
      <p:cViewPr varScale="1">
        <p:scale>
          <a:sx n="89" d="100"/>
          <a:sy n="89" d="100"/>
        </p:scale>
        <p:origin x="1099" y="72"/>
      </p:cViewPr>
      <p:guideLst>
        <p:guide orient="horz" pos="2218"/>
        <p:guide pos="31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4014" y="108"/>
      </p:cViewPr>
      <p:guideLst>
        <p:guide orient="horz" pos="3146"/>
        <p:guide pos="21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370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6" y="4"/>
            <a:ext cx="2976628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t" anchorCtr="0">
            <a:prstTxWarp prst="textNoShape">
              <a:avLst/>
            </a:prstTxWarp>
          </a:bodyPr>
          <a:lstStyle>
            <a:lvl1pPr algn="l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338371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87720" y="4"/>
            <a:ext cx="2976628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t" anchorCtr="0">
            <a:prstTxWarp prst="textNoShape">
              <a:avLst/>
            </a:prstTxWarp>
          </a:bodyPr>
          <a:lstStyle>
            <a:lvl1pPr algn="r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fld id="{0E7A6698-1CC4-4D37-AB8E-DD1C92B350D2}" type="datetime1">
              <a:rPr lang="ko-KR" altLang="en-US"/>
              <a:pPr>
                <a:defRPr/>
              </a:pPr>
              <a:t>2026-02-06</a:t>
            </a:fld>
            <a:endParaRPr lang="en-US" altLang="ko-KR"/>
          </a:p>
        </p:txBody>
      </p:sp>
      <p:sp>
        <p:nvSpPr>
          <p:cNvPr id="1338372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6" y="9496661"/>
            <a:ext cx="2976628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b" anchorCtr="0">
            <a:prstTxWarp prst="textNoShape">
              <a:avLst/>
            </a:prstTxWarp>
          </a:bodyPr>
          <a:lstStyle>
            <a:lvl1pPr algn="l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338373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87720" y="9496661"/>
            <a:ext cx="2976628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81" tIns="45990" rIns="91981" bIns="45990" anchor="b" anchorCtr="0">
            <a:prstTxWarp prst="textNoShape">
              <a:avLst/>
            </a:prstTxWarp>
          </a:bodyPr>
          <a:lstStyle>
            <a:lvl1pPr algn="r" defTabSz="920313">
              <a:lnSpc>
                <a:spcPct val="60000"/>
              </a:lnSpc>
              <a:spcBef>
                <a:spcPct val="50000"/>
              </a:spcBef>
              <a:defRPr sz="1200" smtClean="0"/>
            </a:lvl1pPr>
          </a:lstStyle>
          <a:p>
            <a:pPr>
              <a:defRPr/>
            </a:pPr>
            <a:fld id="{77D05C2A-D650-40C8-84FE-254426DD400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0:02:39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0:02:42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0:02:45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56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0:00:09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5" y="4"/>
            <a:ext cx="2975027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t" anchorCtr="0">
            <a:prstTxWarp prst="textNoShape">
              <a:avLst/>
            </a:prstTxWarp>
          </a:bodyPr>
          <a:lstStyle>
            <a:lvl1pPr algn="l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89319" y="4"/>
            <a:ext cx="2975027" cy="49982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t" anchorCtr="0">
            <a:prstTxWarp prst="textNoShape">
              <a:avLst/>
            </a:prstTxWarp>
          </a:bodyPr>
          <a:lstStyle>
            <a:lvl1pPr algn="r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98513" y="747713"/>
            <a:ext cx="5268912" cy="3749675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6916" y="4749135"/>
            <a:ext cx="5492110" cy="450001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5" y="9496661"/>
            <a:ext cx="2975027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b" anchorCtr="0">
            <a:prstTxWarp prst="textNoShape">
              <a:avLst/>
            </a:prstTxWarp>
          </a:bodyPr>
          <a:lstStyle>
            <a:lvl1pPr algn="l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9319" y="9496661"/>
            <a:ext cx="2975027" cy="499822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965" tIns="45983" rIns="91965" bIns="45983" anchor="b" anchorCtr="0">
            <a:prstTxWarp prst="textNoShape">
              <a:avLst/>
            </a:prstTxWarp>
          </a:bodyPr>
          <a:lstStyle>
            <a:lvl1pPr algn="r" defTabSz="920313" eaLnBrk="1" hangingPunct="1">
              <a:spcBef>
                <a:spcPct val="0"/>
              </a:spcBef>
              <a:defRPr sz="1200" smtClean="0">
                <a:latin typeface="굴림"/>
                <a:ea typeface="굴림"/>
              </a:defRPr>
            </a:lvl1pPr>
          </a:lstStyle>
          <a:p>
            <a:pPr>
              <a:defRPr/>
            </a:pPr>
            <a:fld id="{A8E281F0-1F3D-44E6-A672-F064E1B6A1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1pPr>
    <a:lvl2pPr marL="45686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2pPr>
    <a:lvl3pPr marL="91372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3pPr>
    <a:lvl4pPr marL="1370584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4pPr>
    <a:lvl5pPr marL="182744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+mn-cs"/>
      </a:defRPr>
    </a:lvl5pPr>
    <a:lvl6pPr marL="2284306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164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026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896" algn="l" defTabSz="91372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E281F0-1F3D-44E6-A672-F064E1B6A1EC}" type="slidenum">
              <a:rPr lang="en-US" altLang="ko-KR"/>
              <a:pPr>
                <a:defRPr/>
              </a:pPr>
              <a:t>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0100" y="749300"/>
            <a:ext cx="5265738" cy="3748088"/>
          </a:xfrm>
          <a:prstGeom prst="rect">
            <a:avLst/>
          </a:prstGeom>
          <a:ln/>
        </p:spPr>
      </p:sp>
      <p:sp>
        <p:nvSpPr>
          <p:cNvPr id="20275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00100" y="749300"/>
            <a:ext cx="5265738" cy="3748088"/>
          </a:xfrm>
          <a:prstGeom prst="rect">
            <a:avLst/>
          </a:prstGeom>
          <a:ln/>
        </p:spPr>
      </p:sp>
      <p:sp>
        <p:nvSpPr>
          <p:cNvPr id="202755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373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표 개체 틀 7"/>
          <p:cNvSpPr>
            <a:spLocks noGrp="1"/>
          </p:cNvSpPr>
          <p:nvPr>
            <p:ph type="tbl" sz="quarter" idx="10"/>
          </p:nvPr>
        </p:nvSpPr>
        <p:spPr>
          <a:xfrm>
            <a:off x="666750" y="971019"/>
            <a:ext cx="8567888" cy="4959541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9217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12"/>
          <p:cNvSpPr>
            <a:spLocks noChangeShapeType="1"/>
          </p:cNvSpPr>
          <p:nvPr userDrawn="1"/>
        </p:nvSpPr>
        <p:spPr bwMode="auto">
          <a:xfrm flipH="1">
            <a:off x="-4740" y="6722424"/>
            <a:ext cx="9913931" cy="0"/>
          </a:xfrm>
          <a:prstGeom prst="line">
            <a:avLst/>
          </a:prstGeom>
          <a:noFill/>
          <a:ln w="34925">
            <a:solidFill>
              <a:schemeClr val="bg2"/>
            </a:solidFill>
            <a:round/>
            <a:headEnd/>
            <a:tailEnd/>
          </a:ln>
          <a:effectLst/>
        </p:spPr>
        <p:txBody>
          <a:bodyPr lIns="91372" tIns="45686" rIns="91372" bIns="45686"/>
          <a:lstStyle/>
          <a:p>
            <a:pPr algn="ctr">
              <a:lnSpc>
                <a:spcPct val="60000"/>
              </a:lnSpc>
              <a:spcBef>
                <a:spcPct val="50000"/>
              </a:spcBef>
              <a:defRPr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2203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54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6821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3643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0462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7285"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062" indent="-341062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0813" indent="-28395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0566" indent="-226846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7429" indent="-22843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4289" indent="-226846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2514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9337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6157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2977" indent="-22841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21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43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462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285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105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924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742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575" algn="l" defTabSz="91364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rfc1628" TargetMode="External"/><Relationship Id="rId3" Type="http://schemas.openxmlformats.org/officeDocument/2006/relationships/hyperlink" Target="https://itpfdoc.hitachi.co.jp/manuals/ha8000v/hard/Gen11/UEFI/30-11079C5F-111.pdf" TargetMode="External"/><Relationship Id="rId7" Type="http://schemas.openxmlformats.org/officeDocument/2006/relationships/hyperlink" Target="https://www.eaton.com/content/dam/eaton/products/backup-power-ups-surge-it-power-distribution/backup-power-ups/eaton-9px-ups/eaton-9px-ups-1-3kva-installation-instruction-zh-tw.pdf?utm_source=chatgpt.com" TargetMode="External"/><Relationship Id="rId12" Type="http://schemas.openxmlformats.org/officeDocument/2006/relationships/image" Target="../media/image130.png"/><Relationship Id="rId2" Type="http://schemas.openxmlformats.org/officeDocument/2006/relationships/hyperlink" Target="https://itpfdoc.hitachi.co.jp/manuals/ha8000v/hard/Gen11/Server/DL360/30-1311EFD2-007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aton.com/content/dam/eaton/products/backup-power-ups-surge-it-power-distribution/au-products/eaton-9px/1-3kva/9PX_1-3KVA_ANZ_EN_-_User_Manual.pdf?utm_source=chatgpt.com" TargetMode="External"/><Relationship Id="rId11" Type="http://schemas.openxmlformats.org/officeDocument/2006/relationships/customXml" Target="../ink/ink18.xml"/><Relationship Id="rId5" Type="http://schemas.openxmlformats.org/officeDocument/2006/relationships/hyperlink" Target="https://itpfdoc.hitachi.co.jp/manuals/ha8000v/hard/Gen11/iLO/30-7A345B12-010.pdf" TargetMode="External"/><Relationship Id="rId10" Type="http://schemas.openxmlformats.org/officeDocument/2006/relationships/hyperlink" Target="https://www.moxa.com/Moxa/media/PDIM/S100000309/moxa-awk-3131a-series-manual-v7.0.pdf" TargetMode="External"/><Relationship Id="rId4" Type="http://schemas.openxmlformats.org/officeDocument/2006/relationships/hyperlink" Target="https://assets.grandandtoy.com/assets/Additional-pdf2/10/77/1077165172.pdf" TargetMode="External"/><Relationship Id="rId9" Type="http://schemas.openxmlformats.org/officeDocument/2006/relationships/hyperlink" Target="https://www.generex.de/packages/resources/mib/RFC1628-cs1x1-Overview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42"/>
          <p:cNvSpPr txBox="1">
            <a:spLocks noChangeArrowheads="1"/>
          </p:cNvSpPr>
          <p:nvPr/>
        </p:nvSpPr>
        <p:spPr bwMode="auto">
          <a:xfrm>
            <a:off x="8" y="1364804"/>
            <a:ext cx="9906000" cy="1109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360" tIns="46760" rIns="91360" bIns="45680" anchor="ctr">
            <a:spAutoFit/>
          </a:bodyPr>
          <a:lstStyle/>
          <a:p>
            <a:pPr latinLnBrk="0">
              <a:defRPr/>
            </a:pPr>
            <a:r>
              <a:rPr kumimoji="0" lang="en-US" altLang="ko-KR" sz="3000" b="1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EQ Monitoring Configuration </a:t>
            </a:r>
          </a:p>
          <a:p>
            <a:pPr latinLnBrk="0">
              <a:defRPr/>
            </a:pPr>
            <a:r>
              <a:rPr kumimoji="0" lang="en-US" altLang="ko-KR" sz="3000" b="1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for Micron AATT L40 Server</a:t>
            </a:r>
          </a:p>
        </p:txBody>
      </p:sp>
      <p:cxnSp>
        <p:nvCxnSpPr>
          <p:cNvPr id="3" name="직선 연결선 35"/>
          <p:cNvCxnSpPr>
            <a:cxnSpLocks noChangeShapeType="1"/>
          </p:cNvCxnSpPr>
          <p:nvPr/>
        </p:nvCxnSpPr>
        <p:spPr bwMode="auto">
          <a:xfrm>
            <a:off x="271463" y="2478832"/>
            <a:ext cx="9359900" cy="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</p:spPr>
      </p:cxnSp>
      <p:sp>
        <p:nvSpPr>
          <p:cNvPr id="4" name="Text Box 1029"/>
          <p:cNvSpPr txBox="1">
            <a:spLocks noChangeArrowheads="1"/>
          </p:cNvSpPr>
          <p:nvPr/>
        </p:nvSpPr>
        <p:spPr bwMode="auto">
          <a:xfrm>
            <a:off x="7490173" y="6279099"/>
            <a:ext cx="2141190" cy="323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372" tIns="45686" rIns="91372" bIns="45686" anchor="ctr">
            <a:spAutoFit/>
          </a:bodyPr>
          <a:lstStyle/>
          <a:p>
            <a:pPr algn="r" latinLnBrk="0">
              <a:spcBef>
                <a:spcPct val="0"/>
              </a:spcBef>
            </a:pPr>
            <a:r>
              <a:rPr kumimoji="0" lang="en-US" altLang="ko-KR" sz="1500" b="1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2025.11</a:t>
            </a:r>
          </a:p>
        </p:txBody>
      </p:sp>
    </p:spTree>
    <p:extLst>
      <p:ext uri="{BB962C8B-B14F-4D97-AF65-F5344CB8AC3E}">
        <p14:creationId xmlns:p14="http://schemas.microsoft.com/office/powerpoint/2010/main" val="323432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목차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4E0A26-1E98-4A1E-BABA-AF4748D1AD83}"/>
              </a:ext>
            </a:extLst>
          </p:cNvPr>
          <p:cNvSpPr txBox="1"/>
          <p:nvPr/>
        </p:nvSpPr>
        <p:spPr>
          <a:xfrm>
            <a:off x="451706" y="824745"/>
            <a:ext cx="65887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Equipment Monitoring Overview</a:t>
            </a: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Equipment IP List (EQ Group Tag List)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Equipment SNMP List (EQ Tag List)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endParaRPr kumimoji="0" lang="en-US" altLang="ko-KR" sz="1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Applyng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Method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Monitoring Method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</a:t>
            </a:r>
          </a:p>
          <a:p>
            <a:pPr marL="400050" marR="0" lvl="0" indent="-4000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400050" marR="0" lvl="0" indent="-4000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48591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952501"/>
              </p:ext>
            </p:extLst>
          </p:nvPr>
        </p:nvGraphicFramePr>
        <p:xfrm>
          <a:off x="415702" y="644724"/>
          <a:ext cx="9217023" cy="6018911"/>
        </p:xfrm>
        <a:graphic>
          <a:graphicData uri="http://schemas.openxmlformats.org/drawingml/2006/table">
            <a:tbl>
              <a:tblPr firstRow="1" bandRow="1"/>
              <a:tblGrid>
                <a:gridCol w="51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12">
                  <a:extLst>
                    <a:ext uri="{9D8B030D-6E8A-4147-A177-3AD203B41FA5}">
                      <a16:colId xmlns:a16="http://schemas.microsoft.com/office/drawing/2014/main" val="1073478524"/>
                    </a:ext>
                  </a:extLst>
                </a:gridCol>
                <a:gridCol w="1209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2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2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557">
                <a:tc gridSpan="7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EQ Monitoring List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9772" marR="159772" marT="79886" marB="7988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59772" marR="159772" marT="79886" marB="7988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27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EQ Number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Device name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(Eq Group Name)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IP Address</a:t>
                      </a:r>
                      <a:b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(subnet: 255.255.252.0)</a:t>
                      </a:r>
                      <a:b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(gateway: 10.1.0.241)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ProtocolType</a:t>
                      </a:r>
                      <a:b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(Port)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 name</a:t>
                      </a:r>
                      <a:b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(Eq Tag Name)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 Address</a:t>
                      </a:r>
                      <a:b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(SNMP OID / URL)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 Value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38">
                <a:tc rowSpan="6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1,2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OCS Server 1/2</a:t>
                      </a:r>
                    </a:p>
                    <a:p>
                      <a:pPr algn="ctr"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(DL360 gen 11)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1: 10.1.2.203 (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iLO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2: 10.1.2.204 (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iLO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FAN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1.3.6.1.4.1.232.6.2.6.4.0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Normal=2, Abnormal=1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938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POWER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1.3.6.1.4.1.232.6.2.9.1.0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Normal=2, Abnormal=1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938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DISK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1.3.6.1.4.1.232.3.1.3.0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Normal=2, Abnormal=1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938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10.1.2.204 (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iLO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REST API (443)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MEMORY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/json/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health_summary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Normal=OP_STATUS_OK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Abnormal=OP_STATUS_FAILED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938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REST API (443)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CPU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/json/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health_summary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Normal=OP_STATUS_OK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Abnormal=OP_STATUS_FAILED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657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REST API (443)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/json/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health_summary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Normal=OP_STATUS_OK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Abnormal=OP_STATUS_FAILED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870"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UPS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(9px 3000i RT 2U)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10.1.1.201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UPS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Alarm Count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1.3.6.1.2.1.33.1.6.1.0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Current number of active UPS alarms (int)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817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UPS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OutputMode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1.3.6.1.2.1.34.1.4.1.0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UPS output source:</a:t>
                      </a:r>
                      <a:br>
                        <a:rPr lang="en-US" altLang="ko-KR" sz="1000" dirty="0">
                          <a:ea typeface="맑은 고딕"/>
                        </a:rPr>
                      </a:b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 3=</a:t>
                      </a:r>
                      <a:r>
                        <a:rPr lang="en-US" altLang="ko-KR" sz="1000" dirty="0" err="1">
                          <a:latin typeface="맑은 고딕"/>
                          <a:ea typeface="맑은 고딕"/>
                        </a:rPr>
                        <a:t>OnLine</a:t>
                      </a: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, 4=Bypass, 5=</a:t>
                      </a:r>
                      <a:r>
                        <a:rPr lang="en-US" altLang="ko-KR" sz="1000" dirty="0" err="1">
                          <a:latin typeface="맑은 고딕"/>
                          <a:ea typeface="맑은 고딕"/>
                        </a:rPr>
                        <a:t>OnBattery</a:t>
                      </a: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 (int)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  <a:b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Charge Percent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1.3.6.1.2.1.33.1.2.4.0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Estimated battery charge remaining </a:t>
                      </a:r>
                      <a:br>
                        <a:rPr lang="en-US" altLang="ko-KR" sz="1000" dirty="0">
                          <a:ea typeface="맑은 고딕"/>
                        </a:rPr>
                      </a:b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in percent (0–100)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AgedStatus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1.3.6.1.4.1.534.1.2.9.0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Battery aged flag, </a:t>
                      </a:r>
                      <a:br>
                        <a:rPr lang="en-US" altLang="ko-KR" sz="1000" dirty="0">
                          <a:ea typeface="맑은 고딕"/>
                        </a:rPr>
                      </a:br>
                      <a:r>
                        <a:rPr lang="en-US" altLang="ko-KR" sz="1000" dirty="0">
                          <a:latin typeface="맑은 고딕"/>
                          <a:ea typeface="맑은 고딕"/>
                        </a:rPr>
                        <a:t>normal=2, aged=1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2929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M</a:t>
                      </a:r>
                    </a:p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LowCapacityStatus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1.3.6.1.4.1.534.1.2.10.0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  <a:ea typeface="맑은 고딕"/>
                        </a:rPr>
                        <a:t>Battery low-capacity flag, </a:t>
                      </a:r>
                      <a:br>
                        <a:rPr lang="en-US" altLang="ko-KR" sz="1000">
                          <a:ea typeface="맑은 고딕"/>
                        </a:rPr>
                      </a:br>
                      <a:r>
                        <a:rPr lang="en-US" altLang="ko-KR" sz="1000">
                          <a:latin typeface="맑은 고딕"/>
                          <a:ea typeface="맑은 고딕"/>
                        </a:rPr>
                        <a:t>normal=2, low=1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7528"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AP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MOXA AWK-3131A-US )</a:t>
                      </a:r>
                    </a:p>
                    <a:p>
                      <a:pPr algn="ctr">
                        <a:defRPr/>
                      </a:pP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b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</a:b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10.1.0.201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10.1.0.202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10.1.0.203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10.1.0.204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10.1.0.205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10.1.0.206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10.1.0.207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10.1.0.208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Memory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1.3.6.1.4.1.8691.15.33.1.11.25.2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Integer (KB) – Total memory size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2048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POWER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1.3.6.1.4.1.8691.15.33.1.11.9.1.2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The power input status</a:t>
                      </a:r>
                    </a:p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Value : 0 -&gt; off, 1 -&gt; on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3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UPTIME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1.3.6.1.4.1.8691.15.33.1.1.4.0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DisplayString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– System uptime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0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SNMP (161)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Temperature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1.3.6.1.4.1.8691.15.33.1.11.13.1.7.1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 = Under 70 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22725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71687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1. Equipment Monitoring Overview</a:t>
            </a:r>
            <a:endParaRPr kumimoji="0" lang="en-US" altLang="ko-KR" sz="2000" b="1" i="0" u="none" strike="noStrike" kern="1200" cap="none" spc="0" normalizeH="0" baseline="0">
              <a:solidFill>
                <a:schemeClr val="tx1"/>
              </a:solidFill>
              <a:latin typeface="맑은 고딕"/>
              <a:ea typeface="맑은 고딕"/>
              <a:cs typeface="+mn-cs"/>
            </a:endParaRP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51874" y="4173116"/>
            <a:ext cx="1671017" cy="317558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07790" y="2372916"/>
            <a:ext cx="1359188" cy="317866"/>
          </a:xfrm>
          <a:prstGeom prst="rect">
            <a:avLst/>
          </a:prstGeom>
        </p:spPr>
      </p:pic>
      <p:pic>
        <p:nvPicPr>
          <p:cNvPr id="68" name="그림 6" descr="전자제품, 전자 공학, 회로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5"/>
          <a:srcRect l="14490" t="6790" r="20120" b="21300"/>
          <a:stretch>
            <a:fillRect/>
          </a:stretch>
        </p:blipFill>
        <p:spPr>
          <a:xfrm>
            <a:off x="1592280" y="5553102"/>
            <a:ext cx="590204" cy="708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687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>
                <a:solidFill>
                  <a:schemeClr val="tx1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2. Equipment IP List (EQ Group Tag List)</a:t>
            </a:r>
            <a:endParaRPr kumimoji="0" lang="en-US" altLang="ko-KR" sz="2000" b="1" i="0" u="none" strike="noStrike" kern="1200" cap="none" spc="0" normalizeH="0" baseline="0">
              <a:solidFill>
                <a:schemeClr val="tx1"/>
              </a:solidFill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0147"/>
              </p:ext>
            </p:extLst>
          </p:nvPr>
        </p:nvGraphicFramePr>
        <p:xfrm>
          <a:off x="415703" y="626134"/>
          <a:ext cx="9073006" cy="4806430"/>
        </p:xfrm>
        <a:graphic>
          <a:graphicData uri="http://schemas.openxmlformats.org/drawingml/2006/table">
            <a:tbl>
              <a:tblPr firstRow="1" bandRow="1"/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92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8973">
                <a:tc gridSpan="6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Equipment IP List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9772" marR="159772" marT="79886" marB="7988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59772" marR="159772" marT="79886" marB="79886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4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EQ Number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Device name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(Eq Group Name)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IP Address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(subnet: 255.255.252.0)</a:t>
                      </a:r>
                      <a:b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(gateway: 10.1.0.241)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Web Address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ID / Pwd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Web Image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OCS Server 1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10.1.2.203 (iLO)</a:t>
                      </a:r>
                      <a:b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L20 : 10.1.1.247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10.1.2.203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L20 : 10.1.1.247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admin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istrator / !1234qwer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OCS Server 2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10.1.2.204 (iLO)</a:t>
                      </a:r>
                      <a:b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L20 : 10.1.1.248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10.1.2.204</a:t>
                      </a:r>
                      <a:b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L20 : 10.1.1.248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admin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istrator / !1234qwer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371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UPS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10.1.1.201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L20 : 10.1.1.249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10.1.1.201</a:t>
                      </a:r>
                      <a:b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L20 : 10.1.1.249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admin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/ Rcp1(rcp2)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371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AP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</a:b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  <a:p>
                      <a:pPr algn="ctr">
                        <a:defRPr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10.1.0.201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10.1.0.202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10.1.0.203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10.1.0.204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10.1.0.205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10.1.0.206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10.1.0.207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10.1.0.208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10.1.0.201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10.1.0.202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10.1.0.203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10.1.0.204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10.1.0.205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10.1.0.206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10.1.0.207</a:t>
                      </a:r>
                    </a:p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10.1.0.208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643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admin / moxa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1" name="그림 6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12368" y="3658878"/>
            <a:ext cx="1622805" cy="308397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36164" y="2758160"/>
            <a:ext cx="1575212" cy="368385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44746" y="1788506"/>
            <a:ext cx="1575212" cy="368386"/>
          </a:xfrm>
          <a:prstGeom prst="rect">
            <a:avLst/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328470" y="3309020"/>
            <a:ext cx="1584176" cy="841199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328470" y="1436812"/>
            <a:ext cx="1512167" cy="849852"/>
          </a:xfrm>
          <a:prstGeom prst="rect">
            <a:avLst/>
          </a:prstGeom>
        </p:spPr>
      </p:pic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328470" y="2383751"/>
            <a:ext cx="1512167" cy="853260"/>
          </a:xfrm>
          <a:prstGeom prst="rect">
            <a:avLst/>
          </a:prstGeom>
        </p:spPr>
      </p:pic>
      <p:pic>
        <p:nvPicPr>
          <p:cNvPr id="70" name="그림 6" descr="전자제품, 전자 공학, 회로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8"/>
          <a:srcRect l="14490" t="6790" r="20120" b="21300"/>
          <a:stretch>
            <a:fillRect/>
          </a:stretch>
        </p:blipFill>
        <p:spPr>
          <a:xfrm>
            <a:off x="1495822" y="4509977"/>
            <a:ext cx="739396" cy="887275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256462" y="4245124"/>
            <a:ext cx="1944215" cy="11476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3. Equipment SNMP List (EQ Tag List)</a:t>
            </a:r>
          </a:p>
        </p:txBody>
      </p:sp>
      <p:graphicFrame>
        <p:nvGraphicFramePr>
          <p:cNvPr id="4" name="표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999028"/>
              </p:ext>
            </p:extLst>
          </p:nvPr>
        </p:nvGraphicFramePr>
        <p:xfrm>
          <a:off x="423055" y="593032"/>
          <a:ext cx="9206761" cy="3472271"/>
        </p:xfrm>
        <a:graphic>
          <a:graphicData uri="http://schemas.openxmlformats.org/drawingml/2006/table">
            <a:tbl>
              <a:tblPr firstRow="1" bandRow="1"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0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53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8973">
                <a:tc gridSpan="8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EQ Tag List</a:t>
                      </a:r>
                    </a:p>
                  </a:txBody>
                  <a:tcPr marL="159772" marR="159772" marT="79886" marB="7988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159772" marR="159772" marT="79886" marB="79886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159772" marR="159772" marT="79886" marB="7988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 marL="159772" marR="159772" marT="79886" marB="7988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2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EqGroupNumber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TagName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TagNumber</a:t>
                      </a:r>
                      <a:endParaRPr lang="en-US" altLang="ko-KR" sz="7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TagProperty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TagPollingSecond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Address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Value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Normal Value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3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FAN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1.3.6.1.4.1.232.6.2.6.4.0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POWER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1.3.6.1.4.1.232.6.2.9.1.0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DISK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1.3.6.1.4.1.232.3.1.3.0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FAN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1.3.6.1.4.1.232.6.2.6.4.0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POWER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1.3.6.1.4.1.232.6.2.9.1.0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DISK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1.3.6.1.4.1.232.3.1.3.0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.1.3.6.1.2.1.33.1.6.1.0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.1.3.6.1.2.1.33.1.4.1.0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CHARGE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.1.3.6.1.2.1.33.1.2.4.0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.1.3.6.1.4.1.534.1.2.9.0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078" marR="5078" marT="5078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BATTERY</a:t>
                      </a:r>
                    </a:p>
                  </a:txBody>
                  <a:tcPr marL="11095" marR="11095" marT="1109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.1.3.6.1.4.1.534.1.2.10.0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20146" y="4398253"/>
          <a:ext cx="9212580" cy="22250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8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033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Description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9525" cap="flat" cmpd="sng" algn="ctr">
                      <a:noFill/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233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EQGroupNumber 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EQ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Number Device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TagName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Tag name displayed on the monitoring screen, label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TagNumber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Unique Identification Number in taggroup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>
                          <a:latin typeface="맑은 고딕"/>
                          <a:ea typeface="맑은 고딕"/>
                        </a:rPr>
                        <a:t>TagProperty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Type of tag value (e.g. status, numeric value)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>
                          <a:latin typeface="맑은 고딕"/>
                          <a:ea typeface="맑은 고딕"/>
                        </a:rPr>
                        <a:t>TagPollingSecond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SNMP polling interval in seconds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>
                          <a:latin typeface="맑은 고딕"/>
                          <a:ea typeface="맑은 고딕"/>
                        </a:rPr>
                        <a:t>Address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SNMP OID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(Object Identifier)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used to retrieve the value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>
                          <a:latin typeface="맑은 고딕"/>
                          <a:ea typeface="맑은 고딕"/>
                        </a:rPr>
                        <a:t>Value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Current value retrieved from the system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000">
                          <a:latin typeface="맑은 고딕"/>
                          <a:ea typeface="맑은 고딕"/>
                        </a:rPr>
                        <a:t>Normal Value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9525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  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Reference value for normal condition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12" name="TextBox 2"/>
          <p:cNvSpPr txBox="1"/>
          <p:nvPr/>
        </p:nvSpPr>
        <p:spPr>
          <a:xfrm>
            <a:off x="471094" y="676662"/>
            <a:ext cx="8657576" cy="38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2000" b="0" i="0" u="none" strike="noStrike" kern="1200" cap="none" spc="0" normalizeH="0" baseline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1887" y="1262589"/>
            <a:ext cx="8840638" cy="4998758"/>
          </a:xfrm>
          <a:prstGeom prst="rect">
            <a:avLst/>
          </a:prstGeom>
        </p:spPr>
      </p:pic>
      <p:sp>
        <p:nvSpPr>
          <p:cNvPr id="21" name="TextBox 2"/>
          <p:cNvSpPr txBox="1"/>
          <p:nvPr/>
        </p:nvSpPr>
        <p:spPr>
          <a:xfrm>
            <a:off x="543102" y="689368"/>
            <a:ext cx="8657576" cy="31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1) EQ Alarm Generation Flow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BDC1-86E3-878B-465B-33A0862A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2A3682F-78F5-AA1D-F932-EA7133DC4938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2A3682F-78F5-AA1D-F932-EA7133DC49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170" name="Picture 2">
            <a:extLst>
              <a:ext uri="{FF2B5EF4-FFF2-40B4-BE49-F238E27FC236}">
                <a16:creationId xmlns:a16="http://schemas.microsoft.com/office/drawing/2014/main" id="{E2C9B16B-27F7-5828-1174-466F02023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50" y="1580828"/>
            <a:ext cx="7920880" cy="48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65DAD8C1-0D7D-82B6-862A-830B191D9C5B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Verify that SNMP is enabled and UDP port 161 is open.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3F07A-4B9D-D779-F0BA-8D021581759B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F80BB55-2701-EF46-383C-78006328C175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 SNMP Configuration Check: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ILO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4717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61D5-2B47-A345-CFFC-44B9F7B8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8FF0A51-83B8-494F-58BF-3E1BDCC37853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8FF0A51-83B8-494F-58BF-3E1BDCC378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D979B891-508F-DBE9-4F18-D4E0C807E8B7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kumimoji="0" lang="ko-KR" altLang="en-US" sz="15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Verify that SNMP is enabled and UDP port 161 is open.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3CA7BA5-D973-46FD-D63B-79FD1BEEB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4030" y="1796852"/>
            <a:ext cx="8416326" cy="365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EDA76B-9502-AB31-D652-B8DBE52FDE16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C282D4D-9D1C-46A9-EBFE-592EDEC1C8A6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 SNMP Configuration Check: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UPS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05669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1F19-139C-9D17-29B4-4755139C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125CFE3-E0B3-277C-7463-EDC7A07E14EC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125CFE3-E0B3-277C-7463-EDC7A07E14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2">
            <a:extLst>
              <a:ext uri="{FF2B5EF4-FFF2-40B4-BE49-F238E27FC236}">
                <a16:creationId xmlns:a16="http://schemas.microsoft.com/office/drawing/2014/main" id="{A4309F13-A4C9-2C49-8F9C-6807A177CD2D}"/>
              </a:ext>
            </a:extLst>
          </p:cNvPr>
          <p:cNvSpPr txBox="1"/>
          <p:nvPr/>
        </p:nvSpPr>
        <p:spPr>
          <a:xfrm>
            <a:off x="703734" y="1076772"/>
            <a:ext cx="86575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 Verify that SNMP is enabled and UDP port 161 is open.</a:t>
            </a: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50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B03CD8F5-4E00-0D69-DBF7-F062BDC45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04686" y="1966884"/>
            <a:ext cx="7530108" cy="350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2C255F-050B-2B80-55E6-D7FE263C5493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D8D5B495-B0A3-DA9C-418E-D6E2C37FA312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 SNMP Configuration Check: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AP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92434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</a:t>
            </a: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Applying Method</a:t>
            </a: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SNMP OID Validation (Pre-Check)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703734" y="1076772"/>
            <a:ext cx="8657576" cy="319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Use a MIB Browser to query and verify the SNMP OID value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50916" y="1796852"/>
            <a:ext cx="9202579" cy="465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0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3B69-2E38-1DF5-88F3-E108D90D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FA9F68-7D9A-7E74-51EE-C0CF3308A99E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</a:t>
            </a: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Applying Method</a:t>
            </a: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1214480-BEC2-F341-3F7F-065DFE22C57A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Rest API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Validation (Pre-Check)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18C92B34-6951-80DA-D340-76CBF1E54763}"/>
              </a:ext>
            </a:extLst>
          </p:cNvPr>
          <p:cNvSpPr txBox="1"/>
          <p:nvPr/>
        </p:nvSpPr>
        <p:spPr>
          <a:xfrm>
            <a:off x="703734" y="1076772"/>
            <a:ext cx="86575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Open the endpoint URL in a web browser and verify that a valid JSON response is displayed.</a:t>
            </a: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Check whether the expected values are included and confirm each key’s return format.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4B2F791-41D3-CCF0-10A1-849D5FD3F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26" y="2516932"/>
            <a:ext cx="8232791" cy="325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90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3128-60D3-47CA-09F7-64BA82FC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5BC2D6-0721-DD34-7D2E-87C8FA0DA63E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</a:t>
            </a:r>
            <a:r>
              <a:rPr kumimoji="0" lang="en-US" altLang="ko-KR" sz="2000" b="1" dirty="0">
                <a:solidFill>
                  <a:srgbClr val="000000"/>
                </a:solidFill>
                <a:latin typeface="맑은 고딕"/>
                <a:ea typeface="맑은 고딕"/>
              </a:rPr>
              <a:t>Applying Method</a:t>
            </a: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14D5D01-2BD5-C12A-6469-812CDA11CEA8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Rest API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Validation (Pre-Check)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BA08F056-E620-EF88-071B-26C74F6A61F2}"/>
              </a:ext>
            </a:extLst>
          </p:cNvPr>
          <p:cNvSpPr txBox="1"/>
          <p:nvPr/>
        </p:nvSpPr>
        <p:spPr>
          <a:xfrm>
            <a:off x="703734" y="1076772"/>
            <a:ext cx="86575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An authenticated session is required for web-based endpoint validation.</a:t>
            </a: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Sign in to the </a:t>
            </a:r>
            <a:r>
              <a:rPr lang="en-US" altLang="ko-KR"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iLO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web interface first to establish this session.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647DCB07-3DC2-3AC6-C233-A4DF3940F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454" y="2372916"/>
            <a:ext cx="8009503" cy="4059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60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52FEEB-E9F2-F559-399D-99F77A0F3ADA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65D1B46-8C4E-5E83-6915-F06E0A654577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Adding EQ Group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23CD9119-E818-7D3E-CFFB-A6C9280A9167}"/>
              </a:ext>
            </a:extLst>
          </p:cNvPr>
          <p:cNvSpPr txBox="1"/>
          <p:nvPr/>
        </p:nvSpPr>
        <p:spPr>
          <a:xfrm>
            <a:off x="623418" y="1127754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EQ Groups are created to manage devices by IP and define their communication protocols.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CB2F78-4CD5-558E-9DF6-63DEB7330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880" y="1661242"/>
            <a:ext cx="6079381" cy="109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BDDBCB3-AAEF-2AAE-203D-F633CAA96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60" y="2948980"/>
            <a:ext cx="8164601" cy="357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19942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825F-D020-4310-6C5A-18787532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CB6B29-13C8-563C-4E64-BE03FB45223B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D5EFDEC-223E-C6EE-F9FB-E62C40377E0C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6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Set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EQ Group Details: SNMP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F6F6AA-0CEF-2413-CBD1-B2CB60AA6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02" y="1301741"/>
            <a:ext cx="8928992" cy="444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55333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EA6C7-50E5-7C83-B22A-FB04FF89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516D0-D1E3-21DE-D1EA-E95C0032B197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152789B-1770-A11D-C039-E76C2BD26E8B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6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Set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EQ Group Details: REST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EB907E5-3EF7-9FF8-0E34-A1DCC8423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102" y="1292796"/>
            <a:ext cx="8961085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24831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BEA4-F056-C2E7-576E-EDFC4129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F92461-A3DA-6223-E6C7-EDDEC6EDC90D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4B38081-9E52-2150-EFDC-9DCEA6CA8500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7)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Adding EQ Tag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A37554C-4D8F-FADA-141B-4A648E55C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83" y="2228900"/>
            <a:ext cx="8657576" cy="362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0E64A5D4-699F-27B5-0946-9E327DC42B2B}"/>
              </a:ext>
            </a:extLst>
          </p:cNvPr>
          <p:cNvSpPr txBox="1"/>
          <p:nvPr/>
        </p:nvSpPr>
        <p:spPr>
          <a:xfrm>
            <a:off x="623418" y="1127754"/>
            <a:ext cx="8657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This step defines monitoring tags and assigns them to an EQ Group.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718059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BB21-3B15-66AC-FE58-07A9C3E7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CE810-875C-43D2-C792-23090491E06F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F49FD36-639C-2FBA-60FD-D50B0A4334AD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7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Adding EQ Tag:</a:t>
            </a:r>
            <a:r>
              <a:rPr kumimoji="0" lang="ko-KR" altLang="en-US" sz="15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SNMP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BD69C690-87C1-4CF6-9E11-B1495F87A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936" y="1124377"/>
            <a:ext cx="8114742" cy="53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54199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6875-CE5D-9CEE-D3E2-363D8A8B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0DEC67-BBD2-605C-2DF8-480FEF7EFBFE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CF97B5AC-37C1-E7E8-F9D6-C5CCAA660765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7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Adding EQ Tag: REST</a:t>
            </a: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4C5143EE-10C0-9A99-8A4F-6ABE60251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85" y="1136588"/>
            <a:ext cx="7731484" cy="548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0963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7312-357F-3BBF-54C7-00B6FC3D0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54700B-D336-BEE8-6790-DB9104EA4506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452F05C-0C73-2E2F-6954-CDF0EA4BE278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8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Check Items in EQ Tag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9A8FA36-A79F-09F5-8CD4-D7A57A023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66" y="2137260"/>
            <a:ext cx="8424936" cy="421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31E04A7C-44D6-0390-1151-623BA4714D6E}"/>
              </a:ext>
            </a:extLst>
          </p:cNvPr>
          <p:cNvSpPr txBox="1"/>
          <p:nvPr/>
        </p:nvSpPr>
        <p:spPr>
          <a:xfrm>
            <a:off x="623418" y="1127754"/>
            <a:ext cx="86575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Check whether the EQ Tag is correctly registered and linked to the EQ Group.</a:t>
            </a: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Verify that real-time SNMP/REST values are being collected as expected.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638049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4F475-9A30-A703-162A-66576595D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902A8-5741-2A9E-219B-086347DAFEBF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4. Applying Method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FD1CF99-4C52-D664-05DF-C1A87FF83DCF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9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Check Items in Error Tag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E15F109-BCEB-32B5-7439-8C9E9A434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74" y="2084884"/>
            <a:ext cx="6912768" cy="437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F28F05A3-1A55-08F2-6EBB-1F486DFE1421}"/>
              </a:ext>
            </a:extLst>
          </p:cNvPr>
          <p:cNvSpPr txBox="1"/>
          <p:nvPr/>
        </p:nvSpPr>
        <p:spPr>
          <a:xfrm>
            <a:off x="623418" y="1127754"/>
            <a:ext cx="86575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When an EQ Tag is added, the corresponding Error Tag is automatically generated.</a:t>
            </a: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5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The Comment and Remark fields of the Error Tag can be modified as needed.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400794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9758" y="1491718"/>
            <a:ext cx="3024336" cy="22493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9758" y="4559082"/>
            <a:ext cx="5400600" cy="1558249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RCPGT Local Simulation Test</a:t>
            </a:r>
          </a:p>
        </p:txBody>
      </p:sp>
      <p:sp>
        <p:nvSpPr>
          <p:cNvPr id="8" name="TextBox 2"/>
          <p:cNvSpPr txBox="1"/>
          <p:nvPr/>
        </p:nvSpPr>
        <p:spPr>
          <a:xfrm>
            <a:off x="703734" y="1076772"/>
            <a:ext cx="8657576" cy="319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an alarm can be triggered by modifying the Normal Value in the EQ Tag.</a:t>
            </a:r>
          </a:p>
        </p:txBody>
      </p:sp>
      <p:sp>
        <p:nvSpPr>
          <p:cNvPr id="9" name="TextBox 2"/>
          <p:cNvSpPr txBox="1"/>
          <p:nvPr/>
        </p:nvSpPr>
        <p:spPr>
          <a:xfrm>
            <a:off x="775742" y="4029100"/>
            <a:ext cx="9001000" cy="540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Alternatively, the alarm can be triggered by updating the EQ Tag value.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This method is intended for test environments only.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OCS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775742" y="1302856"/>
            <a:ext cx="806489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OCS-related FAN / DISK / POWER Alarm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6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Verify the hardware status within the accessible scope via ILO.</a:t>
            </a:r>
          </a:p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</a:t>
            </a:r>
            <a:r>
              <a:rPr kumimoji="0" lang="en-US" altLang="ko-KR" sz="9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(The </a:t>
            </a:r>
            <a:r>
              <a:rPr kumimoji="0" lang="en-US" altLang="ko-KR" sz="900" b="0" i="0" u="none" strike="noStrike" kern="1200" cap="none" spc="0" normalizeH="0" baseline="0" dirty="0" err="1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iLO</a:t>
            </a:r>
            <a:r>
              <a:rPr kumimoji="0" lang="en-US" altLang="ko-KR" sz="9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interface is accessible via its assigned IP address.)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If the same alarm continues to occur, escalate the issue to the support team.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8756B4C-B170-4E7B-A53F-5BFAEABA4F5D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8756B4C-B170-4E7B-A53F-5BFAEABA4F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A8EC-56C9-304C-E0ED-3F00773C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44758B-4D8D-7709-859C-AA75F8BCAC74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3592CBB-BE6F-87C1-C34B-B43A172C392C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3592CBB-BE6F-87C1-C34B-B43A172C39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FBE43AE1-6F78-A657-45FA-616891D5949E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OCS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083B2CD-F27D-EB30-97E2-5D68F36AC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58" y="1580828"/>
            <a:ext cx="6912768" cy="470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BD924938-AEF1-2EAA-C39C-5949AEE64C81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Verify that all temperature sensors are operating within normal range.</a:t>
            </a:r>
          </a:p>
        </p:txBody>
      </p:sp>
    </p:spTree>
    <p:extLst>
      <p:ext uri="{BB962C8B-B14F-4D97-AF65-F5344CB8AC3E}">
        <p14:creationId xmlns:p14="http://schemas.microsoft.com/office/powerpoint/2010/main" val="333050856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82D6-CCEA-8818-90D6-1DE8904FB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A53AB7-7BD1-0AE3-E702-49A53C137219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78801A1-1542-D350-3341-A548294767E6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78801A1-1542-D350-3341-A548294767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F806FB3F-A728-3131-B5E3-584DC323FBB2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OCS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22DB38C-628C-3404-19A7-F2E290C92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65" y="1580828"/>
            <a:ext cx="7344816" cy="457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3ADD69C5-F552-12A2-0680-36EC50F9FBFB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Verify that all network ports show a normal status.</a:t>
            </a:r>
          </a:p>
        </p:txBody>
      </p:sp>
    </p:spTree>
    <p:extLst>
      <p:ext uri="{BB962C8B-B14F-4D97-AF65-F5344CB8AC3E}">
        <p14:creationId xmlns:p14="http://schemas.microsoft.com/office/powerpoint/2010/main" val="356251814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9C63-FAD4-23B3-E913-17D021BC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2F5AE7-D1F4-253E-70CD-FEB68416B089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2F001B5-2266-3D79-4525-89E033B2F8E8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2F001B5-2266-3D79-4525-89E033B2F8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A16B2497-0F92-303F-3EFF-FF0F1432072D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OCS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CC66B01-5B74-922B-0164-BED982FAF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02186" y="1572202"/>
            <a:ext cx="7344816" cy="446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4B9E0BBF-9180-9899-CBFC-658AC74089C5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Verify that all memory modules show a normal status.</a:t>
            </a:r>
          </a:p>
        </p:txBody>
      </p:sp>
    </p:spTree>
    <p:extLst>
      <p:ext uri="{BB962C8B-B14F-4D97-AF65-F5344CB8AC3E}">
        <p14:creationId xmlns:p14="http://schemas.microsoft.com/office/powerpoint/2010/main" val="198114388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F110-7957-930D-3A94-6AD5792E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D652A7-3824-B513-DB99-1B75A5F990D1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A14D686-5AA0-3F3C-C5ED-63597AC50C2D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A14D686-5AA0-3F3C-C5ED-63597AC50C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C3AE0A5E-8CB8-07E3-D762-7495EDABBBC4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OCS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C67EECB-B6A0-D92B-4F59-9DEB16DDF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1871" y="1578671"/>
            <a:ext cx="7344816" cy="441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1ED54863-912A-4B85-C473-6226A40241E2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Verify that all processors are operating normally.</a:t>
            </a:r>
          </a:p>
        </p:txBody>
      </p:sp>
    </p:spTree>
    <p:extLst>
      <p:ext uri="{BB962C8B-B14F-4D97-AF65-F5344CB8AC3E}">
        <p14:creationId xmlns:p14="http://schemas.microsoft.com/office/powerpoint/2010/main" val="205932128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02181-F54A-F259-BE00-774A817F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B54AFC-D9BD-F898-1D50-DFC0BBBA6E27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60616D6-DB67-2D11-BFAE-D675358F8CE6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Guide: UPS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012C7256-08EC-679B-8ADD-59B5F134B011}"/>
              </a:ext>
            </a:extLst>
          </p:cNvPr>
          <p:cNvSpPr txBox="1"/>
          <p:nvPr/>
        </p:nvSpPr>
        <p:spPr>
          <a:xfrm>
            <a:off x="775742" y="1302856"/>
            <a:ext cx="806489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UPS-related Alarm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Check whether an SNMP alarm has been generated.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Check the OCS Server status indicators (LEDs).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Review the power status through the UPS management console.</a:t>
            </a:r>
          </a:p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</a:t>
            </a:r>
            <a:r>
              <a:rPr kumimoji="0" lang="en-US" altLang="ko-KR" sz="9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(The UPS management console is accessible via its assigned IP address.)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4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If an abnormal power condition is suspected, escalate the issue to the relevant 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responsible team according to the standard procedure.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D35F972-8CCC-B55C-4AEE-9232F1B5FB5B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D35F972-8CCC-B55C-4AEE-9232F1B5FB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19657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12D2-595C-DDAD-C552-5A472FF0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03B17-F04D-DA77-172D-1EC9CC825C4A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563F135-644D-9736-9B17-393C16374641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563F135-644D-9736-9B17-393C163746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CE813D11-980A-F70D-E8B8-F6DAAEEC5CBF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UPS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3E17C8B-5F8D-D41C-BCCE-BFC143BC3E40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kumimoji="0" lang="ko-KR" altLang="en-US" sz="15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Check the latest alarm logs in the UPS management console.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88D572A-E940-62C2-205E-6C3260F8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5742" y="1796852"/>
            <a:ext cx="8057595" cy="365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14024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74EE-7AE9-EEEE-4FAB-DC407672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235EC-EB3A-7400-5C31-B8D05070BE8E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103E743-A769-D0C6-A882-884B155053E7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103E743-A769-D0C6-A882-884B155053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28C28D4C-5EF0-EB0A-7739-394E60CF287B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UPS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5FB8F9B-2D90-2506-73E6-8AD28DEE102E}"/>
              </a:ext>
            </a:extLst>
          </p:cNvPr>
          <p:cNvSpPr txBox="1"/>
          <p:nvPr/>
        </p:nvSpPr>
        <p:spPr>
          <a:xfrm>
            <a:off x="703734" y="1076772"/>
            <a:ext cx="865757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 Verify that the input GPS voltage and frequency are supplied normally.</a:t>
            </a: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5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 Verify that the UPS output voltage and current are supplied normally.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1785900-3B1A-6845-65EA-8C865D928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83854" y="1948741"/>
            <a:ext cx="7062046" cy="365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711756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1069C-8C85-32FD-413B-75DD4E84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D9B0A0-FFF8-5217-3E0D-927017D76823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2EBD7060-D049-7A9E-AF2E-2F6CE0E7C707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2EBD7060-D049-7A9E-AF2E-2F6CE0E7C7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DF13A63C-3C37-F392-7BFF-3E36A35BB58B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UPS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0773BCA-9FD8-080C-4EDB-159C1B14FF03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 Check the system logs to identify recent events or abnormal messages.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3969DDB-E6C5-375F-7870-6D0AFB976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79798" y="1966884"/>
            <a:ext cx="7979884" cy="350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22972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EBD17-93D2-7326-5E88-E820DD7F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052EFB-3732-F5C7-AC60-33772D3E3C95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C42A8E14-20E4-3F0F-8400-2FBCAE967E4A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Guide: AP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F1835CCC-FCC1-5A62-5B29-6CEFA3CA622C}"/>
              </a:ext>
            </a:extLst>
          </p:cNvPr>
          <p:cNvSpPr txBox="1"/>
          <p:nvPr/>
        </p:nvSpPr>
        <p:spPr>
          <a:xfrm>
            <a:off x="775742" y="1302856"/>
            <a:ext cx="8424936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AP-related Alarm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6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algn="l"/>
            <a:r>
              <a:rPr kumimoji="0" lang="en-US" altLang="ko-KR" sz="15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Verify basic network connectivity by sending a ping to the AP IP address.</a:t>
            </a:r>
          </a:p>
          <a:p>
            <a:pPr algn="l"/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If the AP responds to the ping, access the AP management interface </a:t>
            </a:r>
          </a:p>
          <a:p>
            <a:pPr algn="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(e.g., MOXA Web Console).</a:t>
            </a:r>
          </a:p>
          <a:p>
            <a:pPr algn="l"/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Review the system logs and device status.</a:t>
            </a:r>
          </a:p>
          <a:p>
            <a:pPr algn="l"/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If the AP does not respond to the ping, or if the same alarm continues to occur,</a:t>
            </a:r>
          </a:p>
          <a:p>
            <a:pPr algn="l"/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escalate the issue to the network or support team according to the standard procedure.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F23A3C4-9571-1351-EE72-F432FC85BBA0}"/>
                  </a:ext>
                </a:extLst>
              </p14:cNvPr>
              <p14:cNvContentPartPr/>
              <p14:nvPr/>
            </p14:nvContentPartPr>
            <p14:xfrm>
              <a:off x="2653419" y="3522988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F23A3C4-9571-1351-EE72-F432FC85BB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7299" y="35168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BD38A39F-4AD3-9219-0437-37E4A18F1B43}"/>
                  </a:ext>
                </a:extLst>
              </p14:cNvPr>
              <p14:cNvContentPartPr/>
              <p14:nvPr/>
            </p14:nvContentPartPr>
            <p14:xfrm>
              <a:off x="3756099" y="2617588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BD38A39F-4AD3-9219-0437-37E4A18F1B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9979" y="26114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D26955F-2414-9629-D36B-DA269F216480}"/>
                  </a:ext>
                </a:extLst>
              </p14:cNvPr>
              <p14:cNvContentPartPr/>
              <p14:nvPr/>
            </p14:nvContentPartPr>
            <p14:xfrm>
              <a:off x="743979" y="1353628"/>
              <a:ext cx="3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D26955F-2414-9629-D36B-DA269F2164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7859" y="13475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222525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9E86-DF4F-8C79-599F-78EC7A60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DA25FC-4DCA-E00B-D0E9-F2C71EDA712E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1C7B905-5452-2A99-53BE-345D56CB9E83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1C7B905-5452-2A99-53BE-345D56CB9E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2AB24AB8-A5D9-6645-A967-6532A6618EBB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AP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275779D-ECF6-FD32-078F-0502FDD98A34}"/>
              </a:ext>
            </a:extLst>
          </p:cNvPr>
          <p:cNvSpPr txBox="1"/>
          <p:nvPr/>
        </p:nvSpPr>
        <p:spPr>
          <a:xfrm>
            <a:off x="703734" y="1076772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 Check the system logs to identify recent events or abnormal messages.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DC0F1DA-2EA0-5690-EEDD-FA9DCEB87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7829" y="1966884"/>
            <a:ext cx="7364607" cy="364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54476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7028-E70E-556B-D626-092E2C14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30F4EF-A834-66EB-2ACA-2D99DBC264BF}"/>
              </a:ext>
            </a:extLst>
          </p:cNvPr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5. Monitoring Method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AA526A2-684B-A421-BFC9-FB8A56BBCDC7}"/>
                  </a:ext>
                </a:extLst>
              </p14:cNvPr>
              <p14:cNvContentPartPr/>
              <p14:nvPr/>
            </p14:nvContentPartPr>
            <p14:xfrm>
              <a:off x="6202420" y="1966884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AA526A2-684B-A421-BFC9-FB8A56BBCD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6300" y="196076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2">
            <a:extLst>
              <a:ext uri="{FF2B5EF4-FFF2-40B4-BE49-F238E27FC236}">
                <a16:creationId xmlns:a16="http://schemas.microsoft.com/office/drawing/2014/main" id="{5118E3BD-3387-CB5A-562C-F1ADC4F5AD3A}"/>
              </a:ext>
            </a:extLst>
          </p:cNvPr>
          <p:cNvSpPr txBox="1"/>
          <p:nvPr/>
        </p:nvSpPr>
        <p:spPr>
          <a:xfrm>
            <a:off x="543102" y="689368"/>
            <a:ext cx="86575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4)</a:t>
            </a:r>
            <a:r>
              <a:rPr kumimoji="0" lang="ko-KR" altLang="en-US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Response Guide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: AP</a:t>
            </a: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AA4DF8E-AA1C-EFAF-C425-325C16B27902}"/>
              </a:ext>
            </a:extLst>
          </p:cNvPr>
          <p:cNvSpPr txBox="1"/>
          <p:nvPr/>
        </p:nvSpPr>
        <p:spPr>
          <a:xfrm>
            <a:off x="703734" y="1112117"/>
            <a:ext cx="86575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 Verify that all processors are operating normally.</a:t>
            </a: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5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kumimoji="0" lang="ko-KR" altLang="en-US" sz="15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1500" dirty="0">
                <a:solidFill>
                  <a:srgbClr val="000000"/>
                </a:solidFill>
                <a:latin typeface="맑은 고딕"/>
                <a:ea typeface="맑은 고딕"/>
              </a:rPr>
              <a:t>Verify that all memory modules show a normal status.</a:t>
            </a:r>
          </a:p>
          <a:p>
            <a:pPr marL="285750" lvl="0" indent="-285750" algn="l" ea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kumimoji="0" lang="en-US" altLang="ko-KR" sz="150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02E2F75-2C10-A230-1C1E-3A5ECADCE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23814" y="2227364"/>
            <a:ext cx="5999454" cy="364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39602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686" y="192922"/>
            <a:ext cx="86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Reference: Documents </a:t>
            </a:r>
          </a:p>
        </p:txBody>
      </p:sp>
      <p:sp>
        <p:nvSpPr>
          <p:cNvPr id="10" name="TextBox 2"/>
          <p:cNvSpPr txBox="1"/>
          <p:nvPr/>
        </p:nvSpPr>
        <p:spPr>
          <a:xfrm>
            <a:off x="775742" y="860748"/>
            <a:ext cx="8064896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OCS</a:t>
            </a:r>
            <a:endParaRPr kumimoji="0" lang="en-US" altLang="ko-KR" sz="14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4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2"/>
              </a:rPr>
              <a:t>User guide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3"/>
              </a:rPr>
              <a:t>User Guide (system utility)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4"/>
              </a:rPr>
              <a:t>Trouble Shooting Guide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5"/>
              </a:rPr>
              <a:t>HPE ILO User Guide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3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3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6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- UPS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6"/>
              </a:rPr>
              <a:t>Eaton 9PX 1–3kVA Installation and User Manual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7"/>
              </a:rPr>
              <a:t>Eaton 9PX 1–3kVA Installation and User Manual (TW)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8"/>
              </a:rPr>
              <a:t>UPS-MIB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 </a:t>
            </a:r>
            <a:r>
              <a:rPr kumimoji="0" lang="en-US" altLang="ko-KR" sz="12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hlinkClick r:id="rId9"/>
              </a:rPr>
              <a:t>UPS-MIB(RFC-1628)</a:t>
            </a:r>
            <a:endParaRPr kumimoji="0" lang="en-US" altLang="ko-KR" sz="12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500" b="0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  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1500" b="0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285750" marR="0" lvl="0" indent="-28575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Char char="-"/>
              <a:defRPr/>
            </a:pPr>
            <a:r>
              <a:rPr kumimoji="0" lang="en-US" altLang="ko-KR" sz="1500" b="1" i="0" u="none" strike="noStrike" kern="1200" cap="none" spc="0" normalizeH="0" baseline="0" dirty="0"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AP</a:t>
            </a:r>
          </a:p>
          <a:p>
            <a:pPr marR="0" lvl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defRPr/>
            </a:pPr>
            <a:endParaRPr kumimoji="0" lang="en-US" altLang="ko-KR" sz="15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lvl="0" algn="l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500" b="1" dirty="0">
                <a:solidFill>
                  <a:srgbClr val="000000"/>
                </a:solidFill>
                <a:latin typeface="맑은 고딕"/>
                <a:ea typeface="맑은 고딕"/>
              </a:rPr>
              <a:t>   </a:t>
            </a:r>
            <a:r>
              <a:rPr lang="en-US" altLang="ko-KR" sz="1200" dirty="0" err="1">
                <a:latin typeface="맑은 고딕" panose="020B0503020000020004" pitchFamily="50" charset="-127"/>
                <a:ea typeface="맑은 고딕" panose="020B0503020000020004" pitchFamily="50" charset="-127"/>
                <a:hlinkClick r:id="rId10"/>
              </a:rPr>
              <a:t>AirWorks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hlinkClick r:id="rId10"/>
              </a:rPr>
              <a:t> AWK-3131A User's Manual</a:t>
            </a:r>
            <a:endParaRPr kumimoji="0" lang="en-US" altLang="ko-KR" sz="1200" b="1" i="0" u="none" strike="noStrike" kern="1200" cap="none" spc="0" normalizeH="0" baseline="0" dirty="0"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79F71A6-AB31-798A-DDF2-8D074BDCA543}"/>
                  </a:ext>
                </a:extLst>
              </p14:cNvPr>
              <p14:cNvContentPartPr/>
              <p14:nvPr/>
            </p14:nvContentPartPr>
            <p14:xfrm>
              <a:off x="322779" y="3164428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79F71A6-AB31-798A-DDF2-8D074BDCA54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6659" y="31583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2_Chapter11">
  <a:themeElements>
    <a:clrScheme name="2_Chapter1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hapter11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 w="38100" cap="flat" cmpd="sng" algn="ctr">
          <a:noFill/>
          <a:prstDash val="solid"/>
          <a:round/>
          <a:tailEnd type="triangle" w="med" len="med"/>
        </a:ln>
        <a:effectLst/>
      </a:spPr>
      <a:bodyPr rtlCol="0" anchor="ctr"/>
      <a:lstStyle>
        <a:defPPr algn="ctr">
          <a:defRPr/>
        </a:defPPr>
      </a:lstStyle>
    </a:spDef>
    <a:lnDef>
      <a:spPr>
        <a:noFill/>
        <a:ln w="57150" cap="flat" cmpd="sng" algn="ctr">
          <a:solidFill>
            <a:srgbClr val="FF9933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noAutofit/>
      </a:bodyPr>
      <a:lstStyle>
        <a:defPPr>
          <a:defRPr sz="1100" b="1" smtClean="0">
            <a:solidFill>
              <a:schemeClr val="bg1"/>
            </a:solidFill>
            <a:latin typeface="맑은 고딕"/>
            <a:ea typeface="맑은 고딕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1690</Words>
  <Application>Microsoft Office PowerPoint</Application>
  <PresentationFormat>사용자 지정</PresentationFormat>
  <Paragraphs>415</Paragraphs>
  <Slides>34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HY울릉도M</vt:lpstr>
      <vt:lpstr>굴림</vt:lpstr>
      <vt:lpstr>맑은 고딕</vt:lpstr>
      <vt:lpstr>Arial</vt:lpstr>
      <vt:lpstr>2_Chapter11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sfa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이마트</dc:title>
  <dc:creator>김선국(S/W팀/대리/-)</dc:creator>
  <cp:lastModifiedBy>kim</cp:lastModifiedBy>
  <cp:revision>14271</cp:revision>
  <dcterms:created xsi:type="dcterms:W3CDTF">2006-03-24T08:03:09Z</dcterms:created>
  <dcterms:modified xsi:type="dcterms:W3CDTF">2026-02-06T03:11:51Z</dcterms:modified>
  <cp:version>1000.0000.01</cp:version>
</cp:coreProperties>
</file>